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3" r:id="rId1"/>
    <p:sldMasterId id="2147483668" r:id="rId2"/>
    <p:sldMasterId id="2147483674" r:id="rId3"/>
    <p:sldMasterId id="2147483648" r:id="rId4"/>
    <p:sldMasterId id="2147483684" r:id="rId5"/>
    <p:sldMasterId id="2147483697" r:id="rId6"/>
  </p:sldMasterIdLst>
  <p:notesMasterIdLst>
    <p:notesMasterId r:id="rId29"/>
  </p:notesMasterIdLst>
  <p:handoutMasterIdLst>
    <p:handoutMasterId r:id="rId30"/>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12"/>
    <p:sldId id="273" r:id="rId11"/>
    <p:sldId id="274" r:id="rId10"/>
    <p:sldId id="275" r:id="rId9"/>
    <p:sldId id="276" r:id="rId8"/>
  </p:sldIdLst>
  <p:sldSz cx="9144000" cy="5143500" type="screen16x9"/>
  <p:notesSz cx="9925050" cy="6665913"/>
  <p:defaultTex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guide id="3" orient="horz" pos="1620">
          <p15:clr>
            <a:srgbClr val="A4A3A4"/>
          </p15:clr>
        </p15:guide>
      </p15:sldGuideLst>
    </p:ext>
    <p:ext uri="{2D200454-40CA-4A62-9FC3-DE9A4176ACB9}">
      <p15:notesGuideLst xmlns:p15="http://schemas.microsoft.com/office/powerpoint/2012/main">
        <p15:guide id="1" orient="horz" pos="2100">
          <p15:clr>
            <a:srgbClr val="A4A3A4"/>
          </p15:clr>
        </p15:guide>
        <p15:guide id="2" pos="3126">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9999"/>
    <a:srgbClr val="98C6EA"/>
    <a:srgbClr val="00529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84E427A-3D55-4303-BF80-6455036E1DE7}" styleName="Designformatvorlage 1 - Akz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E269D01E-BC32-4049-B463-5C60D7B0CCD2}" styleName="Designformatvorlage 2 - Akz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D083AE6-46FA-4A59-8FB0-9F97EB10719F}" styleName="Helle Formatvorlage 3 - Akz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EC20E35-A176-4012-BC5E-935CFFF8708E}" styleName="Mittlere Formatvorlag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C4B1156A-380E-4F78-BDF5-A606A8083BF9}" styleName="Mittlere Formatvorlage 4 - Akz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74C1A8A3-306A-4EB7-A6B1-4F7E0EB9C5D6}" styleName="Mittlere Formatvorlage 3 - Akz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88272" autoAdjust="0"/>
  </p:normalViewPr>
  <p:slideViewPr>
    <p:cSldViewPr snapToGrid="0">
      <p:cViewPr varScale="1">
        <p:scale>
          <a:sx n="114" d="100"/>
          <a:sy n="114" d="100"/>
        </p:scale>
        <p:origin x="762" y="102"/>
      </p:cViewPr>
      <p:guideLst>
        <p:guide orient="horz" pos="2160"/>
        <p:guide pos="2880"/>
        <p:guide orient="horz" pos="1620"/>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100" d="100"/>
        <a:sy n="100" d="100"/>
      </p:scale>
      <p:origin x="0" y="0"/>
    </p:cViewPr>
  </p:sorterViewPr>
  <p:notesViewPr>
    <p:cSldViewPr snapToGrid="0">
      <p:cViewPr varScale="1">
        <p:scale>
          <a:sx n="131" d="100"/>
          <a:sy n="131" d="100"/>
        </p:scale>
        <p:origin x="-810" y="-96"/>
      </p:cViewPr>
      <p:guideLst>
        <p:guide orient="horz" pos="2100"/>
        <p:guide pos="3126"/>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8" Type="http://schemas.openxmlformats.org/officeDocument/2006/relationships/slide" Target="slides/slide21.xml"/><Relationship Id="rId9" Type="http://schemas.openxmlformats.org/officeDocument/2006/relationships/slide" Target="slides/slide20.xml"/><Relationship Id="rId10" Type="http://schemas.openxmlformats.org/officeDocument/2006/relationships/slide" Target="slides/slide19.xml"/><Relationship Id="rId11" Type="http://schemas.openxmlformats.org/officeDocument/2006/relationships/slide" Target="slides/slide18.xml"/><Relationship Id="rId12" Type="http://schemas.openxmlformats.org/officeDocument/2006/relationships/slide" Target="slides/slide17.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notesMaster" Target="notesMasters/notesMaster1.xml"/><Relationship Id="rId30" Type="http://schemas.openxmlformats.org/officeDocument/2006/relationships/handoutMaster" Target="handoutMasters/handout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share</c:v>
                </c:pt>
              </c:strCache>
            </c:strRef>
          </c:tx>
          <c:spPr>
            <a:solidFill>
              <a:srgbClr val="005293"/>
            </a:solidFill>
            <a:ln>
              <a:noFill/>
            </a:ln>
          </c:spPr>
          <c:cat>
            <c:strRef>
              <c:f>Sheet1!$A$2:$A$6</c:f>
              <c:strCache>
                <c:ptCount val="5"/>
                <c:pt idx="0">
                  <c:v>Route-first
cluster-2nd</c:v>
                </c:pt>
                <c:pt idx="1">
                  <c:v>Clarke-Wright
+ 2-opt</c:v>
                </c:pt>
                <c:pt idx="2">
                  <c:v>Mole-Jameson
insertion</c:v>
                </c:pt>
                <c:pt idx="3">
                  <c:v>Wren-Holliday
sweep</c:v>
                </c:pt>
                <c:pt idx="4">
                  <c:v>CMT
two-phase</c:v>
                </c:pt>
              </c:strCache>
            </c:strRef>
          </c:cat>
          <c:val>
            <c:numRef>
              <c:f>Sheet1!$B$2:$B$6</c:f>
              <c:numCache>
                <c:formatCode>General</c:formatCode>
                <c:ptCount val="5"/>
                <c:pt idx="0">
                  <c:v>0.256</c:v>
                </c:pt>
                <c:pt idx="1">
                  <c:v>0.249</c:v>
                </c:pt>
                <c:pt idx="2">
                  <c:v>0.211</c:v>
                </c:pt>
                <c:pt idx="3">
                  <c:v>0.189</c:v>
                </c:pt>
                <c:pt idx="4">
                  <c:v>0.094</c:v>
                </c:pt>
              </c:numCache>
            </c:numRef>
          </c:val>
        </c:ser>
        <c:dLbls>
          <c:numFmt formatCode="0%" sourceLinked="0"/>
          <c:txPr>
            <a:bodyPr/>
            <a:lstStyle/>
            <a:p>
              <a:pPr>
                <a:defRPr sz="850" b="1">
                  <a:solidFill>
                    <a:srgbClr val="000000"/>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800">
                <a:solidFill>
                  <a:srgbClr val="595959"/>
                </a:solidFill>
                <a:latin typeface="Arial"/>
              </a:defRPr>
            </a:pPr>
          </a:p>
        </c:txPr>
        <c:crossAx val="-2113994440"/>
        <c:crosses val="autoZero"/>
        <c:auto val="1"/>
        <c:lblAlgn val="ctr"/>
        <c:lblOffset val="100"/>
        <c:noMultiLvlLbl val="0"/>
      </c:catAx>
      <c:valAx>
        <c:axId val="-2113994440"/>
        <c:scaling/>
        <c:delete val="0"/>
        <c:axPos val="l"/>
        <c:majorTickMark val="out"/>
        <c:minorTickMark val="none"/>
        <c:tickLblPos val="nextTo"/>
        <c:spPr>
          <a:ln>
            <a:solidFill>
              <a:srgbClr val="D9D9D9"/>
            </a:solidFill>
          </a:ln>
        </c:spPr>
        <c:txPr>
          <a:bodyPr/>
          <a:lstStyle/>
          <a:p>
            <a:pPr>
              <a:defRPr sz="800">
                <a:solidFill>
                  <a:srgbClr val="595959"/>
                </a:solidFill>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within 1% of best possible</c:v>
                </c:pt>
              </c:strCache>
            </c:strRef>
          </c:tx>
          <c:spPr>
            <a:solidFill>
              <a:srgbClr val="005293"/>
            </a:solidFill>
            <a:ln>
              <a:noFill/>
            </a:ln>
          </c:spPr>
          <c:dPt>
            <c:idx val="4"/>
            <c:spPr>
              <a:solidFill>
                <a:srgbClr val="E37222"/>
              </a:solidFill>
            </c:spPr>
          </c:dPt>
          <c:cat>
            <c:strRef>
              <c:f>Sheet1!$A$2:$A$6</c:f>
              <c:strCache>
                <c:ptCount val="5"/>
                <c:pt idx="0">
                  <c:v>SBS
(no ML)</c:v>
                </c:pt>
                <c:pt idx="1">
                  <c:v>Decision
Tree</c:v>
                </c:pt>
                <c:pt idx="2">
                  <c:v>Gradient
Boosting</c:v>
                </c:pt>
                <c:pt idx="3">
                  <c:v>KNN</c:v>
                </c:pt>
                <c:pt idx="4">
                  <c:v>Random
Forest</c:v>
                </c:pt>
              </c:strCache>
            </c:strRef>
          </c:cat>
          <c:val>
            <c:numRef>
              <c:f>Sheet1!$B$2:$B$6</c:f>
              <c:numCache>
                <c:formatCode>General</c:formatCode>
                <c:ptCount val="5"/>
                <c:pt idx="0">
                  <c:v>0.452</c:v>
                </c:pt>
                <c:pt idx="1">
                  <c:v>0.552</c:v>
                </c:pt>
                <c:pt idx="2">
                  <c:v>0.587</c:v>
                </c:pt>
                <c:pt idx="3">
                  <c:v>0.607</c:v>
                </c:pt>
                <c:pt idx="4">
                  <c:v>0.631</c:v>
                </c:pt>
              </c:numCache>
            </c:numRef>
          </c:val>
        </c:ser>
        <c:dLbls>
          <c:numFmt formatCode="0%" sourceLinked="0"/>
          <c:txPr>
            <a:bodyPr/>
            <a:lstStyle/>
            <a:p>
              <a:pPr>
                <a:defRPr sz="850" b="1">
                  <a:solidFill>
                    <a:srgbClr val="000000"/>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800">
                <a:solidFill>
                  <a:srgbClr val="595959"/>
                </a:solidFill>
                <a:latin typeface="Arial"/>
              </a:defRPr>
            </a:pPr>
          </a:p>
        </c:txPr>
        <c:crossAx val="-2113994440"/>
        <c:crosses val="autoZero"/>
        <c:auto val="1"/>
        <c:lblAlgn val="ctr"/>
        <c:lblOffset val="100"/>
        <c:noMultiLvlLbl val="0"/>
      </c:catAx>
      <c:valAx>
        <c:axId val="-2113994440"/>
        <c:scaling/>
        <c:delete val="0"/>
        <c:axPos val="l"/>
        <c:majorTickMark val="out"/>
        <c:minorTickMark val="none"/>
        <c:tickLblPos val="nextTo"/>
        <c:spPr>
          <a:ln>
            <a:solidFill>
              <a:srgbClr val="D9D9D9"/>
            </a:solidFill>
          </a:ln>
        </c:spPr>
        <c:txPr>
          <a:bodyPr/>
          <a:lstStyle/>
          <a:p>
            <a:pPr>
              <a:defRPr sz="800">
                <a:solidFill>
                  <a:srgbClr val="595959"/>
                </a:solidFill>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importance</c:v>
                </c:pt>
              </c:strCache>
            </c:strRef>
          </c:tx>
          <c:spPr>
            <a:solidFill>
              <a:srgbClr val="005293"/>
            </a:solidFill>
            <a:ln>
              <a:noFill/>
            </a:ln>
          </c:spPr>
          <c:cat>
            <c:strRef>
              <c:f>Sheet1!$A$2:$A$6</c:f>
              <c:strCache>
                <c:ptCount val="5"/>
                <c:pt idx="0">
                  <c:v>Pairwise-distance spread</c:v>
                </c:pt>
                <c:pt idx="1">
                  <c:v>Ring 4 share</c:v>
                </c:pt>
                <c:pt idx="2">
                  <c:v>Depot distance spread</c:v>
                </c:pt>
                <c:pt idx="3">
                  <c:v>Ring 3 share</c:v>
                </c:pt>
                <c:pt idx="4">
                  <c:v>Depot centrality</c:v>
                </c:pt>
              </c:strCache>
            </c:strRef>
          </c:cat>
          <c:val>
            <c:numRef>
              <c:f>Sheet1!$B$2:$B$6</c:f>
              <c:numCache>
                <c:formatCode>General</c:formatCode>
                <c:ptCount val="5"/>
                <c:pt idx="0">
                  <c:v>0.0095</c:v>
                </c:pt>
                <c:pt idx="1">
                  <c:v>0.0103</c:v>
                </c:pt>
                <c:pt idx="2">
                  <c:v>0.0111</c:v>
                </c:pt>
                <c:pt idx="3">
                  <c:v>0.0119</c:v>
                </c:pt>
                <c:pt idx="4">
                  <c:v>0.0135</c:v>
                </c:pt>
              </c:numCache>
            </c:numRef>
          </c:val>
        </c:ser>
        <c:dLbls>
          <c:numFmt formatCode="0.000" sourceLinked="0"/>
          <c:txPr>
            <a:bodyPr/>
            <a:lstStyle/>
            <a:p>
              <a:pPr>
                <a:defRPr sz="800" b="1">
                  <a:solidFill>
                    <a:srgbClr val="000000"/>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D9D9D9"/>
            </a:solidFill>
          </a:ln>
        </c:spPr>
        <c:txPr>
          <a:bodyPr/>
          <a:lstStyle/>
          <a:p>
            <a:pPr>
              <a:defRPr sz="800">
                <a:solidFill>
                  <a:srgbClr val="595959"/>
                </a:solidFill>
                <a:latin typeface="Arial"/>
              </a:defRPr>
            </a:pPr>
          </a:p>
        </c:txPr>
        <c:crossAx val="-2113994440"/>
        <c:crosses val="autoZero"/>
        <c:auto val="1"/>
        <c:lblAlgn val="ctr"/>
        <c:lblOffset val="100"/>
        <c:noMultiLvlLbl val="0"/>
      </c:catAx>
      <c:valAx>
        <c:axId val="-2113994440"/>
        <c:scaling/>
        <c:delete val="0"/>
        <c:axPos val="b"/>
        <c:majorTickMark val="out"/>
        <c:minorTickMark val="none"/>
        <c:tickLblPos val="nextTo"/>
        <c:spPr>
          <a:ln>
            <a:solidFill>
              <a:srgbClr val="D9D9D9"/>
            </a:solidFill>
          </a:ln>
        </c:spPr>
        <c:txPr>
          <a:bodyPr/>
          <a:lstStyle/>
          <a:p>
            <a:pPr>
              <a:defRPr sz="800">
                <a:solidFill>
                  <a:srgbClr val="595959"/>
                </a:solidFill>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Random Forest</c:v>
                </c:pt>
              </c:strCache>
            </c:strRef>
          </c:tx>
          <c:spPr>
            <a:solidFill>
              <a:srgbClr val="E37222"/>
            </a:solidFill>
            <a:ln>
              <a:noFill/>
            </a:ln>
          </c:spPr>
          <c:cat>
            <c:strRef>
              <c:f>Sheet1!$A$2:$A$6</c:f>
              <c:strCache>
                <c:ptCount val="5"/>
                <c:pt idx="0">
                  <c:v>Set A</c:v>
                </c:pt>
                <c:pt idx="1">
                  <c:v>Set B</c:v>
                </c:pt>
                <c:pt idx="2">
                  <c:v>Set E</c:v>
                </c:pt>
                <c:pt idx="3">
                  <c:v>Set P</c:v>
                </c:pt>
                <c:pt idx="4">
                  <c:v>All 85</c:v>
                </c:pt>
              </c:strCache>
            </c:strRef>
          </c:cat>
          <c:val>
            <c:numRef>
              <c:f>Sheet1!$B$2:$B$6</c:f>
              <c:numCache>
                <c:formatCode>General</c:formatCode>
                <c:ptCount val="5"/>
                <c:pt idx="0">
                  <c:v>0.63</c:v>
                </c:pt>
                <c:pt idx="1">
                  <c:v>0.522</c:v>
                </c:pt>
                <c:pt idx="2">
                  <c:v>0.455</c:v>
                </c:pt>
                <c:pt idx="3">
                  <c:v>0.458</c:v>
                </c:pt>
                <c:pt idx="4">
                  <c:v>0.529</c:v>
                </c:pt>
              </c:numCache>
            </c:numRef>
          </c:val>
        </c:ser>
        <c:ser>
          <c:idx val="1"/>
          <c:order val="1"/>
          <c:tx>
            <c:strRef>
              <c:f>Sheet1!$C$1</c:f>
              <c:strCache>
                <c:ptCount val="1"/>
                <c:pt idx="0">
                  <c:v>SBS</c:v>
                </c:pt>
              </c:strCache>
            </c:strRef>
          </c:tx>
          <c:spPr>
            <a:solidFill>
              <a:srgbClr val="98C6EA"/>
            </a:solidFill>
            <a:ln>
              <a:noFill/>
            </a:ln>
          </c:spPr>
          <c:cat>
            <c:strRef>
              <c:f>Sheet1!$A$2:$A$6</c:f>
              <c:strCache>
                <c:ptCount val="5"/>
                <c:pt idx="0">
                  <c:v>Set A</c:v>
                </c:pt>
                <c:pt idx="1">
                  <c:v>Set B</c:v>
                </c:pt>
                <c:pt idx="2">
                  <c:v>Set E</c:v>
                </c:pt>
                <c:pt idx="3">
                  <c:v>Set P</c:v>
                </c:pt>
                <c:pt idx="4">
                  <c:v>All 85</c:v>
                </c:pt>
              </c:strCache>
            </c:strRef>
          </c:cat>
          <c:val>
            <c:numRef>
              <c:f>Sheet1!$C$2:$C$6</c:f>
              <c:numCache>
                <c:formatCode>General</c:formatCode>
                <c:ptCount val="5"/>
                <c:pt idx="0">
                  <c:v>0.593</c:v>
                </c:pt>
                <c:pt idx="1">
                  <c:v>0.435</c:v>
                </c:pt>
                <c:pt idx="2">
                  <c:v>0.273</c:v>
                </c:pt>
                <c:pt idx="3">
                  <c:v>0.333</c:v>
                </c:pt>
                <c:pt idx="4">
                  <c:v>0.435</c:v>
                </c:pt>
              </c:numCache>
            </c:numRef>
          </c:val>
        </c:ser>
        <c:dLbls>
          <c:numFmt formatCode="0%" sourceLinked="0"/>
          <c:txPr>
            <a:bodyPr/>
            <a:lstStyle/>
            <a:p>
              <a:pPr>
                <a:defRPr sz="750" b="1">
                  <a:solidFill>
                    <a:srgbClr val="000000"/>
                  </a:solidFill>
                  <a:latin typeface="Arial"/>
                </a:defRPr>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800">
                <a:solidFill>
                  <a:srgbClr val="595959"/>
                </a:solidFill>
                <a:latin typeface="Arial"/>
              </a:defRPr>
            </a:pPr>
          </a:p>
        </c:txPr>
        <c:crossAx val="-2113994440"/>
        <c:crosses val="autoZero"/>
        <c:auto val="1"/>
        <c:lblAlgn val="ctr"/>
        <c:lblOffset val="100"/>
        <c:noMultiLvlLbl val="0"/>
      </c:catAx>
      <c:valAx>
        <c:axId val="-2113994440"/>
        <c:scaling/>
        <c:delete val="0"/>
        <c:axPos val="l"/>
        <c:majorTickMark val="out"/>
        <c:minorTickMark val="none"/>
        <c:tickLblPos val="nextTo"/>
        <c:spPr>
          <a:ln>
            <a:solidFill>
              <a:srgbClr val="D9D9D9"/>
            </a:solidFill>
          </a:ln>
        </c:spPr>
        <c:txPr>
          <a:bodyPr/>
          <a:lstStyle/>
          <a:p>
            <a:pPr>
              <a:defRPr sz="800">
                <a:solidFill>
                  <a:srgbClr val="595959"/>
                </a:solidFill>
                <a:latin typeface="Arial"/>
              </a:defRPr>
            </a:pPr>
          </a:p>
        </c:txPr>
        <c:crossAx val="-2068027336"/>
        <c:crosses val="autoZero"/>
      </c:valAx>
    </c:plotArea>
    <c:legend>
      <c:legendPos val="b"/>
      <c:overlay val="0"/>
      <c:txPr>
        <a:bodyPr/>
        <a:lstStyle/>
        <a:p>
          <a:pPr>
            <a:defRPr sz="850">
              <a:solidFill>
                <a:srgbClr val="000000"/>
              </a:solidFill>
              <a:latin typeface="Arial"/>
            </a:defRPr>
          </a:pPr>
        </a:p>
      </c:txPr>
    </c:legend>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0"/>
            <a:ext cx="4300855" cy="333296"/>
          </a:xfrm>
          <a:prstGeom prst="rect">
            <a:avLst/>
          </a:prstGeom>
        </p:spPr>
        <p:txBody>
          <a:bodyPr vert="horz" lIns="90708" tIns="45354" rIns="90708" bIns="45354" rtlCol="0"/>
          <a:lstStyle>
            <a:lvl1pPr algn="l" fontAlgn="auto">
              <a:spcBef>
                <a:spcPts val="0"/>
              </a:spcBef>
              <a:spcAft>
                <a:spcPts val="0"/>
              </a:spcAft>
              <a:defRPr sz="1200">
                <a:latin typeface="Arial" pitchFamily="34" charset="0"/>
                <a:cs typeface="Arial" pitchFamily="34" charset="0"/>
              </a:defRPr>
            </a:lvl1pPr>
          </a:lstStyle>
          <a:p>
            <a:pPr>
              <a:defRPr/>
            </a:pPr>
            <a:endParaRPr lang="en-GB" dirty="0"/>
          </a:p>
        </p:txBody>
      </p:sp>
      <p:sp>
        <p:nvSpPr>
          <p:cNvPr id="3" name="Datumsplatzhalter 2"/>
          <p:cNvSpPr>
            <a:spLocks noGrp="1"/>
          </p:cNvSpPr>
          <p:nvPr>
            <p:ph type="dt" sz="quarter" idx="1"/>
          </p:nvPr>
        </p:nvSpPr>
        <p:spPr>
          <a:xfrm>
            <a:off x="5621901" y="0"/>
            <a:ext cx="4300855" cy="333296"/>
          </a:xfrm>
          <a:prstGeom prst="rect">
            <a:avLst/>
          </a:prstGeom>
        </p:spPr>
        <p:txBody>
          <a:bodyPr vert="horz" lIns="90708" tIns="45354" rIns="90708" bIns="45354" rtlCol="0"/>
          <a:lstStyle>
            <a:lvl1pPr algn="r" fontAlgn="auto">
              <a:spcBef>
                <a:spcPts val="0"/>
              </a:spcBef>
              <a:spcAft>
                <a:spcPts val="0"/>
              </a:spcAft>
              <a:defRPr sz="1200">
                <a:latin typeface="Arial" pitchFamily="34" charset="0"/>
                <a:cs typeface="Arial" pitchFamily="34" charset="0"/>
              </a:defRPr>
            </a:lvl1pPr>
          </a:lstStyle>
          <a:p>
            <a:pPr>
              <a:defRPr/>
            </a:pPr>
            <a:fld id="{20751376-2EB8-4403-B858-305A8AAA6B01}" type="datetimeFigureOut">
              <a:rPr lang="en-GB"/>
              <a:pPr>
                <a:defRPr/>
              </a:pPr>
              <a:t>05/10/2021</a:t>
            </a:fld>
            <a:endParaRPr lang="en-GB" dirty="0"/>
          </a:p>
        </p:txBody>
      </p:sp>
      <p:sp>
        <p:nvSpPr>
          <p:cNvPr id="4" name="Fußzeilenplatzhalter 3"/>
          <p:cNvSpPr>
            <a:spLocks noGrp="1"/>
          </p:cNvSpPr>
          <p:nvPr>
            <p:ph type="ftr" sz="quarter" idx="2"/>
          </p:nvPr>
        </p:nvSpPr>
        <p:spPr>
          <a:xfrm>
            <a:off x="2" y="6331460"/>
            <a:ext cx="4300855" cy="333296"/>
          </a:xfrm>
          <a:prstGeom prst="rect">
            <a:avLst/>
          </a:prstGeom>
        </p:spPr>
        <p:txBody>
          <a:bodyPr vert="horz" lIns="90708" tIns="45354" rIns="90708" bIns="45354" rtlCol="0" anchor="b"/>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5" name="Foliennummernplatzhalter 4"/>
          <p:cNvSpPr>
            <a:spLocks noGrp="1"/>
          </p:cNvSpPr>
          <p:nvPr>
            <p:ph type="sldNum" sz="quarter" idx="3"/>
          </p:nvPr>
        </p:nvSpPr>
        <p:spPr>
          <a:xfrm>
            <a:off x="5621901" y="6331460"/>
            <a:ext cx="4300855" cy="333296"/>
          </a:xfrm>
          <a:prstGeom prst="rect">
            <a:avLst/>
          </a:prstGeom>
        </p:spPr>
        <p:txBody>
          <a:bodyPr vert="horz" lIns="90708" tIns="45354" rIns="90708" bIns="45354" rtlCol="0" anchor="b"/>
          <a:lstStyle>
            <a:lvl1pPr algn="r" fontAlgn="auto">
              <a:spcBef>
                <a:spcPts val="0"/>
              </a:spcBef>
              <a:spcAft>
                <a:spcPts val="0"/>
              </a:spcAft>
              <a:defRPr sz="1200">
                <a:latin typeface="Arial" pitchFamily="34" charset="0"/>
                <a:cs typeface="Arial" pitchFamily="34" charset="0"/>
              </a:defRPr>
            </a:lvl1pPr>
          </a:lstStyle>
          <a:p>
            <a:pPr>
              <a:defRPr/>
            </a:pPr>
            <a:fld id="{62C15F7A-46C6-4AD2-BFEC-842DCCCC19C4}" type="slidenum">
              <a:rPr lang="en-GB"/>
              <a:pPr>
                <a:defRPr/>
              </a:pPr>
              <a:t>‹Nr.›</a:t>
            </a:fld>
            <a:endParaRPr lang="en-GB"/>
          </a:p>
        </p:txBody>
      </p:sp>
    </p:spTree>
    <p:extLst>
      <p:ext uri="{BB962C8B-B14F-4D97-AF65-F5344CB8AC3E}">
        <p14:creationId xmlns:p14="http://schemas.microsoft.com/office/powerpoint/2010/main" val="28290957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0"/>
            <a:ext cx="4300855" cy="333296"/>
          </a:xfrm>
          <a:prstGeom prst="rect">
            <a:avLst/>
          </a:prstGeom>
        </p:spPr>
        <p:txBody>
          <a:bodyPr vert="horz" lIns="90708" tIns="45354" rIns="90708" bIns="45354" rtlCol="0"/>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3" name="Datumsplatzhalter 2"/>
          <p:cNvSpPr>
            <a:spLocks noGrp="1"/>
          </p:cNvSpPr>
          <p:nvPr>
            <p:ph type="dt" idx="1"/>
          </p:nvPr>
        </p:nvSpPr>
        <p:spPr>
          <a:xfrm>
            <a:off x="5621901" y="0"/>
            <a:ext cx="4300855" cy="333296"/>
          </a:xfrm>
          <a:prstGeom prst="rect">
            <a:avLst/>
          </a:prstGeom>
        </p:spPr>
        <p:txBody>
          <a:bodyPr vert="horz" lIns="90708" tIns="45354" rIns="90708" bIns="45354" rtlCol="0"/>
          <a:lstStyle>
            <a:lvl1pPr algn="r" fontAlgn="auto">
              <a:spcBef>
                <a:spcPts val="0"/>
              </a:spcBef>
              <a:spcAft>
                <a:spcPts val="0"/>
              </a:spcAft>
              <a:defRPr sz="1200">
                <a:latin typeface="+mn-lt"/>
                <a:cs typeface="+mn-cs"/>
              </a:defRPr>
            </a:lvl1pPr>
          </a:lstStyle>
          <a:p>
            <a:pPr>
              <a:defRPr/>
            </a:pPr>
            <a:fld id="{89C46BC9-2C9E-4670-A85A-6A588BA2D405}" type="datetimeFigureOut">
              <a:rPr lang="en-GB"/>
              <a:pPr>
                <a:defRPr/>
              </a:pPr>
              <a:t>05/10/2021</a:t>
            </a:fld>
            <a:endParaRPr lang="en-GB"/>
          </a:p>
        </p:txBody>
      </p:sp>
      <p:sp>
        <p:nvSpPr>
          <p:cNvPr id="4" name="Folienbildplatzhalter 3"/>
          <p:cNvSpPr>
            <a:spLocks noGrp="1" noRot="1" noChangeAspect="1"/>
          </p:cNvSpPr>
          <p:nvPr>
            <p:ph type="sldImg" idx="2"/>
          </p:nvPr>
        </p:nvSpPr>
        <p:spPr>
          <a:xfrm>
            <a:off x="2740025" y="500063"/>
            <a:ext cx="4445000" cy="2500312"/>
          </a:xfrm>
          <a:prstGeom prst="rect">
            <a:avLst/>
          </a:prstGeom>
          <a:noFill/>
          <a:ln w="12700">
            <a:solidFill>
              <a:prstClr val="black"/>
            </a:solidFill>
          </a:ln>
        </p:spPr>
        <p:txBody>
          <a:bodyPr vert="horz" lIns="90708" tIns="45354" rIns="90708" bIns="45354" rtlCol="0" anchor="ctr"/>
          <a:lstStyle/>
          <a:p>
            <a:pPr lvl="0"/>
            <a:endParaRPr lang="en-GB" noProof="0"/>
          </a:p>
        </p:txBody>
      </p:sp>
      <p:sp>
        <p:nvSpPr>
          <p:cNvPr id="5" name="Notizenplatzhalter 4"/>
          <p:cNvSpPr>
            <a:spLocks noGrp="1"/>
          </p:cNvSpPr>
          <p:nvPr>
            <p:ph type="body" sz="quarter" idx="3"/>
          </p:nvPr>
        </p:nvSpPr>
        <p:spPr>
          <a:xfrm>
            <a:off x="992506" y="3166309"/>
            <a:ext cx="7940040" cy="2999661"/>
          </a:xfrm>
          <a:prstGeom prst="rect">
            <a:avLst/>
          </a:prstGeom>
        </p:spPr>
        <p:txBody>
          <a:bodyPr vert="horz" wrap="square" lIns="90708" tIns="45354" rIns="90708" bIns="45354" numCol="1" anchor="t" anchorCtr="0" compatLnSpc="1">
            <a:prstTxWarp prst="textNoShape">
              <a:avLst/>
            </a:prstTxWarp>
            <a:normAutofit/>
          </a:bodyPr>
          <a:lstStyle/>
          <a:p>
            <a:pPr lvl="0"/>
            <a:r>
              <a:rPr lang="de-DE" dirty="0"/>
              <a:t>Textmasterformate durch Klicken bearbeiten</a:t>
            </a:r>
          </a:p>
          <a:p>
            <a:pPr lvl="1"/>
            <a:r>
              <a:rPr lang="de-DE" dirty="0"/>
              <a:t>Zweite Ebene</a:t>
            </a:r>
          </a:p>
          <a:p>
            <a:pPr lvl="2"/>
            <a:r>
              <a:rPr lang="de-DE" dirty="0"/>
              <a:t>Dritte Ebene</a:t>
            </a:r>
          </a:p>
          <a:p>
            <a:pPr lvl="3"/>
            <a:r>
              <a:rPr lang="de-DE" dirty="0"/>
              <a:t>Vierte Ebene</a:t>
            </a:r>
          </a:p>
          <a:p>
            <a:pPr lvl="4"/>
            <a:r>
              <a:rPr lang="de-DE" dirty="0"/>
              <a:t>Fünfte Ebene</a:t>
            </a:r>
            <a:endParaRPr lang="en-GB" dirty="0"/>
          </a:p>
        </p:txBody>
      </p:sp>
      <p:sp>
        <p:nvSpPr>
          <p:cNvPr id="6" name="Fußzeilenplatzhalter 5"/>
          <p:cNvSpPr>
            <a:spLocks noGrp="1"/>
          </p:cNvSpPr>
          <p:nvPr>
            <p:ph type="ftr" sz="quarter" idx="4"/>
          </p:nvPr>
        </p:nvSpPr>
        <p:spPr>
          <a:xfrm>
            <a:off x="2" y="6331460"/>
            <a:ext cx="4300855" cy="333296"/>
          </a:xfrm>
          <a:prstGeom prst="rect">
            <a:avLst/>
          </a:prstGeom>
        </p:spPr>
        <p:txBody>
          <a:bodyPr vert="horz" lIns="90708" tIns="45354" rIns="90708" bIns="45354" rtlCol="0" anchor="b"/>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7" name="Foliennummernplatzhalter 6"/>
          <p:cNvSpPr>
            <a:spLocks noGrp="1"/>
          </p:cNvSpPr>
          <p:nvPr>
            <p:ph type="sldNum" sz="quarter" idx="5"/>
          </p:nvPr>
        </p:nvSpPr>
        <p:spPr>
          <a:xfrm>
            <a:off x="5621901" y="6331460"/>
            <a:ext cx="4300855" cy="333296"/>
          </a:xfrm>
          <a:prstGeom prst="rect">
            <a:avLst/>
          </a:prstGeom>
        </p:spPr>
        <p:txBody>
          <a:bodyPr vert="horz" lIns="90708" tIns="45354" rIns="90708" bIns="45354" rtlCol="0" anchor="b"/>
          <a:lstStyle>
            <a:lvl1pPr algn="r" fontAlgn="auto">
              <a:spcBef>
                <a:spcPts val="0"/>
              </a:spcBef>
              <a:spcAft>
                <a:spcPts val="0"/>
              </a:spcAft>
              <a:defRPr sz="1200">
                <a:latin typeface="+mn-lt"/>
                <a:cs typeface="+mn-cs"/>
              </a:defRPr>
            </a:lvl1pPr>
          </a:lstStyle>
          <a:p>
            <a:pPr>
              <a:defRPr/>
            </a:pPr>
            <a:fld id="{00AFC6D0-44D5-4EB7-828F-6F464F83D79A}" type="slidenum">
              <a:rPr lang="en-GB"/>
              <a:pPr>
                <a:defRPr/>
              </a:pPr>
              <a:t>‹Nr.›</a:t>
            </a:fld>
            <a:endParaRPr lang="en-GB"/>
          </a:p>
        </p:txBody>
      </p:sp>
    </p:spTree>
    <p:extLst>
      <p:ext uri="{BB962C8B-B14F-4D97-AF65-F5344CB8AC3E}">
        <p14:creationId xmlns:p14="http://schemas.microsoft.com/office/powerpoint/2010/main" val="2297997308"/>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pitchFamily="34" charset="0"/>
        <a:ea typeface="+mn-ea"/>
        <a:cs typeface="Arial" pitchFamily="34" charset="0"/>
      </a:defRPr>
    </a:lvl1pPr>
    <a:lvl2pPr marL="182563" indent="-182563" algn="l" rtl="0" fontAlgn="base">
      <a:spcBef>
        <a:spcPct val="30000"/>
      </a:spcBef>
      <a:spcAft>
        <a:spcPct val="0"/>
      </a:spcAft>
      <a:buFont typeface="Arial" charset="0"/>
      <a:buChar char="•"/>
      <a:defRPr sz="1200" kern="1200">
        <a:solidFill>
          <a:schemeClr val="tx1"/>
        </a:solidFill>
        <a:latin typeface="+mn-lt"/>
        <a:ea typeface="+mn-ea"/>
        <a:cs typeface="Arial" charset="0"/>
      </a:defRPr>
    </a:lvl2pPr>
    <a:lvl3pPr marL="355600" indent="-173038" algn="l" rtl="0" fontAlgn="base">
      <a:spcBef>
        <a:spcPct val="30000"/>
      </a:spcBef>
      <a:spcAft>
        <a:spcPct val="0"/>
      </a:spcAft>
      <a:buFont typeface="Symbol" pitchFamily="18" charset="2"/>
      <a:buChar char="-"/>
      <a:defRPr sz="1200" kern="1200">
        <a:solidFill>
          <a:schemeClr val="tx1"/>
        </a:solidFill>
        <a:latin typeface="+mn-lt"/>
        <a:ea typeface="+mn-ea"/>
        <a:cs typeface="Arial" charset="0"/>
      </a:defRPr>
    </a:lvl3pPr>
    <a:lvl4pPr marL="538163" indent="-182563" algn="l" rtl="0" fontAlgn="base">
      <a:spcBef>
        <a:spcPct val="30000"/>
      </a:spcBef>
      <a:spcAft>
        <a:spcPct val="0"/>
      </a:spcAft>
      <a:buFont typeface="Courier New" pitchFamily="49" charset="0"/>
      <a:buChar char="o"/>
      <a:defRPr sz="1200" kern="1200">
        <a:solidFill>
          <a:schemeClr val="tx1"/>
        </a:solidFill>
        <a:latin typeface="+mn-lt"/>
        <a:ea typeface="+mn-ea"/>
        <a:cs typeface="Arial" charset="0"/>
      </a:defRPr>
    </a:lvl4pPr>
    <a:lvl5pPr marL="720725" indent="-182563" algn="l" rtl="0" fontAlgn="base">
      <a:spcBef>
        <a:spcPct val="30000"/>
      </a:spcBef>
      <a:spcAft>
        <a:spcPct val="0"/>
      </a:spcAft>
      <a:buFont typeface="Wingdings" pitchFamily="2" charset="2"/>
      <a:buChar char="§"/>
      <a:defRPr sz="1200" kern="1200">
        <a:solidFill>
          <a:schemeClr val="tx1"/>
        </a:solidFill>
        <a:latin typeface="+mn-lt"/>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Today we're going to show you our project, “Learning which VRP solver works best”. In one sentence: instead of picking one heuristic for the vehicle routing problem and hoping it works, we trained a machine-learning model that first looks at the instance, and then predicts which of five classical heuristics will solve it best within a fixed time budget. We follow a 2024 paper by Asín-Achá and colleagues, scaled down to a student project. We'll start with the problem, then go through our pipeline, and then the results. We'll spend extra time on the features we built and what they tell us about how these solvers behave. And at the end, there's an honest test on real benchmarks and a speed-versus-quality comparison.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set up the problem first. In the capacitated vehicle routing problem, we have a depot with a fleet of identical vehicles, and each vehicle can carry at most Q. Every customer needs a certain amount and has to be visited exactly once. Each route starts and ends at the depot, and the customers on one route can't need more than the vehicle can carry. The goal: make the total driving distance as short as possible. The picture on the right shows what a solution looks like: the square is the depot, and each colored loop is one vehicle's route. The problem is NP-hard — you have to decide at the same time how to group customers and in what order to visit them. And in real logistics you often need an answer in seconds. So the problem is hard, but the answer has to come fast — that tension drives this whole project.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task in the project was to introduce the problem by solving instances exactly with gurobipy, and with heuristics. We wrote the CVRP as a mixed-integer program — a two-index formulation where load variables grow along each route. That trick removes subtours and enforces capacity at the same time. And the results are pretty humbling. With six customers, Gurobi proves the optimum in a hundredth of a second, and all five heuristics find the same solution. With twenty customers, Gurobi runs for five full minutes and still can't prove it's optimal — up to a two percent gap stays open. The heuristics get the same or almost the same answer in under four hundredths of a second. And with fifty-one customers, the model doesn't even fit into the free license anymore. So exact solving gives us reliable reference points on small instances, but the real work has to be done by fast heuristics. Which brings up the question: which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fact that motivates everything. We ran five classical heuristics on all 1,260 instances in our dataset and asked: which one is best on each instance? The answer: it depends. Route-first-cluster-second wins about a quarter of the time. Clarke-Wright another quarter. Mole-Jameson about a fifth. Even the weakest one still wins almost one instance in ten. So no solver dominates. And if you pick the wrong one, it can cost you up to nineteen percent extra driving distance. Which solver wins depends on how the instance looks — the geometry, where the depot is, how the demands are spread. And this is exactly what the algorithm-selection literature says: don't pick one solver for everything — learn a model that predicts the winner for each instance. That's the approach of the paper we follow.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our solution as a pipeline. A new instance comes in. We compute thirty-eight cheap features — statistics you can get before doing any solving. A trained Random Forest looks at them and predicts which heuristic will win. We run only that one, and we get routes back in about a fifth of a second on average. Four design choices matter here. First, every solver runs under the same fixed twenty-second budget. So the training label really means “best solution within the budget”, and if two solvers tie on cost, the faster one wins. Second, no leakage: features only use information that's available before solving, and a blocklist in the code enforces that. Third, different settings of the same heuristic just become separate entries in the portfolio — that's the simplified version of what the paper calls algorithm configuration. And fourth, if the predicted solver ever fails, we fall back to the single best solver. So the meta-solver always returns something.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portfolio: five classical construction heuristics from the VeRyPy library. They cover the classic families — savings, sweep, insertion, two-phase clustering, and route-first-cluster-second. We pinned the library to one fixed commit, and every solution that comes back gets re-checked and re-costed by our own code, so no library quirk can sneak into the labels. Two things are missing on purpose. Gaskell's savings variant won only 3 out of 240 instances in our audit — you can't learn a class from three examples. And there's no genetic algorithm in here. That's not an oversight: a modern hybrid genetic search would win almost every instance at this budget, the labels would collapse into one class, and there'd be nothing left to learn. We benchmark it separately instead — we'll show you at the end exactly what it buys.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does the training data come from? Like the paper, we generate it ourselves, and the goal is to cover as much variety as possible. It's a balanced grid: five spatial patterns — from uniform scatter to tight clusters to rings — times three depot positions, times four demand types, times three sizes, times seven random seeds. That's 1,260 instances and 6,300 timed solver runs. Exactly one run ever went over the budget. Each instance gets labelled with the solver that found the cheapest feasible solution within 20 seconds. Then we split: 1,008 for training, 252 for testing, stratified by label, with no overlap. And it's all reproducible — every instance can be regenerated from a stable ID, and the generation settings are saved right next to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the model actually see? Thirty-eight features in five groups, all computable in milliseconds. We built them around three guesses about what drives solver performance. Guess one: demand structure — how big the demands are, how uneven they are, and how tightly they fill the fleet. We capture that with capacity pressure and demand statistics. Guess two: depot geometry — how central the depot sits, plus the paper's signature feature, ring occupancy: the share of customers in five rings around the depot. Guess three: overall customer layout and instance size. Just as important is what the model does not see. Solver results, labels, seeds, generator categories — all blocked. The code throws an error if a forbidden column shows up. So the model learns instance characteristics, not leaked answers. Were our three guesses right? That's what the next two slides check.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results, thirty seconds on how you measure a selector, because the field has two standard baselines. The Single Best Solver, SBS, is the one solver that's best on average on the training data — for us that's Mole-Jameson insertion. That's what you'd use without any machine learning, so that's the bar to beat. The Virtual Best Solver, VBS, is an oracle that picks the true winner on every single instance. Perfect selection — that's the ceiling. The paper's metric m-hat tells you where a selector sits between the two: zero means you pick like the oracle, one means you're no better than the baseline. Our selector lands at 0.741 — let's unpack that now. We also report regret — how many percent the chosen solver's route is above the best possible — and how often we land within one percent of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main result. We trained four model families, plus dummy classifiers as sanity checks. Random Forest came out on top — same as in the paper. The chart shows how often the chosen solver lands within one percent of the best possible result. The no-ML baseline: 45 percent of instances. Random Forest: 63 percent. Mean regret drops from 1.67 to 1.24 percent. On the m-hat scale that's 0.741 — the selector closes about a quarter of the gap between baseline and oracle. Now you might say: only 40 percent accuracy over five classes? Yes — and that's fine. Often several solvers are almost tied, so picking the “wrong” one barely costs anything. What counts is route quality, not the label. One nice detail: the plain Decision Tree has m-hat above one. A weak selector is actually worse than no selector — learning has to earn its place.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our supervisor found most interesting — and honestly, so do we: which features actually carried the prediction, and did that match what we expected? Permutation importance on held-out data gives a clear answer, and our three guesses came out three different ways. Guess one, demand structure: confirmed. Capacity pressure and demand spread are at the top of the tree-based ranking. Guess two, depot geometry: confirmed, and stronger than we thought — depot centrality is the single strongest held-out feature, with two ring shares right behind it. And guess three is the surprise: raw instance size, the most obvious feature of all, barely matters. It never makes the top ten. Looking back, that makes sense: all five heuristics handle a hundred customers just fine. What separates them is the shape of the instance, not its size. One caveat we always attach here: importance is about prediction, not causation. But we can go one step deeper and link characteristics to individual solvers —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make that concrete — for us this is the best result in the project. The demand type is the strongest signal. When demands are even, route-first-cluster-second wins forty-one percent of the instances. Makes sense: if everyone needs about the same, cutting one big tour into routes works cleanly. Flip to lumpy, high-variance demands, and Clarke-Wright with 2-opt takes over at thirty-eight percent — its greedy merges deal well with uneven demands. When capacity is tight, Mole-Jameson insertion leads — it checks feasibility at every step, and that pays off when the vehicles run full. Geometry tells the same kind of story. With a central depot or ring-shaped layouts, the Wren-Holliday sweep peaks — it cuts customers by angle around the depot, so it needs angular spread. Put the depot in a corner, and sweep fades while insertion takes over. So each heuristic wins exactly where its construction idea fits. That's the signal the Random Forest picks up — the features, not the fancy model, are the heart of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Quickly, the same thing from the selector's point of view. By size: it does best on the hundred-customer instances and worst on the small ones — more structure gives our features more to work with. By demand type: tight capacity is the hardest case — when vehicles are full to the brim, solver behavior gets hard to predict. And random depot positions are the hardest — which fits what we just saw: the model leans on depot geometry, and random placement is where that signal moves around the most.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every ML project has to face: does it work outside its own data? We took the frozen selector — trained only on synthetic data — and tested it on 85 classic CVRPLIB benchmark instances, sets A, B, E and P. Same budget, and we compared against the published optima. The honest answer: it transfers partly. The within-one-percent rate still clearly beats the baseline — 53 versus 43 percent, and better on every set, as the chart shows. But on mean regret, the edge mostly disappears: 1.84 versus 1.88 percent, m-hat basically one. The paper saw the same thing — these stylized benchmark families are hard if you trained on random synthetic data. Two good notes, though. The portfolio itself holds up on real data: its best solver is on average under two percent above the proven optima. And on E-n51-k5, the selector picks exactly the right heuristic — 0.19 percent above the optimum, in a sixth of a second.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piece — an extension beyond the course requirements that puts everything in perspective. What if we spent the whole twenty-second budget on a single solver? We benchmarked PyVRP's hybrid genetic search on a stratified sample of 45 test instances, plus the benchmark. The result: HGS wins or ties our portfolio's oracle on every single instance. On average its routes are 3.5 percent shorter than the ML-selected heuristic's, and it even finds the proven optimum on E-n51-k5. But it uses the full twenty seconds — while our ML-selected heuristic answers in a fifth of a second. That's about ninety times less compute. And that's exactly why HGS is not in the portfolio: as a label it would swallow the whole dataset. As a reference, it prices the trade-off nicely. Need answers in real time, or starting points for a bigger optimizer? Use the selector. Can you afford twenty seconds per instance? Just run HGS. Different tools for different situations.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be as plain about the limitations as about the results. We trained on synthetic data, and on real benchmarks the regret advantage mostly disappears — we showed you that instead of hiding it. Our labels are the portfolio's best, not true optima — though that best is only about two percent above the proven optima on real instances. The budget caps runtime but doesn't reward speed. And the exact baseline is a deliberately simple formulation on a free license. On the plus side: per-instance selection really does beat the single-best-solver baseline on our data. Cheap pre-solve features carry real signal — above all depot geometry and demand structure — and the importance ranking matches how the heuristics are built. Every number in this talk comes from frozen, integrity-checked results anyone can re-run. And the speed-quality trade-off is measured, not just claimed.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in one sentence: look at the instance first, then pick the solver. Thirty-eight engineered features — mainly depot geometry and demand structure, whose importance matched how each heuristic is built — turn five sixty-year-old heuristics into a meta-solver that beats the standard baseline, transfers partly — and honestly measured — to real benchmarks, and sits at a clear point on the speed-quality spectrum: a fifth of a second for routes within about three and a half percent of what a modern genetic search gets with ninety times the compute. Exact where it proves, heuristic where it scales, learned where it chooses. Thank you — we're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divider — jump here only if a question calls for the details.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paper tunes hyperparameters with a five-fold grid search; our main experiment used fixed ones. So we ran the paper-style search on the frozen training split afterwards. All models' CV accuracies end up within about one point of each other, and the tuned test regrets sit right around the frozen Random Forest's number. So the fixed settings were fine, and the frozen results stand.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exact model. It's the classic two-index formulation. Binary arc variables, degree constraints, and continuous load variables that grow along each route — those load constraints kill subtours and enforce capacity in one go. Twenty customers means 440 binary variables; the free license caps out at two thousand, and that's why the 51-customer benchmark can't be solved exactly here.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fine print — budget and tie-breaking rules, the integrity checks that protect the frozen results, and the pinned software versions. Useful for reproducibility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8338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lvl1pPr>
            <a:lvl2pPr>
              <a:defRPr lang="de-DE" noProof="0" dirty="0" smtClean="0"/>
            </a:lvl2pPr>
          </a:lstStyle>
          <a:p>
            <a:pPr lvl="0"/>
            <a:r>
              <a:rPr lang="de-DE" noProof="0" dirty="0"/>
              <a:t>Referent</a:t>
            </a:r>
            <a:br>
              <a:rPr lang="de-DE" noProof="0" dirty="0"/>
            </a:br>
            <a:r>
              <a:rPr lang="de-DE" noProof="0" dirty="0"/>
              <a:t>Ort, Datum (Schreibweise: 00. Januar 2015)</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2"/>
          </p:nvPr>
        </p:nvSpPr>
        <p:spPr/>
        <p:txBody>
          <a:bodyPr/>
          <a:lstStyle/>
          <a:p>
            <a:fld id="{CE58CB1E-F828-4F11-99E0-327109AF9DA4}" type="slidenum">
              <a:rPr lang="de-DE" smtClean="0"/>
              <a:pPr/>
              <a:t>‹Nr.›</a:t>
            </a:fld>
            <a:endParaRPr lang="de-DE" dirty="0"/>
          </a:p>
        </p:txBody>
      </p:sp>
      <p:sp>
        <p:nvSpPr>
          <p:cNvPr id="7" name="Fußzeilenplatzhalter 6"/>
          <p:cNvSpPr>
            <a:spLocks noGrp="1"/>
          </p:cNvSpPr>
          <p:nvPr>
            <p:ph type="ftr" sz="quarter" idx="13"/>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bg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600" baseline="0" noProof="0" dirty="0" smtClean="0">
                <a:solidFill>
                  <a:schemeClr val="bg1"/>
                </a:solidFill>
              </a:defRPr>
            </a:lvl1pPr>
            <a:lvl2pPr>
              <a:defRPr lang="de-DE" noProof="0" dirty="0" smtClean="0"/>
            </a:lvl2pPr>
          </a:lstStyle>
          <a:p>
            <a:pPr lvl="0"/>
            <a:r>
              <a:rPr lang="de-DE" noProof="0" dirty="0"/>
              <a:t>Referent</a:t>
            </a:r>
            <a:br>
              <a:rPr lang="de-DE" noProof="0" dirty="0"/>
            </a:br>
            <a:r>
              <a:rPr lang="de-DE" noProof="0" dirty="0"/>
              <a:t>Ort, Datum (Schreibweise: 00. Januar 2015)</a:t>
            </a:r>
          </a:p>
        </p:txBody>
      </p:sp>
      <p:sp>
        <p:nvSpPr>
          <p:cNvPr id="5" name="Foliennummernplatzhalter 4"/>
          <p:cNvSpPr>
            <a:spLocks noGrp="1"/>
          </p:cNvSpPr>
          <p:nvPr>
            <p:ph type="sldNum" sz="quarter" idx="12"/>
          </p:nvPr>
        </p:nvSpPr>
        <p:spPr/>
        <p:txBody>
          <a:bodyPr/>
          <a:lstStyle>
            <a:lvl1pPr>
              <a:defRPr>
                <a:solidFill>
                  <a:schemeClr val="bg1"/>
                </a:solidFill>
              </a:defRPr>
            </a:lvl1pPr>
          </a:lstStyle>
          <a:p>
            <a:fld id="{CE58CB1E-F828-4F11-99E0-327109AF9DA4}" type="slidenum">
              <a:rPr lang="de-DE" smtClean="0"/>
              <a:pPr/>
              <a:t>‹Nr.›</a:t>
            </a:fld>
            <a:endParaRPr lang="de-DE" dirty="0"/>
          </a:p>
        </p:txBody>
      </p:sp>
      <p:sp>
        <p:nvSpPr>
          <p:cNvPr id="7" name="Fußzeilenplatzhalter 6"/>
          <p:cNvSpPr>
            <a:spLocks noGrp="1"/>
          </p:cNvSpPr>
          <p:nvPr>
            <p:ph type="ftr" sz="quarter" idx="13"/>
          </p:nvPr>
        </p:nvSpPr>
        <p:spPr/>
        <p:txBody>
          <a:bodyPr/>
          <a:lstStyle>
            <a:lvl1pPr>
              <a:defRPr>
                <a:solidFill>
                  <a:schemeClr val="bg1"/>
                </a:solidFill>
              </a:defRPr>
            </a:lvl1p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rgbClr val="000000"/>
                </a:solidFill>
              </a:defRPr>
            </a:lvl1pPr>
            <a:lvl2pPr>
              <a:defRPr lang="de-DE" noProof="0" dirty="0" smtClean="0"/>
            </a:lvl2pPr>
          </a:lstStyle>
          <a:p>
            <a:pPr lvl="0"/>
            <a:r>
              <a:rPr lang="de-DE" noProof="0" dirty="0"/>
              <a:t>Referent</a:t>
            </a:r>
            <a:br>
              <a:rPr lang="de-DE" noProof="0" dirty="0"/>
            </a:br>
            <a:r>
              <a:rPr lang="de-DE" noProof="0" dirty="0"/>
              <a:t>Ort, Datum (Schreibweise: 00. Januar 2015)</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1"/>
          </p:nvPr>
        </p:nvSpPr>
        <p:spPr/>
        <p:txBody>
          <a:bodyPr/>
          <a:lstStyle/>
          <a:p>
            <a:fld id="{CE58CB1E-F828-4F11-99E0-327109AF9DA4}" type="slidenum">
              <a:rPr lang="de-DE" smtClean="0"/>
              <a:pPr/>
              <a:t>‹Nr.›</a:t>
            </a:fld>
            <a:endParaRPr lang="de-DE" dirty="0"/>
          </a:p>
        </p:txBody>
      </p:sp>
      <p:sp>
        <p:nvSpPr>
          <p:cNvPr id="8" name="Fußzeilenplatzhalter 7"/>
          <p:cNvSpPr>
            <a:spLocks noGrp="1"/>
          </p:cNvSpPr>
          <p:nvPr>
            <p:ph type="ftr" sz="quarter" idx="12"/>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lvl1pPr>
            <a:lvl2pPr>
              <a:defRPr lang="de-DE" noProof="0" dirty="0" smtClean="0"/>
            </a:lvl2pPr>
          </a:lstStyle>
          <a:p>
            <a:pPr lvl="0"/>
            <a:r>
              <a:rPr lang="de-DE" noProof="0" dirty="0"/>
              <a:t>Referent</a:t>
            </a:r>
            <a:br>
              <a:rPr lang="de-DE" noProof="0" dirty="0"/>
            </a:br>
            <a:r>
              <a:rPr lang="de-DE" noProof="0" dirty="0"/>
              <a:t>Ort, Datum (Schreibweise: 00. Januar 2015)</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8" name="Foliennummernplatzhalter 7"/>
          <p:cNvSpPr>
            <a:spLocks noGrp="1"/>
          </p:cNvSpPr>
          <p:nvPr>
            <p:ph type="sldNum" sz="quarter" idx="12"/>
          </p:nvPr>
        </p:nvSpPr>
        <p:spPr/>
        <p:txBody>
          <a:bodyPr/>
          <a:lstStyle/>
          <a:p>
            <a:fld id="{CE58CB1E-F828-4F11-99E0-327109AF9DA4}" type="slidenum">
              <a:rPr lang="de-DE" smtClean="0"/>
              <a:pPr/>
              <a:t>‹Nr.›</a:t>
            </a:fld>
            <a:endParaRPr lang="de-DE" dirty="0"/>
          </a:p>
        </p:txBody>
      </p:sp>
      <p:sp>
        <p:nvSpPr>
          <p:cNvPr id="10" name="Fußzeilenplatzhalter 9"/>
          <p:cNvSpPr>
            <a:spLocks noGrp="1"/>
          </p:cNvSpPr>
          <p:nvPr>
            <p:ph type="ftr" sz="quarter" idx="13"/>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319090" y="1600200"/>
            <a:ext cx="8508999" cy="30956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10"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5" name="Foliennummernplatzhalter 4"/>
          <p:cNvSpPr>
            <a:spLocks noGrp="1"/>
          </p:cNvSpPr>
          <p:nvPr>
            <p:ph type="sldNum" sz="quarter" idx="11"/>
          </p:nvPr>
        </p:nvSpPr>
        <p:spPr/>
        <p:txBody>
          <a:bodyPr lIns="0" rIns="0"/>
          <a:lstStyle/>
          <a:p>
            <a:fld id="{CE58CB1E-F828-4F11-99E0-327109AF9DA4}" type="slidenum">
              <a:rPr lang="de-DE" smtClean="0"/>
              <a:pPr/>
              <a:t>‹Nr.›</a:t>
            </a:fld>
            <a:endParaRPr lang="de-DE" dirty="0"/>
          </a:p>
        </p:txBody>
      </p:sp>
      <p:sp>
        <p:nvSpPr>
          <p:cNvPr id="7" name="Fußzeilenplatzhalter 6"/>
          <p:cNvSpPr>
            <a:spLocks noGrp="1"/>
          </p:cNvSpPr>
          <p:nvPr>
            <p:ph type="ftr" sz="quarter" idx="12"/>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21839487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2143125"/>
            <a:ext cx="8508999" cy="254317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10" name="Titel 1"/>
          <p:cNvSpPr>
            <a:spLocks noGrp="1"/>
          </p:cNvSpPr>
          <p:nvPr>
            <p:ph type="title" hasCustomPrompt="1"/>
          </p:nvPr>
        </p:nvSpPr>
        <p:spPr>
          <a:xfrm>
            <a:off x="319090" y="972000"/>
            <a:ext cx="8508999" cy="410369"/>
          </a:xfrm>
          <a:prstGeom prst="rect">
            <a:avLst/>
          </a:prstGeom>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‹Nr.›</a:t>
            </a:fld>
            <a:endParaRPr lang="de-DE" dirty="0"/>
          </a:p>
        </p:txBody>
      </p:sp>
      <p:sp useBgFill="1">
        <p:nvSpPr>
          <p:cNvPr id="7" name="Fußzeilenplatzhalter 6"/>
          <p:cNvSpPr>
            <a:spLocks noGrp="1"/>
          </p:cNvSpPr>
          <p:nvPr>
            <p:ph type="ftr" sz="quarter" idx="12"/>
          </p:nvPr>
        </p:nvSpPr>
        <p:spPr/>
        <p:txBody>
          <a:bodyPr/>
          <a:lstStyle/>
          <a:p>
            <a:r>
              <a:rPr lang="de-DE"/>
              <a:t>Dr. rer. nat. Erika Mustermann (TUM) | kann beliebig erweitert werden | Infos mit Strich trennen</a:t>
            </a:r>
            <a:endParaRPr lang="en-US" dirty="0"/>
          </a:p>
        </p:txBody>
      </p:sp>
      <p:sp useBgFill="1">
        <p:nvSpPr>
          <p:cNvPr id="6" name="Textplatzhalter 7"/>
          <p:cNvSpPr>
            <a:spLocks noGrp="1"/>
          </p:cNvSpPr>
          <p:nvPr>
            <p:ph type="body" sz="quarter" idx="13" hasCustomPrompt="1"/>
          </p:nvPr>
        </p:nvSpPr>
        <p:spPr>
          <a:xfrm>
            <a:off x="319090" y="1600200"/>
            <a:ext cx="8508999" cy="50530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Tree>
    <p:extLst>
      <p:ext uri="{BB962C8B-B14F-4D97-AF65-F5344CB8AC3E}">
        <p14:creationId xmlns:p14="http://schemas.microsoft.com/office/powerpoint/2010/main" val="21839487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11" name="Inhaltsplatzhalter 2"/>
          <p:cNvSpPr>
            <a:spLocks noGrp="1"/>
          </p:cNvSpPr>
          <p:nvPr>
            <p:ph idx="14" hasCustomPrompt="1"/>
          </p:nvPr>
        </p:nvSpPr>
        <p:spPr>
          <a:xfrm>
            <a:off x="319091" y="1602000"/>
            <a:ext cx="4180910" cy="3095626"/>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13" name="Inhaltsplatzhalter 2"/>
          <p:cNvSpPr>
            <a:spLocks noGrp="1"/>
          </p:cNvSpPr>
          <p:nvPr>
            <p:ph idx="15" hasCustomPrompt="1"/>
          </p:nvPr>
        </p:nvSpPr>
        <p:spPr>
          <a:xfrm>
            <a:off x="4647179" y="1602000"/>
            <a:ext cx="4180910" cy="3095626"/>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16"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baseline="0" noProof="0" dirty="0"/>
            </a:lvl1pPr>
          </a:lstStyle>
          <a:p>
            <a:pPr lvl="0"/>
            <a:r>
              <a:rPr lang="de-DE" noProof="0" dirty="0"/>
              <a:t>Titel durch Klicken bearbeiten</a:t>
            </a:r>
          </a:p>
        </p:txBody>
      </p:sp>
      <p:sp>
        <p:nvSpPr>
          <p:cNvPr id="6" name="Foliennummernplatzhalter 5"/>
          <p:cNvSpPr>
            <a:spLocks noGrp="1"/>
          </p:cNvSpPr>
          <p:nvPr>
            <p:ph type="sldNum" sz="quarter" idx="16"/>
          </p:nvPr>
        </p:nvSpPr>
        <p:spPr/>
        <p:txBody>
          <a:bodyPr/>
          <a:lstStyle/>
          <a:p>
            <a:fld id="{CE58CB1E-F828-4F11-99E0-327109AF9DA4}" type="slidenum">
              <a:rPr lang="de-DE" smtClean="0"/>
              <a:pPr/>
              <a:t>‹Nr.›</a:t>
            </a:fld>
            <a:endParaRPr lang="de-DE" dirty="0"/>
          </a:p>
        </p:txBody>
      </p:sp>
      <p:sp>
        <p:nvSpPr>
          <p:cNvPr id="8" name="Fußzeilenplatzhalter 7"/>
          <p:cNvSpPr>
            <a:spLocks noGrp="1"/>
          </p:cNvSpPr>
          <p:nvPr>
            <p:ph type="ftr" sz="quarter" idx="17"/>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34629014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Zwei Inhalte + Text">
    <p:spTree>
      <p:nvGrpSpPr>
        <p:cNvPr id="1" name=""/>
        <p:cNvGrpSpPr/>
        <p:nvPr/>
      </p:nvGrpSpPr>
      <p:grpSpPr>
        <a:xfrm>
          <a:off x="0" y="0"/>
          <a:ext cx="0" cy="0"/>
          <a:chOff x="0" y="0"/>
          <a:chExt cx="0" cy="0"/>
        </a:xfrm>
      </p:grpSpPr>
      <p:sp>
        <p:nvSpPr>
          <p:cNvPr id="18" name="Textplatzhalter 7"/>
          <p:cNvSpPr>
            <a:spLocks noGrp="1"/>
          </p:cNvSpPr>
          <p:nvPr>
            <p:ph type="body" sz="quarter" idx="13" hasCustomPrompt="1"/>
          </p:nvPr>
        </p:nvSpPr>
        <p:spPr>
          <a:xfrm>
            <a:off x="319090" y="1600200"/>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3"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7" name="Foliennummernplatzhalter 6"/>
          <p:cNvSpPr>
            <a:spLocks noGrp="1"/>
          </p:cNvSpPr>
          <p:nvPr>
            <p:ph type="sldNum" sz="quarter" idx="15"/>
          </p:nvPr>
        </p:nvSpPr>
        <p:spPr/>
        <p:txBody>
          <a:bodyPr/>
          <a:lstStyle/>
          <a:p>
            <a:fld id="{CE58CB1E-F828-4F11-99E0-327109AF9DA4}" type="slidenum">
              <a:rPr lang="de-DE" smtClean="0"/>
              <a:pPr/>
              <a:t>‹Nr.›</a:t>
            </a:fld>
            <a:endParaRPr lang="de-DE" dirty="0"/>
          </a:p>
        </p:txBody>
      </p:sp>
      <p:sp>
        <p:nvSpPr>
          <p:cNvPr id="12" name="Fußzeilenplatzhalter 11"/>
          <p:cNvSpPr>
            <a:spLocks noGrp="1"/>
          </p:cNvSpPr>
          <p:nvPr>
            <p:ph type="ftr" sz="quarter" idx="16"/>
          </p:nvPr>
        </p:nvSpPr>
        <p:spPr/>
        <p:txBody>
          <a:bodyPr/>
          <a:lstStyle/>
          <a:p>
            <a:r>
              <a:rPr lang="de-DE" noProof="0"/>
              <a:t>Dr. rer. nat. Erika Mustermann (TUM) | kann beliebig erweitert werden | Infos mit Strich trennen</a:t>
            </a:r>
          </a:p>
        </p:txBody>
      </p:sp>
      <p:sp>
        <p:nvSpPr>
          <p:cNvPr id="8" name="Inhaltsplatzhalter 9"/>
          <p:cNvSpPr>
            <a:spLocks noGrp="1"/>
          </p:cNvSpPr>
          <p:nvPr>
            <p:ph sz="quarter" idx="18"/>
          </p:nvPr>
        </p:nvSpPr>
        <p:spPr>
          <a:xfrm>
            <a:off x="316992" y="2148752"/>
            <a:ext cx="4188333" cy="2547074"/>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48200" y="2148840"/>
            <a:ext cx="4180392" cy="2546911"/>
          </a:xfrm>
          <a:prstGeom prst="rect">
            <a:avLst/>
          </a:prstGeom>
        </p:spPr>
        <p:txBody>
          <a:bodyPr/>
          <a:lstStyle>
            <a:lvl1pPr>
              <a:lnSpc>
                <a:spcPct val="114000"/>
              </a:lnSpc>
              <a:defRPr sz="1400"/>
            </a:lvl1pPr>
          </a:lstStyle>
          <a:p>
            <a:endParaRPr lang="de-DE" dirty="0"/>
          </a:p>
        </p:txBody>
      </p:sp>
    </p:spTree>
    <p:extLst>
      <p:ext uri="{BB962C8B-B14F-4D97-AF65-F5344CB8AC3E}">
        <p14:creationId xmlns:p14="http://schemas.microsoft.com/office/powerpoint/2010/main" val="11115081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Zwei Inhalte + Text (Hintergrund)">
    <p:spTree>
      <p:nvGrpSpPr>
        <p:cNvPr id="1" name=""/>
        <p:cNvGrpSpPr/>
        <p:nvPr/>
      </p:nvGrpSpPr>
      <p:grpSpPr>
        <a:xfrm>
          <a:off x="0" y="0"/>
          <a:ext cx="0" cy="0"/>
          <a:chOff x="0" y="0"/>
          <a:chExt cx="0" cy="0"/>
        </a:xfrm>
      </p:grpSpPr>
      <p:sp>
        <p:nvSpPr>
          <p:cNvPr id="9" name="Rechteck 8"/>
          <p:cNvSpPr/>
          <p:nvPr userDrawn="1"/>
        </p:nvSpPr>
        <p:spPr bwMode="auto">
          <a:xfrm>
            <a:off x="0" y="2152650"/>
            <a:ext cx="9144000" cy="2990850"/>
          </a:xfrm>
          <a:prstGeom prst="rect">
            <a:avLst/>
          </a:prstGeom>
          <a:solidFill>
            <a:schemeClr val="bg1">
              <a:lumMod val="9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r" eaLnBrk="0" hangingPunct="0"/>
            <a:endParaRPr lang="de-DE" sz="1000">
              <a:latin typeface="Arial" pitchFamily="34" charset="0"/>
            </a:endParaRPr>
          </a:p>
        </p:txBody>
      </p:sp>
      <p:sp>
        <p:nvSpPr>
          <p:cNvPr id="13"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7" name="Foliennummernplatzhalter 6"/>
          <p:cNvSpPr>
            <a:spLocks noGrp="1"/>
          </p:cNvSpPr>
          <p:nvPr>
            <p:ph type="sldNum" sz="quarter" idx="15"/>
          </p:nvPr>
        </p:nvSpPr>
        <p:spPr/>
        <p:txBody>
          <a:bodyPr/>
          <a:lstStyle/>
          <a:p>
            <a:fld id="{CE58CB1E-F828-4F11-99E0-327109AF9DA4}" type="slidenum">
              <a:rPr lang="de-DE" smtClean="0"/>
              <a:pPr/>
              <a:t>‹Nr.›</a:t>
            </a:fld>
            <a:endParaRPr lang="de-DE" dirty="0"/>
          </a:p>
        </p:txBody>
      </p:sp>
      <p:sp>
        <p:nvSpPr>
          <p:cNvPr id="12" name="Fußzeilenplatzhalter 11"/>
          <p:cNvSpPr>
            <a:spLocks noGrp="1"/>
          </p:cNvSpPr>
          <p:nvPr>
            <p:ph type="ftr" sz="quarter" idx="16"/>
          </p:nvPr>
        </p:nvSpPr>
        <p:spPr/>
        <p:txBody>
          <a:bodyPr/>
          <a:lstStyle/>
          <a:p>
            <a:r>
              <a:rPr lang="de-DE" noProof="0"/>
              <a:t>Dr. rer. nat. Erika Mustermann (TUM) | kann beliebig erweitert werden | Infos mit Strich trennen</a:t>
            </a:r>
          </a:p>
        </p:txBody>
      </p:sp>
      <p:sp>
        <p:nvSpPr>
          <p:cNvPr id="8" name="Inhaltsplatzhalter 9"/>
          <p:cNvSpPr>
            <a:spLocks noGrp="1"/>
          </p:cNvSpPr>
          <p:nvPr>
            <p:ph sz="quarter" idx="18"/>
          </p:nvPr>
        </p:nvSpPr>
        <p:spPr>
          <a:xfrm>
            <a:off x="316992" y="2152650"/>
            <a:ext cx="4197858" cy="2552700"/>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48200" y="2143125"/>
            <a:ext cx="4180392" cy="2543176"/>
          </a:xfrm>
          <a:prstGeom prst="rect">
            <a:avLst/>
          </a:prstGeom>
        </p:spPr>
        <p:txBody>
          <a:bodyPr/>
          <a:lstStyle>
            <a:lvl1pPr>
              <a:lnSpc>
                <a:spcPct val="114000"/>
              </a:lnSpc>
              <a:defRPr sz="1400"/>
            </a:lvl1pPr>
          </a:lstStyle>
          <a:p>
            <a:endParaRPr lang="de-DE" dirty="0"/>
          </a:p>
        </p:txBody>
      </p:sp>
      <p:sp>
        <p:nvSpPr>
          <p:cNvPr id="10" name="Textplatzhalter 7"/>
          <p:cNvSpPr>
            <a:spLocks noGrp="1"/>
          </p:cNvSpPr>
          <p:nvPr>
            <p:ph type="body" sz="quarter" idx="19" hasCustomPrompt="1"/>
          </p:nvPr>
        </p:nvSpPr>
        <p:spPr>
          <a:xfrm>
            <a:off x="319090" y="1600200"/>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Tree>
    <p:extLst>
      <p:ext uri="{BB962C8B-B14F-4D97-AF65-F5344CB8AC3E}">
        <p14:creationId xmlns:p14="http://schemas.microsoft.com/office/powerpoint/2010/main" val="11115081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roße Bilder">
    <p:spTree>
      <p:nvGrpSpPr>
        <p:cNvPr id="1" name=""/>
        <p:cNvGrpSpPr/>
        <p:nvPr/>
      </p:nvGrpSpPr>
      <p:grpSpPr>
        <a:xfrm>
          <a:off x="0" y="0"/>
          <a:ext cx="0" cy="0"/>
          <a:chOff x="0" y="0"/>
          <a:chExt cx="0" cy="0"/>
        </a:xfrm>
      </p:grpSpPr>
      <p:sp>
        <p:nvSpPr>
          <p:cNvPr id="13"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7" name="Foliennummernplatzhalter 6"/>
          <p:cNvSpPr>
            <a:spLocks noGrp="1"/>
          </p:cNvSpPr>
          <p:nvPr>
            <p:ph type="sldNum" sz="quarter" idx="15"/>
          </p:nvPr>
        </p:nvSpPr>
        <p:spPr/>
        <p:txBody>
          <a:bodyPr/>
          <a:lstStyle/>
          <a:p>
            <a:fld id="{CE58CB1E-F828-4F11-99E0-327109AF9DA4}" type="slidenum">
              <a:rPr lang="de-DE" smtClean="0"/>
              <a:pPr/>
              <a:t>‹Nr.›</a:t>
            </a:fld>
            <a:endParaRPr lang="de-DE" dirty="0"/>
          </a:p>
        </p:txBody>
      </p:sp>
      <p:sp>
        <p:nvSpPr>
          <p:cNvPr id="12" name="Fußzeilenplatzhalter 11"/>
          <p:cNvSpPr>
            <a:spLocks noGrp="1"/>
          </p:cNvSpPr>
          <p:nvPr>
            <p:ph type="ftr" sz="quarter" idx="16"/>
          </p:nvPr>
        </p:nvSpPr>
        <p:spPr/>
        <p:txBody>
          <a:bodyPr/>
          <a:lstStyle/>
          <a:p>
            <a:r>
              <a:rPr lang="de-DE" noProof="0"/>
              <a:t>Dr. rer. nat. Erika Mustermann (TUM) | kann beliebig erweitert werden | Infos mit Strich trennen</a:t>
            </a:r>
          </a:p>
        </p:txBody>
      </p:sp>
      <p:sp>
        <p:nvSpPr>
          <p:cNvPr id="9" name="Bildplatzhalter 8"/>
          <p:cNvSpPr>
            <a:spLocks noGrp="1"/>
          </p:cNvSpPr>
          <p:nvPr>
            <p:ph type="pic" sz="quarter" idx="17"/>
          </p:nvPr>
        </p:nvSpPr>
        <p:spPr>
          <a:xfrm>
            <a:off x="0" y="2133600"/>
            <a:ext cx="9144000" cy="3009900"/>
          </a:xfrm>
          <a:prstGeom prst="rect">
            <a:avLst/>
          </a:prstGeom>
        </p:spPr>
        <p:txBody>
          <a:bodyPr/>
          <a:lstStyle>
            <a:lvl1pPr>
              <a:defRPr sz="1400"/>
            </a:lvl1pPr>
          </a:lstStyle>
          <a:p>
            <a:endParaRPr lang="de-DE"/>
          </a:p>
        </p:txBody>
      </p:sp>
      <p:sp>
        <p:nvSpPr>
          <p:cNvPr id="8" name="Textplatzhalter 7"/>
          <p:cNvSpPr>
            <a:spLocks noGrp="1"/>
          </p:cNvSpPr>
          <p:nvPr>
            <p:ph type="body" sz="quarter" idx="18" hasCustomPrompt="1"/>
          </p:nvPr>
        </p:nvSpPr>
        <p:spPr>
          <a:xfrm>
            <a:off x="319090" y="1600200"/>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Tree>
    <p:extLst>
      <p:ext uri="{BB962C8B-B14F-4D97-AF65-F5344CB8AC3E}">
        <p14:creationId xmlns:p14="http://schemas.microsoft.com/office/powerpoint/2010/main" val="11115081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ilder formatfüllend">
    <p:spTree>
      <p:nvGrpSpPr>
        <p:cNvPr id="1" name=""/>
        <p:cNvGrpSpPr/>
        <p:nvPr/>
      </p:nvGrpSpPr>
      <p:grpSpPr>
        <a:xfrm>
          <a:off x="0" y="0"/>
          <a:ext cx="0" cy="0"/>
          <a:chOff x="0" y="0"/>
          <a:chExt cx="0" cy="0"/>
        </a:xfrm>
      </p:grpSpPr>
      <p:sp>
        <p:nvSpPr>
          <p:cNvPr id="8" name="Bildplatzhalter 2"/>
          <p:cNvSpPr>
            <a:spLocks noGrp="1"/>
          </p:cNvSpPr>
          <p:nvPr>
            <p:ph type="pic" sz="quarter" idx="14" hasCustomPrompt="1"/>
          </p:nvPr>
        </p:nvSpPr>
        <p:spPr>
          <a:xfrm>
            <a:off x="0" y="1600200"/>
            <a:ext cx="9144000" cy="3543299"/>
          </a:xfrm>
          <a:prstGeom prst="rect">
            <a:avLst/>
          </a:prstGeom>
        </p:spPr>
        <p:txBody>
          <a:bodyPr/>
          <a:lstStyle>
            <a:lvl1pPr>
              <a:lnSpc>
                <a:spcPct val="114000"/>
              </a:lnSpc>
              <a:defRPr sz="1400"/>
            </a:lvl1pPr>
          </a:lstStyle>
          <a:p>
            <a:endParaRPr lang="de-DE" dirty="0"/>
          </a:p>
        </p:txBody>
      </p:sp>
      <p:sp>
        <p:nvSpPr>
          <p:cNvPr id="11" name="Titel 1"/>
          <p:cNvSpPr>
            <a:spLocks noGrp="1"/>
          </p:cNvSpPr>
          <p:nvPr>
            <p:ph type="title" hasCustomPrompt="1"/>
          </p:nvPr>
        </p:nvSpPr>
        <p:spPr>
          <a:xfrm>
            <a:off x="319090" y="972000"/>
            <a:ext cx="8508999" cy="410369"/>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lvl1pPr>
          </a:lstStyle>
          <a:p>
            <a:pPr lvl="0"/>
            <a:r>
              <a:rPr lang="de-DE" noProof="0" dirty="0"/>
              <a:t>Titel durch Klicken bearbeiten</a:t>
            </a:r>
          </a:p>
        </p:txBody>
      </p:sp>
      <p:sp>
        <p:nvSpPr>
          <p:cNvPr id="6" name="Foliennummernplatzhalter 5"/>
          <p:cNvSpPr>
            <a:spLocks noGrp="1"/>
          </p:cNvSpPr>
          <p:nvPr>
            <p:ph type="sldNum" sz="quarter" idx="15"/>
          </p:nvPr>
        </p:nvSpPr>
        <p:spPr/>
        <p:txBody>
          <a:bodyPr/>
          <a:lstStyle/>
          <a:p>
            <a:fld id="{CE58CB1E-F828-4F11-99E0-327109AF9DA4}" type="slidenum">
              <a:rPr lang="de-DE" smtClean="0"/>
              <a:pPr/>
              <a:t>‹Nr.›</a:t>
            </a:fld>
            <a:endParaRPr lang="de-DE" dirty="0"/>
          </a:p>
        </p:txBody>
      </p:sp>
      <p:sp>
        <p:nvSpPr>
          <p:cNvPr id="10" name="Fußzeilenplatzhalter 9"/>
          <p:cNvSpPr>
            <a:spLocks noGrp="1"/>
          </p:cNvSpPr>
          <p:nvPr>
            <p:ph type="ftr" sz="quarter" idx="16"/>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4257987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1231106"/>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baseline="0" noProof="0" dirty="0">
                <a:solidFill>
                  <a:schemeClr val="bg1"/>
                </a:solidFill>
              </a:defRPr>
            </a:lvl1pPr>
          </a:lstStyle>
          <a:p>
            <a:pPr lvl="0"/>
            <a:r>
              <a:rPr lang="de-DE" noProof="0" dirty="0"/>
              <a:t>Präsentationsmuster</a:t>
            </a:r>
            <a:br>
              <a:rPr lang="de-DE" noProof="0" dirty="0"/>
            </a:br>
            <a:r>
              <a:rPr lang="de-DE" noProof="0" dirty="0"/>
              <a:t/>
            </a:r>
            <a:br>
              <a:rPr lang="de-DE" noProof="0" dirty="0"/>
            </a:br>
            <a:r>
              <a:rPr lang="de-DE" noProof="0" dirty="0"/>
              <a:t>kann auch als </a:t>
            </a:r>
            <a:r>
              <a:rPr lang="de-DE" noProof="0" dirty="0" err="1"/>
              <a:t>Kapiteltrenner</a:t>
            </a:r>
            <a:r>
              <a:rPr lang="de-DE" noProof="0" dirty="0"/>
              <a:t> verwendet werden</a:t>
            </a:r>
          </a:p>
        </p:txBody>
      </p:sp>
      <p:sp>
        <p:nvSpPr>
          <p:cNvPr id="5" name="Foliennummernplatzhalter 4"/>
          <p:cNvSpPr>
            <a:spLocks noGrp="1"/>
          </p:cNvSpPr>
          <p:nvPr>
            <p:ph type="sldNum" sz="quarter" idx="11"/>
          </p:nvPr>
        </p:nvSpPr>
        <p:spPr/>
        <p:txBody>
          <a:bodyPr/>
          <a:lstStyle/>
          <a:p>
            <a:fld id="{CE58CB1E-F828-4F11-99E0-327109AF9DA4}" type="slidenum">
              <a:rPr lang="de-DE" smtClean="0"/>
              <a:pPr/>
              <a:t>‹Nr.›</a:t>
            </a:fld>
            <a:endParaRPr lang="de-DE" dirty="0"/>
          </a:p>
        </p:txBody>
      </p:sp>
      <p:sp>
        <p:nvSpPr>
          <p:cNvPr id="7" name="Fußzeilenplatzhalter 6"/>
          <p:cNvSpPr>
            <a:spLocks noGrp="1"/>
          </p:cNvSpPr>
          <p:nvPr>
            <p:ph type="ftr" sz="quarter" idx="12"/>
          </p:nvPr>
        </p:nvSpPr>
        <p:spPr/>
        <p:txBody>
          <a:body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1231106"/>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bg1"/>
                </a:solidFill>
              </a:defRPr>
            </a:lvl1pPr>
          </a:lstStyle>
          <a:p>
            <a:pPr lvl="0"/>
            <a:r>
              <a:rPr lang="de-DE" noProof="0" dirty="0"/>
              <a:t>Präsentationsmuster</a:t>
            </a:r>
            <a:br>
              <a:rPr lang="de-DE" noProof="0" dirty="0"/>
            </a:br>
            <a:r>
              <a:rPr lang="de-DE" noProof="0" dirty="0"/>
              <a:t/>
            </a:r>
            <a:br>
              <a:rPr lang="de-DE" noProof="0" dirty="0"/>
            </a:br>
            <a:r>
              <a:rPr lang="de-DE" noProof="0" dirty="0"/>
              <a:t>kann auch als </a:t>
            </a:r>
            <a:r>
              <a:rPr lang="de-DE" noProof="0" dirty="0" err="1"/>
              <a:t>Kapiteltrenner</a:t>
            </a:r>
            <a:r>
              <a:rPr lang="de-DE" noProof="0" dirty="0"/>
              <a:t> verwendet werden</a:t>
            </a:r>
          </a:p>
        </p:txBody>
      </p:sp>
      <p:sp>
        <p:nvSpPr>
          <p:cNvPr id="6" name="Foliennummernplatzhalter 5"/>
          <p:cNvSpPr>
            <a:spLocks noGrp="1"/>
          </p:cNvSpPr>
          <p:nvPr>
            <p:ph type="sldNum" sz="quarter" idx="11"/>
          </p:nvPr>
        </p:nvSpPr>
        <p:spPr/>
        <p:txBody>
          <a:bodyPr/>
          <a:lstStyle>
            <a:lvl1pPr>
              <a:defRPr>
                <a:solidFill>
                  <a:schemeClr val="bg1"/>
                </a:solidFill>
              </a:defRPr>
            </a:lvl1pPr>
          </a:lstStyle>
          <a:p>
            <a:fld id="{CE58CB1E-F828-4F11-99E0-327109AF9DA4}" type="slidenum">
              <a:rPr lang="de-DE" smtClean="0"/>
              <a:pPr/>
              <a:t>‹Nr.›</a:t>
            </a:fld>
            <a:endParaRPr lang="de-DE" dirty="0"/>
          </a:p>
        </p:txBody>
      </p:sp>
      <p:sp>
        <p:nvSpPr>
          <p:cNvPr id="8" name="Fußzeilenplatzhalter 7"/>
          <p:cNvSpPr>
            <a:spLocks noGrp="1"/>
          </p:cNvSpPr>
          <p:nvPr>
            <p:ph type="ftr" sz="quarter" idx="12"/>
          </p:nvPr>
        </p:nvSpPr>
        <p:spPr/>
        <p:txBody>
          <a:bodyPr/>
          <a:lstStyle>
            <a:lvl1pPr>
              <a:defRPr>
                <a:solidFill>
                  <a:schemeClr val="bg1"/>
                </a:solidFill>
              </a:defRPr>
            </a:lvl1pPr>
          </a:lstStyle>
          <a:p>
            <a:r>
              <a:rPr lang="de-DE"/>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w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image" Target="../media/image2.jpeg"/><Relationship Id="rId4" Type="http://schemas.openxmlformats.org/officeDocument/2006/relationships/image" Target="../media/image3.emf"/></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theme" Target="../theme/theme3.xml"/><Relationship Id="rId3" Type="http://schemas.openxmlformats.org/officeDocument/2006/relationships/image" Target="../media/image1.wmf"/></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slideLayout" Target="../slideLayouts/slideLayout6.xml"/><Relationship Id="rId4" Type="http://schemas.openxmlformats.org/officeDocument/2006/relationships/slideLayout" Target="../slideLayouts/slideLayout7.xml"/><Relationship Id="rId5" Type="http://schemas.openxmlformats.org/officeDocument/2006/relationships/slideLayout" Target="../slideLayouts/slideLayout8.xml"/><Relationship Id="rId6" Type="http://schemas.openxmlformats.org/officeDocument/2006/relationships/slideLayout" Target="../slideLayouts/slideLayout9.xml"/><Relationship Id="rId7" Type="http://schemas.openxmlformats.org/officeDocument/2006/relationships/slideLayout" Target="../slideLayouts/slideLayout10.xml"/><Relationship Id="rId8" Type="http://schemas.openxmlformats.org/officeDocument/2006/relationships/slideLayout" Target="../slideLayouts/slideLayout11.xml"/><Relationship Id="rId9" Type="http://schemas.openxmlformats.org/officeDocument/2006/relationships/theme" Target="../theme/theme4.xml"/><Relationship Id="rId10" Type="http://schemas.openxmlformats.org/officeDocument/2006/relationships/image" Target="../media/image1.wmf"/></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5.xml"/><Relationship Id="rId3" Type="http://schemas.openxmlformats.org/officeDocument/2006/relationships/image" Target="../media/image3.emf"/></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theme" Target="../theme/theme6.xml"/><Relationship Id="rId3"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Fußzeilenplatzhalter 3"/>
          <p:cNvSpPr>
            <a:spLocks noGrp="1"/>
          </p:cNvSpPr>
          <p:nvPr>
            <p:ph type="ftr" sz="quarter" idx="3"/>
          </p:nvPr>
        </p:nvSpPr>
        <p:spPr>
          <a:xfrm>
            <a:off x="311162" y="4854985"/>
            <a:ext cx="7829538" cy="288515"/>
          </a:xfrm>
          <a:prstGeom prst="rect">
            <a:avLst/>
          </a:prstGeom>
        </p:spPr>
        <p:txBody>
          <a:bodyPr vert="horz" lIns="0" tIns="45720" rIns="0" bIns="45720" rtlCol="0" anchor="ctr"/>
          <a:lstStyle>
            <a:lvl1pPr algn="l">
              <a:defRPr sz="1100">
                <a:solidFill>
                  <a:schemeClr val="tx1"/>
                </a:solidFill>
              </a:defRPr>
            </a:lvl1pPr>
          </a:lstStyle>
          <a:p>
            <a:r>
              <a:rPr lang="de-DE"/>
              <a:t>Dr. rer. nat. Erika Mustermann (TUM) | kann beliebig erweitert werden | Infos mit Strich trennen</a:t>
            </a:r>
            <a:endParaRPr lang="en-US" dirty="0"/>
          </a:p>
        </p:txBody>
      </p:sp>
      <p:sp>
        <p:nvSpPr>
          <p:cNvPr id="11"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‹Nr.›</a:t>
            </a:fld>
            <a:endParaRPr lang="de-DE" dirty="0"/>
          </a:p>
        </p:txBody>
      </p:sp>
      <p:pic>
        <p:nvPicPr>
          <p:cNvPr id="5" name="Bild 8" descr="20150416 tum logo blau png final.png"/>
          <p:cNvPicPr>
            <a:picLocks noChangeAspect="1"/>
          </p:cNvPicPr>
          <p:nvPr userDrawn="1"/>
        </p:nvPicPr>
        <p:blipFill>
          <a:blip r:embed="rId3"/>
          <a:stretch>
            <a:fillRect/>
          </a:stretch>
        </p:blipFill>
        <p:spPr>
          <a:xfrm>
            <a:off x="8218800" y="324000"/>
            <a:ext cx="604774" cy="318516"/>
          </a:xfrm>
          <a:prstGeom prst="rect">
            <a:avLst/>
          </a:prstGeom>
        </p:spPr>
      </p:pic>
    </p:spTree>
  </p:cSld>
  <p:clrMap bg1="lt1" tx1="dk1" bg2="lt2" tx2="dk2" accent1="accent1" accent2="accent2" accent3="accent3" accent4="accent4" accent5="accent5" accent6="accent6" hlink="hlink" folHlink="folHlink"/>
  <p:sldLayoutIdLst>
    <p:sldLayoutId id="2147483664" r:id="rId1"/>
  </p:sldLayoutIdLst>
  <p:hf hdr="0" dt="0"/>
  <p:txStyles>
    <p:titleStyle>
      <a:lvl1pPr algn="l" rtl="0" eaLnBrk="1" fontAlgn="base" hangingPunct="1">
        <a:lnSpc>
          <a:spcPct val="125000"/>
        </a:lnSpc>
        <a:spcBef>
          <a:spcPct val="0"/>
        </a:spcBef>
        <a:spcAft>
          <a:spcPct val="0"/>
        </a:spcAft>
        <a:defRPr sz="2200" b="0" kern="1200">
          <a:solidFill>
            <a:schemeClr val="tx1"/>
          </a:solidFill>
          <a:latin typeface="+mj-lt"/>
          <a:ea typeface="+mj-ea"/>
          <a:cs typeface="+mj-cs"/>
        </a:defRPr>
      </a:lvl1pPr>
      <a:lvl2pPr algn="l" rtl="0" eaLnBrk="1" fontAlgn="base" hangingPunct="1">
        <a:spcBef>
          <a:spcPct val="0"/>
        </a:spcBef>
        <a:spcAft>
          <a:spcPct val="0"/>
        </a:spcAft>
        <a:defRPr sz="2000" b="1">
          <a:solidFill>
            <a:schemeClr val="tx2"/>
          </a:solidFill>
          <a:latin typeface="Arial" charset="0"/>
          <a:cs typeface="Arial" charset="0"/>
        </a:defRPr>
      </a:lvl2pPr>
      <a:lvl3pPr algn="l" rtl="0" eaLnBrk="1" fontAlgn="base" hangingPunct="1">
        <a:spcBef>
          <a:spcPct val="0"/>
        </a:spcBef>
        <a:spcAft>
          <a:spcPct val="0"/>
        </a:spcAft>
        <a:defRPr sz="2000" b="1">
          <a:solidFill>
            <a:schemeClr val="tx2"/>
          </a:solidFill>
          <a:latin typeface="Arial" charset="0"/>
          <a:cs typeface="Arial" charset="0"/>
        </a:defRPr>
      </a:lvl3pPr>
      <a:lvl4pPr algn="l" rtl="0" eaLnBrk="1" fontAlgn="base" hangingPunct="1">
        <a:spcBef>
          <a:spcPct val="0"/>
        </a:spcBef>
        <a:spcAft>
          <a:spcPct val="0"/>
        </a:spcAft>
        <a:defRPr sz="2000" b="1">
          <a:solidFill>
            <a:schemeClr val="tx2"/>
          </a:solidFill>
          <a:latin typeface="Arial" charset="0"/>
          <a:cs typeface="Arial" charset="0"/>
        </a:defRPr>
      </a:lvl4pPr>
      <a:lvl5pPr algn="l" rtl="0" eaLnBrk="1" fontAlgn="base" hangingPunct="1">
        <a:spcBef>
          <a:spcPct val="0"/>
        </a:spcBef>
        <a:spcAft>
          <a:spcPct val="0"/>
        </a:spcAft>
        <a:defRPr sz="2000" b="1">
          <a:solidFill>
            <a:schemeClr val="tx2"/>
          </a:solidFill>
          <a:latin typeface="Arial" charset="0"/>
          <a:cs typeface="Arial" charset="0"/>
        </a:defRPr>
      </a:lvl5pPr>
      <a:lvl6pPr marL="457200" algn="l" rtl="0" eaLnBrk="1" fontAlgn="base" hangingPunct="1">
        <a:spcBef>
          <a:spcPct val="0"/>
        </a:spcBef>
        <a:spcAft>
          <a:spcPct val="0"/>
        </a:spcAft>
        <a:defRPr sz="2000" b="1">
          <a:solidFill>
            <a:schemeClr val="tx2"/>
          </a:solidFill>
          <a:latin typeface="Arial" charset="0"/>
          <a:cs typeface="Arial" charset="0"/>
        </a:defRPr>
      </a:lvl6pPr>
      <a:lvl7pPr marL="914400" algn="l" rtl="0" eaLnBrk="1" fontAlgn="base" hangingPunct="1">
        <a:spcBef>
          <a:spcPct val="0"/>
        </a:spcBef>
        <a:spcAft>
          <a:spcPct val="0"/>
        </a:spcAft>
        <a:defRPr sz="2000" b="1">
          <a:solidFill>
            <a:schemeClr val="tx2"/>
          </a:solidFill>
          <a:latin typeface="Arial" charset="0"/>
          <a:cs typeface="Arial" charset="0"/>
        </a:defRPr>
      </a:lvl7pPr>
      <a:lvl8pPr marL="1371600" algn="l" rtl="0" eaLnBrk="1" fontAlgn="base" hangingPunct="1">
        <a:spcBef>
          <a:spcPct val="0"/>
        </a:spcBef>
        <a:spcAft>
          <a:spcPct val="0"/>
        </a:spcAft>
        <a:defRPr sz="2000" b="1">
          <a:solidFill>
            <a:schemeClr val="tx2"/>
          </a:solidFill>
          <a:latin typeface="Arial" charset="0"/>
          <a:cs typeface="Arial" charset="0"/>
        </a:defRPr>
      </a:lvl8pPr>
      <a:lvl9pPr marL="1828800" algn="l" rtl="0" eaLnBrk="1" fontAlgn="base" hangingPunct="1">
        <a:spcBef>
          <a:spcPct val="0"/>
        </a:spcBef>
        <a:spcAft>
          <a:spcPct val="0"/>
        </a:spcAft>
        <a:defRPr sz="2000" b="1">
          <a:solidFill>
            <a:schemeClr val="tx2"/>
          </a:solidFill>
          <a:latin typeface="Arial" charset="0"/>
          <a:cs typeface="Arial" charset="0"/>
        </a:defRPr>
      </a:lvl9pPr>
    </p:titleStyle>
    <p:bodyStyle>
      <a:lvl1pPr algn="l" rtl="0" eaLnBrk="1" fontAlgn="base" hangingPunct="1">
        <a:lnSpc>
          <a:spcPct val="100000"/>
        </a:lnSpc>
        <a:spcBef>
          <a:spcPct val="0"/>
        </a:spcBef>
        <a:spcAft>
          <a:spcPct val="0"/>
        </a:spcAft>
        <a:defRPr sz="1600" kern="120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3" name="Textfeld 22"/>
          <p:cNvSpPr txBox="1"/>
          <p:nvPr/>
        </p:nvSpPr>
        <p:spPr>
          <a:xfrm>
            <a:off x="7713330" y="4922462"/>
            <a:ext cx="1115376" cy="210507"/>
          </a:xfrm>
          <a:prstGeom prst="rect">
            <a:avLst/>
          </a:prstGeom>
        </p:spPr>
        <p:txBody>
          <a:bodyPr wrap="square" lIns="0" tIns="0" rIns="0" bIns="0" rtlCol="0" anchor="b" anchorCtr="0">
            <a:spAutoFit/>
          </a:bodyPr>
          <a:lstStyle/>
          <a:p>
            <a:pPr algn="r">
              <a:lnSpc>
                <a:spcPct val="114000"/>
              </a:lnSpc>
            </a:pPr>
            <a:fld id="{C51078C5-4710-4254-8001-F1C0900803FD}" type="slidenum">
              <a:rPr lang="de-DE" sz="1200" smtClean="0">
                <a:latin typeface="+mn-lt"/>
                <a:cs typeface="Arial" pitchFamily="34" charset="0"/>
              </a:rPr>
              <a:pPr algn="r">
                <a:lnSpc>
                  <a:spcPct val="114000"/>
                </a:lnSpc>
              </a:pPr>
              <a:t>‹Nr.›</a:t>
            </a:fld>
            <a:endParaRPr lang="de-DE" sz="1200" dirty="0">
              <a:latin typeface="+mn-lt"/>
              <a:cs typeface="Arial" pitchFamily="34" charset="0"/>
            </a:endParaRPr>
          </a:p>
        </p:txBody>
      </p:sp>
      <p:pic>
        <p:nvPicPr>
          <p:cNvPr id="5" name="Bild 4" descr="Fahnen_HG.jpg"/>
          <p:cNvPicPr>
            <a:picLocks noChangeAspect="1"/>
          </p:cNvPicPr>
          <p:nvPr/>
        </p:nvPicPr>
        <p:blipFill>
          <a:blip r:embed="rId3" cstate="screen"/>
          <a:srcRect l="398" t="14167" b="10833"/>
          <a:stretch>
            <a:fillRect/>
          </a:stretch>
        </p:blipFill>
        <p:spPr>
          <a:xfrm>
            <a:off x="0" y="0"/>
            <a:ext cx="9144000" cy="5143500"/>
          </a:xfrm>
          <a:prstGeom prst="rect">
            <a:avLst/>
          </a:prstGeom>
        </p:spPr>
      </p:pic>
      <p:pic>
        <p:nvPicPr>
          <p:cNvPr id="7" name="Bild 6" descr="20150416 tum logo blau png final.png"/>
          <p:cNvPicPr>
            <a:picLocks noChangeAspect="1"/>
          </p:cNvPicPr>
          <p:nvPr/>
        </p:nvPicPr>
        <p:blipFill>
          <a:blip r:embed="rId4"/>
          <a:stretch>
            <a:fillRect/>
          </a:stretch>
        </p:blipFill>
        <p:spPr>
          <a:xfrm>
            <a:off x="8218800" y="324000"/>
            <a:ext cx="599513" cy="320288"/>
          </a:xfrm>
          <a:prstGeom prst="rect">
            <a:avLst/>
          </a:prstGeom>
        </p:spPr>
      </p:pic>
      <p:sp>
        <p:nvSpPr>
          <p:cNvPr id="8"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‹Nr.›</a:t>
            </a:fld>
            <a:endParaRPr lang="de-DE"/>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69"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‹Nr.›</a:t>
            </a:fld>
            <a:endParaRPr lang="de-DE" dirty="0"/>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tx1"/>
                </a:solidFill>
              </a:defRPr>
            </a:lvl1pPr>
          </a:lstStyle>
          <a:p>
            <a:r>
              <a:rPr lang="de-DE"/>
              <a:t>Dr. rer. nat. Erika Mustermann (TUM) | kann beliebig erweitert werden | Infos mit Strich trennen</a:t>
            </a:r>
            <a:endParaRPr lang="en-US" dirty="0"/>
          </a:p>
        </p:txBody>
      </p:sp>
      <p:pic>
        <p:nvPicPr>
          <p:cNvPr id="7" name="Bild 6" descr="20150416 tum logo blau png final.png"/>
          <p:cNvPicPr>
            <a:picLocks noChangeAspect="1"/>
          </p:cNvPicPr>
          <p:nvPr/>
        </p:nvPicPr>
        <p:blipFill>
          <a:blip r:embed="rId3"/>
          <a:stretch>
            <a:fillRect/>
          </a:stretch>
        </p:blipFill>
        <p:spPr>
          <a:xfrm>
            <a:off x="8218411" y="324000"/>
            <a:ext cx="604774" cy="318516"/>
          </a:xfrm>
          <a:prstGeom prst="rect">
            <a:avLst/>
          </a:prstGeom>
        </p:spPr>
      </p:pic>
      <p:sp>
        <p:nvSpPr>
          <p:cNvPr id="11" name="Textfeld 10"/>
          <p:cNvSpPr txBox="1"/>
          <p:nvPr userDrawn="1"/>
        </p:nvSpPr>
        <p:spPr>
          <a:xfrm>
            <a:off x="319506" y="321468"/>
            <a:ext cx="7160425" cy="346249"/>
          </a:xfrm>
          <a:prstGeom prst="rect">
            <a:avLst/>
          </a:prstGeom>
          <a:noFill/>
        </p:spPr>
        <p:txBody>
          <a:bodyPr wrap="square" lIns="0" tIns="0" rIns="0" bIns="0" rtlCol="0">
            <a:spAutoFit/>
          </a:bodyPr>
          <a:lstStyle/>
          <a:p>
            <a:pPr>
              <a:lnSpc>
                <a:spcPts val="900"/>
              </a:lnSpc>
            </a:pPr>
            <a:r>
              <a:rPr lang="de-DE" sz="800" dirty="0">
                <a:solidFill>
                  <a:schemeClr val="tx2"/>
                </a:solidFill>
                <a:latin typeface="+mn-lt"/>
              </a:rPr>
              <a:t>Lehrstuhl für Mustertechnik</a:t>
            </a:r>
          </a:p>
          <a:p>
            <a:pPr>
              <a:lnSpc>
                <a:spcPts val="900"/>
              </a:lnSpc>
            </a:pPr>
            <a:r>
              <a:rPr lang="de-DE" sz="800" dirty="0" smtClean="0">
                <a:solidFill>
                  <a:schemeClr val="tx2"/>
                </a:solidFill>
                <a:latin typeface="+mn-lt"/>
              </a:rPr>
              <a:t>TUM</a:t>
            </a:r>
            <a:r>
              <a:rPr lang="de-DE" sz="800" baseline="0" dirty="0" smtClean="0">
                <a:solidFill>
                  <a:schemeClr val="tx2"/>
                </a:solidFill>
                <a:latin typeface="+mn-lt"/>
              </a:rPr>
              <a:t> School </a:t>
            </a:r>
            <a:r>
              <a:rPr lang="de-DE" sz="800" baseline="0" dirty="0" err="1" smtClean="0">
                <a:solidFill>
                  <a:schemeClr val="tx2"/>
                </a:solidFill>
                <a:latin typeface="+mn-lt"/>
              </a:rPr>
              <a:t>of</a:t>
            </a:r>
            <a:r>
              <a:rPr lang="de-DE" sz="800" dirty="0" smtClean="0">
                <a:solidFill>
                  <a:schemeClr val="tx2"/>
                </a:solidFill>
                <a:latin typeface="+mn-lt"/>
              </a:rPr>
              <a:t> </a:t>
            </a:r>
            <a:r>
              <a:rPr lang="de-DE" sz="800" dirty="0">
                <a:solidFill>
                  <a:schemeClr val="tx2"/>
                </a:solidFill>
                <a:latin typeface="+mn-lt"/>
              </a:rPr>
              <a:t>Musterverfahren</a:t>
            </a:r>
          </a:p>
          <a:p>
            <a:pPr>
              <a:lnSpc>
                <a:spcPts val="900"/>
              </a:lnSpc>
            </a:pPr>
            <a:r>
              <a:rPr lang="de-DE" sz="800" dirty="0">
                <a:solidFill>
                  <a:schemeClr val="tx2"/>
                </a:solidFill>
                <a:latin typeface="+mn-lt"/>
              </a:rPr>
              <a:t>Technische Universität</a:t>
            </a:r>
            <a:r>
              <a:rPr lang="de-DE" sz="800" baseline="0" dirty="0">
                <a:solidFill>
                  <a:schemeClr val="tx2"/>
                </a:solidFill>
                <a:latin typeface="+mn-lt"/>
              </a:rPr>
              <a:t> München</a:t>
            </a:r>
            <a:endParaRPr lang="de-DE" sz="800" dirty="0">
              <a:solidFill>
                <a:schemeClr val="tx2"/>
              </a:solidFill>
              <a:latin typeface="+mn-lt"/>
            </a:endParaRPr>
          </a:p>
        </p:txBody>
      </p:sp>
    </p:spTree>
  </p:cSld>
  <p:clrMap bg1="lt1" tx1="dk1" bg2="lt2" tx2="dk2" accent1="accent1" accent2="accent2" accent3="accent3" accent4="accent4" accent5="accent5" accent6="accent6" hlink="hlink" folHlink="folHlink"/>
  <p:sldLayoutIdLst>
    <p:sldLayoutId id="2147483675"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3" name="Bild 2" descr="20150416 tum logo blau png final.png"/>
          <p:cNvPicPr>
            <a:picLocks noChangeAspect="1"/>
          </p:cNvPicPr>
          <p:nvPr/>
        </p:nvPicPr>
        <p:blipFill>
          <a:blip r:embed="rId10"/>
          <a:stretch>
            <a:fillRect/>
          </a:stretch>
        </p:blipFill>
        <p:spPr>
          <a:xfrm>
            <a:off x="8218411" y="324000"/>
            <a:ext cx="604774" cy="318516"/>
          </a:xfrm>
          <a:prstGeom prst="rect">
            <a:avLst/>
          </a:prstGeom>
        </p:spPr>
      </p:pic>
      <p:sp>
        <p:nvSpPr>
          <p:cNvPr id="5" name="Foliennummernplatzhalter 4"/>
          <p:cNvSpPr>
            <a:spLocks noGrp="1"/>
          </p:cNvSpPr>
          <p:nvPr>
            <p:ph type="sldNum" sz="quarter" idx="4"/>
          </p:nvPr>
        </p:nvSpPr>
        <p:spPr>
          <a:xfrm>
            <a:off x="6774934" y="4854985"/>
            <a:ext cx="2052074"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‹Nr.›</a:t>
            </a:fld>
            <a:endParaRPr lang="de-DE" dirty="0"/>
          </a:p>
        </p:txBody>
      </p:sp>
      <p:sp>
        <p:nvSpPr>
          <p:cNvPr id="6"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tx1"/>
                </a:solidFill>
              </a:defRPr>
            </a:lvl1pPr>
          </a:lstStyle>
          <a:p>
            <a:r>
              <a:rPr lang="de-DE"/>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62" r:id="rId1"/>
    <p:sldLayoutId id="2147483654" r:id="rId2"/>
    <p:sldLayoutId id="2147483704" r:id="rId3"/>
    <p:sldLayoutId id="2147483657" r:id="rId4"/>
    <p:sldLayoutId id="2147483711" r:id="rId5"/>
    <p:sldLayoutId id="2147483703" r:id="rId6"/>
    <p:sldLayoutId id="2147483653" r:id="rId7"/>
    <p:sldLayoutId id="2147483656" r:id="rId8"/>
  </p:sldLayoutIdLst>
  <p:hf hdr="0" dt="0"/>
  <p:txStyles>
    <p:titleStyle>
      <a:lvl1pPr algn="l" rtl="0" eaLnBrk="0" fontAlgn="base" hangingPunct="0">
        <a:lnSpc>
          <a:spcPct val="125000"/>
        </a:lnSpc>
        <a:spcBef>
          <a:spcPct val="0"/>
        </a:spcBef>
        <a:spcAft>
          <a:spcPct val="0"/>
        </a:spcAft>
        <a:defRPr sz="25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hteck 5"/>
          <p:cNvSpPr/>
          <p:nvPr/>
        </p:nvSpPr>
        <p:spPr bwMode="hidden">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de-DE" dirty="0"/>
          </a:p>
        </p:txBody>
      </p:sp>
      <p:pic>
        <p:nvPicPr>
          <p:cNvPr id="4" name="Bild 3" descr="20150416 tum logo blau png final.png"/>
          <p:cNvPicPr>
            <a:picLocks noChangeAspect="1"/>
          </p:cNvPicPr>
          <p:nvPr/>
        </p:nvPicPr>
        <p:blipFill>
          <a:blip r:embed="rId3"/>
          <a:stretch>
            <a:fillRect/>
          </a:stretch>
        </p:blipFill>
        <p:spPr bwMode="black">
          <a:xfrm>
            <a:off x="8218800" y="324000"/>
            <a:ext cx="599513" cy="320288"/>
          </a:xfrm>
          <a:prstGeom prst="rect">
            <a:avLst/>
          </a:prstGeom>
        </p:spPr>
      </p:pic>
      <p:sp>
        <p:nvSpPr>
          <p:cNvPr id="7"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‹Nr.›</a:t>
            </a:fld>
            <a:endParaRPr lang="de-DE" dirty="0"/>
          </a:p>
        </p:txBody>
      </p:sp>
      <p:sp>
        <p:nvSpPr>
          <p:cNvPr id="8"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85"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6"/>
          <p:cNvSpPr/>
          <p:nvPr/>
        </p:nvSpPr>
        <p:spPr bwMode="hidden">
          <a:xfrm>
            <a:off x="0" y="0"/>
            <a:ext cx="9144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de-DE" dirty="0">
              <a:solidFill>
                <a:schemeClr val="bg1"/>
              </a:solidFill>
            </a:endParaRPr>
          </a:p>
        </p:txBody>
      </p:sp>
      <p:pic>
        <p:nvPicPr>
          <p:cNvPr id="4" name="Bild 3" descr="20150416 tum logo blau png final.png"/>
          <p:cNvPicPr>
            <a:picLocks noChangeAspect="1"/>
          </p:cNvPicPr>
          <p:nvPr/>
        </p:nvPicPr>
        <p:blipFill>
          <a:blip r:embed="rId3"/>
          <a:stretch>
            <a:fillRect/>
          </a:stretch>
        </p:blipFill>
        <p:spPr bwMode="black">
          <a:xfrm>
            <a:off x="8218800" y="324000"/>
            <a:ext cx="599513" cy="320288"/>
          </a:xfrm>
          <a:prstGeom prst="rect">
            <a:avLst/>
          </a:prstGeom>
        </p:spPr>
      </p:pic>
      <p:sp>
        <p:nvSpPr>
          <p:cNvPr id="9"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‹Nr.›</a:t>
            </a:fld>
            <a:endParaRPr lang="de-DE" dirty="0"/>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98"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Learning Which VRP Solver Works Best</a:t>
            </a:r>
          </a:p>
        </p:txBody>
      </p:sp>
      <p:sp>
        <p:nvSpPr>
          <p:cNvPr id="3" name="Content Placeholder 2"/>
          <p:cNvSpPr>
            <a:spLocks noGrp="1"/>
          </p:cNvSpPr>
          <p:nvPr>
            <p:ph idx="10"/>
          </p:nvPr>
        </p:nvSpPr>
        <p:spPr/>
        <p:txBody>
          <a:bodyPr/>
          <a:lstStyle/>
          <a:p/>
        </p:txBody>
      </p:sp>
      <p:sp>
        <p:nvSpPr>
          <p:cNvPr id="4" name="Rectangle 3"/>
          <p:cNvSpPr/>
          <p:nvPr/>
        </p:nvSpPr>
        <p:spPr>
          <a:xfrm>
            <a:off x="320040" y="1463040"/>
            <a:ext cx="8513064"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517904"/>
            <a:ext cx="5852160" cy="914400"/>
          </a:xfrm>
          <a:prstGeom prst="rect">
            <a:avLst/>
          </a:prstGeom>
          <a:noFill/>
        </p:spPr>
        <p:txBody>
          <a:bodyPr wrap="square" lIns="0" rIns="0" tIns="0" bIns="0">
            <a:spAutoFit/>
          </a:bodyPr>
          <a:lstStyle/>
          <a:p>
            <a:pPr algn="l">
              <a:spcAft>
                <a:spcPts val="600"/>
              </a:spcAft>
            </a:pPr>
            <a:r>
              <a:rPr sz="1300" b="1" i="0">
                <a:solidFill>
                  <a:srgbClr val="005293"/>
                </a:solidFill>
                <a:latin typeface="Arial"/>
              </a:rPr>
              <a:t>Machine-learning algorithm selection for the Capacitated Vehicle Routing Problem</a:t>
            </a:r>
          </a:p>
          <a:p>
            <a:pPr algn="l">
              <a:spcAft>
                <a:spcPts val="300"/>
              </a:spcAft>
            </a:pPr>
            <a:r>
              <a:rPr sz="1100" b="0" i="0">
                <a:solidFill>
                  <a:srgbClr val="000000"/>
                </a:solidFill>
                <a:latin typeface="Arial"/>
              </a:rPr>
              <a:t>Computational Logistics — Final Project</a:t>
            </a:r>
          </a:p>
          <a:p>
            <a:pPr algn="l">
              <a:spcAft>
                <a:spcPts val="0"/>
              </a:spcAft>
            </a:pPr>
            <a:r>
              <a:rPr sz="950" b="0" i="0">
                <a:solidFill>
                  <a:srgbClr val="595959"/>
                </a:solidFill>
                <a:latin typeface="Arial"/>
              </a:rPr>
              <a:t>Methodology after Asín-Achá et al. (2024), Networks 84(4)  |  München, 21. Juli 2026</a:t>
            </a:r>
          </a:p>
        </p:txBody>
      </p:sp>
      <p:cxnSp>
        <p:nvCxnSpPr>
          <p:cNvPr id="6" name="Connector 5"/>
          <p:cNvCxnSpPr/>
          <p:nvPr/>
        </p:nvCxnSpPr>
        <p:spPr>
          <a:xfrm flipV="1">
            <a:off x="6903720" y="3340303"/>
            <a:ext cx="573328" cy="271577"/>
          </a:xfrm>
          <a:prstGeom prst="line">
            <a:avLst/>
          </a:prstGeom>
          <a:ln w="22860">
            <a:solidFill>
              <a:srgbClr val="E37222"/>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7477048" y="3038551"/>
            <a:ext cx="482804" cy="301752"/>
          </a:xfrm>
          <a:prstGeom prst="line">
            <a:avLst/>
          </a:prstGeom>
          <a:ln w="22860">
            <a:solidFill>
              <a:srgbClr val="E37222"/>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959852" y="3038551"/>
            <a:ext cx="422452" cy="422453"/>
          </a:xfrm>
          <a:prstGeom prst="line">
            <a:avLst/>
          </a:prstGeom>
          <a:ln w="22860">
            <a:solidFill>
              <a:srgbClr val="E37222"/>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7839151" y="3461004"/>
            <a:ext cx="543153" cy="319857"/>
          </a:xfrm>
          <a:prstGeom prst="line">
            <a:avLst/>
          </a:prstGeom>
          <a:ln w="22860">
            <a:solidFill>
              <a:srgbClr val="E37222"/>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flipV="1">
            <a:off x="6903720" y="3611880"/>
            <a:ext cx="935431" cy="168981"/>
          </a:xfrm>
          <a:prstGeom prst="line">
            <a:avLst/>
          </a:prstGeom>
          <a:ln w="22860">
            <a:solidFill>
              <a:srgbClr val="E37222"/>
            </a:solidFill>
          </a:ln>
          <a:effectLst/>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7423164" y="3286418"/>
            <a:ext cx="107768" cy="107768"/>
          </a:xfrm>
          <a:prstGeom prst="ellipse">
            <a:avLst/>
          </a:prstGeom>
          <a:solidFill>
            <a:srgbClr val="FFFFFF"/>
          </a:solidFill>
          <a:ln w="12700">
            <a:solidFill>
              <a:srgbClr val="E37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05967" y="2984666"/>
            <a:ext cx="107768" cy="107768"/>
          </a:xfrm>
          <a:prstGeom prst="ellipse">
            <a:avLst/>
          </a:prstGeom>
          <a:solidFill>
            <a:srgbClr val="FFFFFF"/>
          </a:solidFill>
          <a:ln w="12700">
            <a:solidFill>
              <a:srgbClr val="E37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28420" y="3407119"/>
            <a:ext cx="107768" cy="107768"/>
          </a:xfrm>
          <a:prstGeom prst="ellipse">
            <a:avLst/>
          </a:prstGeom>
          <a:solidFill>
            <a:srgbClr val="FFFFFF"/>
          </a:solidFill>
          <a:ln w="12700">
            <a:solidFill>
              <a:srgbClr val="E37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85266" y="3726976"/>
            <a:ext cx="107768" cy="107768"/>
          </a:xfrm>
          <a:prstGeom prst="ellipse">
            <a:avLst/>
          </a:prstGeom>
          <a:solidFill>
            <a:srgbClr val="FFFFFF"/>
          </a:solidFill>
          <a:ln w="12700">
            <a:solidFill>
              <a:srgbClr val="E37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flipH="1" flipV="1">
            <a:off x="6692493" y="2978200"/>
            <a:ext cx="211227" cy="633680"/>
          </a:xfrm>
          <a:prstGeom prst="line">
            <a:avLst/>
          </a:prstGeom>
          <a:ln w="22860">
            <a:solidFill>
              <a:srgbClr val="005293"/>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flipV="1">
            <a:off x="6088989" y="2706624"/>
            <a:ext cx="603504" cy="271576"/>
          </a:xfrm>
          <a:prstGeom prst="line">
            <a:avLst/>
          </a:prstGeom>
          <a:ln w="22860">
            <a:solidFill>
              <a:srgbClr val="005293"/>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5606186" y="2706624"/>
            <a:ext cx="482803" cy="452628"/>
          </a:xfrm>
          <a:prstGeom prst="line">
            <a:avLst/>
          </a:prstGeom>
          <a:ln w="22860">
            <a:solidFill>
              <a:srgbClr val="005293"/>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606186" y="3159252"/>
            <a:ext cx="603504" cy="319857"/>
          </a:xfrm>
          <a:prstGeom prst="line">
            <a:avLst/>
          </a:prstGeom>
          <a:ln w="22860">
            <a:solidFill>
              <a:srgbClr val="005293"/>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209690" y="3479109"/>
            <a:ext cx="694030" cy="132771"/>
          </a:xfrm>
          <a:prstGeom prst="line">
            <a:avLst/>
          </a:prstGeom>
          <a:ln w="22860">
            <a:solidFill>
              <a:srgbClr val="005293"/>
            </a:solidFill>
          </a:ln>
          <a:effectLst/>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638609" y="2924316"/>
            <a:ext cx="107768" cy="107768"/>
          </a:xfrm>
          <a:prstGeom prst="ellipse">
            <a:avLst/>
          </a:prstGeom>
          <a:solidFill>
            <a:srgbClr val="FFFFFF"/>
          </a:solidFill>
          <a:ln w="12700">
            <a:solidFill>
              <a:srgbClr val="005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035105" y="2652739"/>
            <a:ext cx="107768" cy="107768"/>
          </a:xfrm>
          <a:prstGeom prst="ellipse">
            <a:avLst/>
          </a:prstGeom>
          <a:solidFill>
            <a:srgbClr val="FFFFFF"/>
          </a:solidFill>
          <a:ln w="12700">
            <a:solidFill>
              <a:srgbClr val="005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2302" y="3105367"/>
            <a:ext cx="107768" cy="107768"/>
          </a:xfrm>
          <a:prstGeom prst="ellipse">
            <a:avLst/>
          </a:prstGeom>
          <a:solidFill>
            <a:srgbClr val="FFFFFF"/>
          </a:solidFill>
          <a:ln w="12700">
            <a:solidFill>
              <a:srgbClr val="005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155806" y="3425224"/>
            <a:ext cx="107768" cy="107768"/>
          </a:xfrm>
          <a:prstGeom prst="ellipse">
            <a:avLst/>
          </a:prstGeom>
          <a:solidFill>
            <a:srgbClr val="FFFFFF"/>
          </a:solidFill>
          <a:ln w="12700">
            <a:solidFill>
              <a:srgbClr val="005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H="1">
            <a:off x="6571792" y="3611880"/>
            <a:ext cx="331928" cy="452628"/>
          </a:xfrm>
          <a:prstGeom prst="line">
            <a:avLst/>
          </a:prstGeom>
          <a:ln w="22860">
            <a:solidFill>
              <a:srgbClr val="64A0C8"/>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6149340" y="4064508"/>
            <a:ext cx="422452" cy="422452"/>
          </a:xfrm>
          <a:prstGeom prst="line">
            <a:avLst/>
          </a:prstGeom>
          <a:ln w="22860">
            <a:solidFill>
              <a:srgbClr val="64A0C8"/>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149340" y="4486960"/>
            <a:ext cx="663854" cy="181052"/>
          </a:xfrm>
          <a:prstGeom prst="line">
            <a:avLst/>
          </a:prstGeom>
          <a:ln w="22860">
            <a:solidFill>
              <a:srgbClr val="64A0C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813194" y="4245559"/>
            <a:ext cx="543154" cy="422453"/>
          </a:xfrm>
          <a:prstGeom prst="line">
            <a:avLst/>
          </a:prstGeom>
          <a:ln w="22860">
            <a:solidFill>
              <a:srgbClr val="64A0C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6903720" y="3611880"/>
            <a:ext cx="452628" cy="633679"/>
          </a:xfrm>
          <a:prstGeom prst="line">
            <a:avLst/>
          </a:prstGeom>
          <a:ln w="22860">
            <a:solidFill>
              <a:srgbClr val="64A0C8"/>
            </a:solidFill>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6517908" y="4010623"/>
            <a:ext cx="107768" cy="107768"/>
          </a:xfrm>
          <a:prstGeom prst="ellipse">
            <a:avLst/>
          </a:prstGeom>
          <a:solidFill>
            <a:srgbClr val="FFFFFF"/>
          </a:solidFill>
          <a:ln w="12700">
            <a:solidFill>
              <a:srgbClr val="64A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095455" y="4433076"/>
            <a:ext cx="107768" cy="107768"/>
          </a:xfrm>
          <a:prstGeom prst="ellipse">
            <a:avLst/>
          </a:prstGeom>
          <a:solidFill>
            <a:srgbClr val="FFFFFF"/>
          </a:solidFill>
          <a:ln w="12700">
            <a:solidFill>
              <a:srgbClr val="64A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759310" y="4614127"/>
            <a:ext cx="107768" cy="107768"/>
          </a:xfrm>
          <a:prstGeom prst="ellipse">
            <a:avLst/>
          </a:prstGeom>
          <a:solidFill>
            <a:srgbClr val="FFFFFF"/>
          </a:solidFill>
          <a:ln w="12700">
            <a:solidFill>
              <a:srgbClr val="64A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302463" y="4191674"/>
            <a:ext cx="107768" cy="107768"/>
          </a:xfrm>
          <a:prstGeom prst="ellipse">
            <a:avLst/>
          </a:prstGeom>
          <a:solidFill>
            <a:srgbClr val="FFFFFF"/>
          </a:solidFill>
          <a:ln w="12700">
            <a:solidFill>
              <a:srgbClr val="64A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800262" y="3508422"/>
            <a:ext cx="206915" cy="206915"/>
          </a:xfrm>
          <a:prstGeom prst="rect">
            <a:avLst/>
          </a:prstGeom>
          <a:solidFill>
            <a:srgbClr val="00335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The Problem: Capacitated Vehicle Routing</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One depot, one fleet, every customer served — at minimum total distance</a:t>
            </a:r>
          </a:p>
        </p:txBody>
      </p:sp>
      <p:sp>
        <p:nvSpPr>
          <p:cNvPr id="5" name="TextBox 4"/>
          <p:cNvSpPr txBox="1"/>
          <p:nvPr/>
        </p:nvSpPr>
        <p:spPr>
          <a:xfrm>
            <a:off x="320040" y="1783080"/>
            <a:ext cx="4343400" cy="3017520"/>
          </a:xfrm>
          <a:prstGeom prst="rect">
            <a:avLst/>
          </a:prstGeom>
          <a:noFill/>
        </p:spPr>
        <p:txBody>
          <a:bodyPr wrap="square" lIns="0" rIns="0" tIns="0" bIns="0">
            <a:spAutoFit/>
          </a:bodyPr>
          <a:lstStyle/>
          <a:p>
            <a:pPr algn="l">
              <a:spcAft>
                <a:spcPts val="500"/>
              </a:spcAft>
            </a:pPr>
            <a:r>
              <a:rPr sz="1300" b="1" i="0">
                <a:solidFill>
                  <a:srgbClr val="003359"/>
                </a:solidFill>
                <a:latin typeface="Arial"/>
              </a:rPr>
              <a:t>The setting</a:t>
            </a:r>
          </a:p>
          <a:p>
            <a:pPr algn="l">
              <a:spcAft>
                <a:spcPts val="400"/>
              </a:spcAft>
            </a:pPr>
            <a:r>
              <a:rPr sz="1100" b="0" i="0">
                <a:solidFill>
                  <a:srgbClr val="000000"/>
                </a:solidFill>
                <a:latin typeface="Arial"/>
              </a:rPr>
              <a:t>•  A depot with identical vehicles of capacity Q.</a:t>
            </a:r>
          </a:p>
          <a:p>
            <a:pPr algn="l">
              <a:spcAft>
                <a:spcPts val="400"/>
              </a:spcAft>
            </a:pPr>
            <a:r>
              <a:rPr sz="1100" b="0" i="0">
                <a:solidFill>
                  <a:srgbClr val="000000"/>
                </a:solidFill>
                <a:latin typeface="Arial"/>
              </a:rPr>
              <a:t>•  Each customer has a demand and must be visited exactly once.</a:t>
            </a:r>
          </a:p>
          <a:p>
            <a:pPr algn="l">
              <a:spcAft>
                <a:spcPts val="400"/>
              </a:spcAft>
            </a:pPr>
            <a:r>
              <a:rPr sz="1100" b="0" i="0">
                <a:solidFill>
                  <a:srgbClr val="000000"/>
                </a:solidFill>
                <a:latin typeface="Arial"/>
              </a:rPr>
              <a:t>•  Routes start and end at the depot; load may not exceed Q.</a:t>
            </a:r>
          </a:p>
          <a:p>
            <a:pPr algn="l">
              <a:spcAft>
                <a:spcPts val="400"/>
              </a:spcAft>
            </a:pPr>
            <a:r>
              <a:rPr sz="1100" b="0" i="0">
                <a:solidFill>
                  <a:srgbClr val="000000"/>
                </a:solidFill>
                <a:latin typeface="Arial"/>
              </a:rPr>
              <a:t>•  Objective: minimize total distance travelled.</a:t>
            </a:r>
          </a:p>
          <a:p>
            <a:pPr algn="l">
              <a:spcAft>
                <a:spcPts val="500"/>
              </a:spcAft>
            </a:pPr>
            <a:r>
              <a:rPr sz="1300" b="1" i="0">
                <a:solidFill>
                  <a:srgbClr val="003359"/>
                </a:solidFill>
                <a:latin typeface="Arial"/>
              </a:rPr>
              <a:t>Why it is hard</a:t>
            </a:r>
          </a:p>
          <a:p>
            <a:pPr algn="l">
              <a:spcAft>
                <a:spcPts val="400"/>
              </a:spcAft>
            </a:pPr>
            <a:r>
              <a:rPr sz="1100" b="0" i="0">
                <a:solidFill>
                  <a:srgbClr val="000000"/>
                </a:solidFill>
                <a:latin typeface="Arial"/>
              </a:rPr>
              <a:t>•  NP-hard: clustering + routing decisions explode combinatorially.</a:t>
            </a:r>
          </a:p>
          <a:p>
            <a:pPr algn="l">
              <a:spcAft>
                <a:spcPts val="400"/>
              </a:spcAft>
            </a:pPr>
            <a:r>
              <a:rPr sz="1100" b="0" i="0">
                <a:solidFill>
                  <a:srgbClr val="000000"/>
                </a:solidFill>
                <a:latin typeface="Arial"/>
              </a:rPr>
              <a:t>•  Logistics practice needs answers in seconds, not hours.</a:t>
            </a:r>
          </a:p>
        </p:txBody>
      </p:sp>
      <p:cxnSp>
        <p:nvCxnSpPr>
          <p:cNvPr id="6" name="Connector 5"/>
          <p:cNvCxnSpPr/>
          <p:nvPr/>
        </p:nvCxnSpPr>
        <p:spPr>
          <a:xfrm flipV="1">
            <a:off x="6858000" y="2820924"/>
            <a:ext cx="608075" cy="288036"/>
          </a:xfrm>
          <a:prstGeom prst="line">
            <a:avLst/>
          </a:prstGeom>
          <a:ln w="22860">
            <a:solidFill>
              <a:srgbClr val="E37222"/>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7466075" y="2500884"/>
            <a:ext cx="512065" cy="320040"/>
          </a:xfrm>
          <a:prstGeom prst="line">
            <a:avLst/>
          </a:prstGeom>
          <a:ln w="22860">
            <a:solidFill>
              <a:srgbClr val="E37222"/>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7978140" y="2500884"/>
            <a:ext cx="448056" cy="448056"/>
          </a:xfrm>
          <a:prstGeom prst="line">
            <a:avLst/>
          </a:prstGeom>
          <a:ln w="22860">
            <a:solidFill>
              <a:srgbClr val="E37222"/>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7850124" y="2948940"/>
            <a:ext cx="576072" cy="339242"/>
          </a:xfrm>
          <a:prstGeom prst="line">
            <a:avLst/>
          </a:prstGeom>
          <a:ln w="22860">
            <a:solidFill>
              <a:srgbClr val="E37222"/>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flipV="1">
            <a:off x="6858000" y="3108960"/>
            <a:ext cx="992124" cy="179222"/>
          </a:xfrm>
          <a:prstGeom prst="line">
            <a:avLst/>
          </a:prstGeom>
          <a:ln w="22860">
            <a:solidFill>
              <a:srgbClr val="E37222"/>
            </a:solidFill>
          </a:ln>
          <a:effectLst/>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7408925" y="2763774"/>
            <a:ext cx="114300" cy="114300"/>
          </a:xfrm>
          <a:prstGeom prst="ellipse">
            <a:avLst/>
          </a:prstGeom>
          <a:solidFill>
            <a:srgbClr val="FFFFFF"/>
          </a:solidFill>
          <a:ln w="12700">
            <a:solidFill>
              <a:srgbClr val="E37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20990" y="2443734"/>
            <a:ext cx="114300" cy="114300"/>
          </a:xfrm>
          <a:prstGeom prst="ellipse">
            <a:avLst/>
          </a:prstGeom>
          <a:solidFill>
            <a:srgbClr val="FFFFFF"/>
          </a:solidFill>
          <a:ln w="12700">
            <a:solidFill>
              <a:srgbClr val="E37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69046" y="2891790"/>
            <a:ext cx="114300" cy="114300"/>
          </a:xfrm>
          <a:prstGeom prst="ellipse">
            <a:avLst/>
          </a:prstGeom>
          <a:solidFill>
            <a:srgbClr val="FFFFFF"/>
          </a:solidFill>
          <a:ln w="12700">
            <a:solidFill>
              <a:srgbClr val="E37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92974" y="3231032"/>
            <a:ext cx="114300" cy="114300"/>
          </a:xfrm>
          <a:prstGeom prst="ellipse">
            <a:avLst/>
          </a:prstGeom>
          <a:solidFill>
            <a:srgbClr val="FFFFFF"/>
          </a:solidFill>
          <a:ln w="12700">
            <a:solidFill>
              <a:srgbClr val="E372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flipH="1" flipV="1">
            <a:off x="6633972" y="2436876"/>
            <a:ext cx="224028" cy="672084"/>
          </a:xfrm>
          <a:prstGeom prst="line">
            <a:avLst/>
          </a:prstGeom>
          <a:ln w="22860">
            <a:solidFill>
              <a:srgbClr val="005293"/>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flipV="1">
            <a:off x="5993892" y="2148840"/>
            <a:ext cx="640080" cy="288036"/>
          </a:xfrm>
          <a:prstGeom prst="line">
            <a:avLst/>
          </a:prstGeom>
          <a:ln w="22860">
            <a:solidFill>
              <a:srgbClr val="005293"/>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5481828" y="2148840"/>
            <a:ext cx="512064" cy="480060"/>
          </a:xfrm>
          <a:prstGeom prst="line">
            <a:avLst/>
          </a:prstGeom>
          <a:ln w="22860">
            <a:solidFill>
              <a:srgbClr val="005293"/>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481828" y="2628900"/>
            <a:ext cx="640080" cy="339242"/>
          </a:xfrm>
          <a:prstGeom prst="line">
            <a:avLst/>
          </a:prstGeom>
          <a:ln w="22860">
            <a:solidFill>
              <a:srgbClr val="005293"/>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21908" y="2968142"/>
            <a:ext cx="736092" cy="140818"/>
          </a:xfrm>
          <a:prstGeom prst="line">
            <a:avLst/>
          </a:prstGeom>
          <a:ln w="22860">
            <a:solidFill>
              <a:srgbClr val="005293"/>
            </a:solidFill>
          </a:ln>
          <a:effectLst/>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576822" y="2379726"/>
            <a:ext cx="114300" cy="114300"/>
          </a:xfrm>
          <a:prstGeom prst="ellipse">
            <a:avLst/>
          </a:prstGeom>
          <a:solidFill>
            <a:srgbClr val="FFFFFF"/>
          </a:solidFill>
          <a:ln w="12700">
            <a:solidFill>
              <a:srgbClr val="005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936742" y="2091690"/>
            <a:ext cx="114300" cy="114300"/>
          </a:xfrm>
          <a:prstGeom prst="ellipse">
            <a:avLst/>
          </a:prstGeom>
          <a:solidFill>
            <a:srgbClr val="FFFFFF"/>
          </a:solidFill>
          <a:ln w="12700">
            <a:solidFill>
              <a:srgbClr val="005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424678" y="2571750"/>
            <a:ext cx="114300" cy="114300"/>
          </a:xfrm>
          <a:prstGeom prst="ellipse">
            <a:avLst/>
          </a:prstGeom>
          <a:solidFill>
            <a:srgbClr val="FFFFFF"/>
          </a:solidFill>
          <a:ln w="12700">
            <a:solidFill>
              <a:srgbClr val="005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064758" y="2910992"/>
            <a:ext cx="114300" cy="114300"/>
          </a:xfrm>
          <a:prstGeom prst="ellipse">
            <a:avLst/>
          </a:prstGeom>
          <a:solidFill>
            <a:srgbClr val="FFFFFF"/>
          </a:solidFill>
          <a:ln w="12700">
            <a:solidFill>
              <a:srgbClr val="005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H="1">
            <a:off x="6505956" y="3108960"/>
            <a:ext cx="352044" cy="480060"/>
          </a:xfrm>
          <a:prstGeom prst="line">
            <a:avLst/>
          </a:prstGeom>
          <a:ln w="22860">
            <a:solidFill>
              <a:srgbClr val="64A0C8"/>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6057900" y="3589020"/>
            <a:ext cx="448056" cy="448056"/>
          </a:xfrm>
          <a:prstGeom prst="line">
            <a:avLst/>
          </a:prstGeom>
          <a:ln w="22860">
            <a:solidFill>
              <a:srgbClr val="64A0C8"/>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57900" y="4037076"/>
            <a:ext cx="704088" cy="192024"/>
          </a:xfrm>
          <a:prstGeom prst="line">
            <a:avLst/>
          </a:prstGeom>
          <a:ln w="22860">
            <a:solidFill>
              <a:srgbClr val="64A0C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761988" y="3781044"/>
            <a:ext cx="576072" cy="448056"/>
          </a:xfrm>
          <a:prstGeom prst="line">
            <a:avLst/>
          </a:prstGeom>
          <a:ln w="22860">
            <a:solidFill>
              <a:srgbClr val="64A0C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6858000" y="3108960"/>
            <a:ext cx="480060" cy="672084"/>
          </a:xfrm>
          <a:prstGeom prst="line">
            <a:avLst/>
          </a:prstGeom>
          <a:ln w="22860">
            <a:solidFill>
              <a:srgbClr val="64A0C8"/>
            </a:solidFill>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6448806" y="3531870"/>
            <a:ext cx="114300" cy="114300"/>
          </a:xfrm>
          <a:prstGeom prst="ellipse">
            <a:avLst/>
          </a:prstGeom>
          <a:solidFill>
            <a:srgbClr val="FFFFFF"/>
          </a:solidFill>
          <a:ln w="12700">
            <a:solidFill>
              <a:srgbClr val="64A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000750" y="3979926"/>
            <a:ext cx="114300" cy="114300"/>
          </a:xfrm>
          <a:prstGeom prst="ellipse">
            <a:avLst/>
          </a:prstGeom>
          <a:solidFill>
            <a:srgbClr val="FFFFFF"/>
          </a:solidFill>
          <a:ln w="12700">
            <a:solidFill>
              <a:srgbClr val="64A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704838" y="4171950"/>
            <a:ext cx="114300" cy="114300"/>
          </a:xfrm>
          <a:prstGeom prst="ellipse">
            <a:avLst/>
          </a:prstGeom>
          <a:solidFill>
            <a:srgbClr val="FFFFFF"/>
          </a:solidFill>
          <a:ln w="12700">
            <a:solidFill>
              <a:srgbClr val="64A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80910" y="3723894"/>
            <a:ext cx="114300" cy="114300"/>
          </a:xfrm>
          <a:prstGeom prst="ellipse">
            <a:avLst/>
          </a:prstGeom>
          <a:solidFill>
            <a:srgbClr val="FFFFFF"/>
          </a:solidFill>
          <a:ln w="12700">
            <a:solidFill>
              <a:srgbClr val="64A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48272" y="2999232"/>
            <a:ext cx="219456" cy="219456"/>
          </a:xfrm>
          <a:prstGeom prst="rect">
            <a:avLst/>
          </a:prstGeom>
          <a:solidFill>
            <a:srgbClr val="00335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20640" y="4526280"/>
            <a:ext cx="3474720" cy="274320"/>
          </a:xfrm>
          <a:prstGeom prst="rect">
            <a:avLst/>
          </a:prstGeom>
          <a:noFill/>
        </p:spPr>
        <p:txBody>
          <a:bodyPr wrap="square" lIns="0" rIns="0" tIns="0" bIns="0">
            <a:spAutoFit/>
          </a:bodyPr>
          <a:lstStyle/>
          <a:p>
            <a:pPr algn="ctr">
              <a:spcAft>
                <a:spcPts val="0"/>
              </a:spcAft>
            </a:pPr>
            <a:r>
              <a:rPr sz="850" b="0" i="0">
                <a:solidFill>
                  <a:srgbClr val="595959"/>
                </a:solidFill>
                <a:latin typeface="Arial"/>
              </a:rPr>
              <a:t>One depot (square), three capacity-limited routes</a:t>
            </a:r>
          </a:p>
        </p:txBody>
      </p:sp>
      <p:sp>
        <p:nvSpPr>
          <p:cNvPr id="35" name="TextBox 34"/>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36" name="TextBox 35"/>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Exact Solving Hits a Wall Almost Immediately</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Gurobi MIP (two-index formulation with load propagation) as the reference point</a:t>
            </a:r>
          </a:p>
        </p:txBody>
      </p:sp>
      <p:sp>
        <p:nvSpPr>
          <p:cNvPr id="5" name="Rounded Rectangle 4"/>
          <p:cNvSpPr/>
          <p:nvPr/>
        </p:nvSpPr>
        <p:spPr>
          <a:xfrm>
            <a:off x="320040" y="1783080"/>
            <a:ext cx="8503920" cy="804672"/>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25780" y="2144268"/>
            <a:ext cx="82296" cy="82296"/>
          </a:xfrm>
          <a:prstGeom prst="ellipse">
            <a:avLst/>
          </a:prstGeom>
          <a:solidFill>
            <a:srgbClr val="A2A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920240"/>
            <a:ext cx="1417320" cy="548640"/>
          </a:xfrm>
          <a:prstGeom prst="rect">
            <a:avLst/>
          </a:prstGeom>
          <a:noFill/>
        </p:spPr>
        <p:txBody>
          <a:bodyPr wrap="square" lIns="0" rIns="0" tIns="0" bIns="0">
            <a:spAutoFit/>
          </a:bodyPr>
          <a:lstStyle/>
          <a:p>
            <a:pPr algn="l">
              <a:spcAft>
                <a:spcPts val="0"/>
              </a:spcAft>
            </a:pPr>
            <a:r>
              <a:rPr sz="1300" b="1" i="0">
                <a:solidFill>
                  <a:srgbClr val="003359"/>
                </a:solidFill>
                <a:latin typeface="Arial"/>
              </a:rPr>
              <a:t>6 customers</a:t>
            </a:r>
          </a:p>
        </p:txBody>
      </p:sp>
      <p:sp>
        <p:nvSpPr>
          <p:cNvPr id="8" name="TextBox 7"/>
          <p:cNvSpPr txBox="1"/>
          <p:nvPr/>
        </p:nvSpPr>
        <p:spPr>
          <a:xfrm>
            <a:off x="2331720" y="1874519"/>
            <a:ext cx="3383280" cy="640080"/>
          </a:xfrm>
          <a:prstGeom prst="rect">
            <a:avLst/>
          </a:prstGeom>
          <a:noFill/>
        </p:spPr>
        <p:txBody>
          <a:bodyPr wrap="square" lIns="0" rIns="0" tIns="0" bIns="0">
            <a:spAutoFit/>
          </a:bodyPr>
          <a:lstStyle/>
          <a:p>
            <a:pPr algn="l">
              <a:spcAft>
                <a:spcPts val="100"/>
              </a:spcAft>
            </a:pPr>
            <a:r>
              <a:rPr sz="800" b="1" i="0">
                <a:solidFill>
                  <a:srgbClr val="595959"/>
                </a:solidFill>
                <a:latin typeface="Arial"/>
              </a:rPr>
              <a:t>Exact (gurobipy)</a:t>
            </a:r>
          </a:p>
          <a:p>
            <a:pPr algn="l">
              <a:spcAft>
                <a:spcPts val="0"/>
              </a:spcAft>
            </a:pPr>
            <a:r>
              <a:rPr sz="1000" b="0" i="0">
                <a:solidFill>
                  <a:srgbClr val="000000"/>
                </a:solidFill>
                <a:latin typeface="Arial"/>
              </a:rPr>
              <a:t>Proven optimum 50.83 in 0.01 s</a:t>
            </a:r>
          </a:p>
        </p:txBody>
      </p:sp>
      <p:sp>
        <p:nvSpPr>
          <p:cNvPr id="9" name="TextBox 8"/>
          <p:cNvSpPr txBox="1"/>
          <p:nvPr/>
        </p:nvSpPr>
        <p:spPr>
          <a:xfrm>
            <a:off x="5897880" y="1874519"/>
            <a:ext cx="2788920" cy="640080"/>
          </a:xfrm>
          <a:prstGeom prst="rect">
            <a:avLst/>
          </a:prstGeom>
          <a:noFill/>
        </p:spPr>
        <p:txBody>
          <a:bodyPr wrap="square" lIns="0" rIns="0" tIns="0" bIns="0">
            <a:spAutoFit/>
          </a:bodyPr>
          <a:lstStyle/>
          <a:p>
            <a:pPr algn="l">
              <a:spcAft>
                <a:spcPts val="100"/>
              </a:spcAft>
            </a:pPr>
            <a:r>
              <a:rPr sz="800" b="1" i="0">
                <a:solidFill>
                  <a:srgbClr val="595959"/>
                </a:solidFill>
                <a:latin typeface="Arial"/>
              </a:rPr>
              <a:t>Heuristics</a:t>
            </a:r>
          </a:p>
          <a:p>
            <a:pPr algn="l">
              <a:spcAft>
                <a:spcPts val="0"/>
              </a:spcAft>
            </a:pPr>
            <a:r>
              <a:rPr sz="1000" b="0" i="0">
                <a:solidFill>
                  <a:srgbClr val="000000"/>
                </a:solidFill>
                <a:latin typeface="Arial"/>
              </a:rPr>
              <a:t>All five heuristics match it exactly</a:t>
            </a:r>
          </a:p>
        </p:txBody>
      </p:sp>
      <p:sp>
        <p:nvSpPr>
          <p:cNvPr id="10" name="Rounded Rectangle 9"/>
          <p:cNvSpPr/>
          <p:nvPr/>
        </p:nvSpPr>
        <p:spPr>
          <a:xfrm>
            <a:off x="320040" y="2697480"/>
            <a:ext cx="8503920" cy="804672"/>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25780" y="3058668"/>
            <a:ext cx="82296" cy="82296"/>
          </a:xfrm>
          <a:prstGeom prst="ellipse">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834640"/>
            <a:ext cx="1417320" cy="548640"/>
          </a:xfrm>
          <a:prstGeom prst="rect">
            <a:avLst/>
          </a:prstGeom>
          <a:noFill/>
        </p:spPr>
        <p:txBody>
          <a:bodyPr wrap="square" lIns="0" rIns="0" tIns="0" bIns="0">
            <a:spAutoFit/>
          </a:bodyPr>
          <a:lstStyle/>
          <a:p>
            <a:pPr algn="l">
              <a:spcAft>
                <a:spcPts val="0"/>
              </a:spcAft>
            </a:pPr>
            <a:r>
              <a:rPr sz="1300" b="1" i="0">
                <a:solidFill>
                  <a:srgbClr val="003359"/>
                </a:solidFill>
                <a:latin typeface="Arial"/>
              </a:rPr>
              <a:t>20 customers</a:t>
            </a:r>
          </a:p>
        </p:txBody>
      </p:sp>
      <p:sp>
        <p:nvSpPr>
          <p:cNvPr id="13" name="TextBox 12"/>
          <p:cNvSpPr txBox="1"/>
          <p:nvPr/>
        </p:nvSpPr>
        <p:spPr>
          <a:xfrm>
            <a:off x="2331720" y="2788920"/>
            <a:ext cx="3383280" cy="640080"/>
          </a:xfrm>
          <a:prstGeom prst="rect">
            <a:avLst/>
          </a:prstGeom>
          <a:noFill/>
        </p:spPr>
        <p:txBody>
          <a:bodyPr wrap="square" lIns="0" rIns="0" tIns="0" bIns="0">
            <a:spAutoFit/>
          </a:bodyPr>
          <a:lstStyle/>
          <a:p>
            <a:pPr algn="l">
              <a:spcAft>
                <a:spcPts val="100"/>
              </a:spcAft>
            </a:pPr>
            <a:r>
              <a:rPr sz="800" b="1" i="0">
                <a:solidFill>
                  <a:srgbClr val="595959"/>
                </a:solidFill>
                <a:latin typeface="Arial"/>
              </a:rPr>
              <a:t>Exact (gurobipy)</a:t>
            </a:r>
          </a:p>
          <a:p>
            <a:pPr algn="l">
              <a:spcAft>
                <a:spcPts val="0"/>
              </a:spcAft>
            </a:pPr>
            <a:r>
              <a:rPr sz="1000" b="0" i="0">
                <a:solidFill>
                  <a:srgbClr val="000000"/>
                </a:solidFill>
                <a:latin typeface="Arial"/>
              </a:rPr>
              <a:t>300 s → incumbent, 0.7–2.1% gap unproven</a:t>
            </a:r>
          </a:p>
        </p:txBody>
      </p:sp>
      <p:sp>
        <p:nvSpPr>
          <p:cNvPr id="14" name="TextBox 13"/>
          <p:cNvSpPr txBox="1"/>
          <p:nvPr/>
        </p:nvSpPr>
        <p:spPr>
          <a:xfrm>
            <a:off x="5897880" y="2788920"/>
            <a:ext cx="2788920" cy="640080"/>
          </a:xfrm>
          <a:prstGeom prst="rect">
            <a:avLst/>
          </a:prstGeom>
          <a:noFill/>
        </p:spPr>
        <p:txBody>
          <a:bodyPr wrap="square" lIns="0" rIns="0" tIns="0" bIns="0">
            <a:spAutoFit/>
          </a:bodyPr>
          <a:lstStyle/>
          <a:p>
            <a:pPr algn="l">
              <a:spcAft>
                <a:spcPts val="100"/>
              </a:spcAft>
            </a:pPr>
            <a:r>
              <a:rPr sz="800" b="1" i="0">
                <a:solidFill>
                  <a:srgbClr val="595959"/>
                </a:solidFill>
                <a:latin typeface="Arial"/>
              </a:rPr>
              <a:t>Heuristics</a:t>
            </a:r>
          </a:p>
          <a:p>
            <a:pPr algn="l">
              <a:spcAft>
                <a:spcPts val="0"/>
              </a:spcAft>
            </a:pPr>
            <a:r>
              <a:rPr sz="1000" b="0" i="0">
                <a:solidFill>
                  <a:srgbClr val="000000"/>
                </a:solidFill>
                <a:latin typeface="Arial"/>
              </a:rPr>
              <a:t>Heuristics match or come within 0.5% in ≤ 0.04 s</a:t>
            </a:r>
          </a:p>
        </p:txBody>
      </p:sp>
      <p:sp>
        <p:nvSpPr>
          <p:cNvPr id="15" name="Rounded Rectangle 14"/>
          <p:cNvSpPr/>
          <p:nvPr/>
        </p:nvSpPr>
        <p:spPr>
          <a:xfrm>
            <a:off x="320040" y="3611880"/>
            <a:ext cx="8503920" cy="804672"/>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5780" y="3973068"/>
            <a:ext cx="82296" cy="82296"/>
          </a:xfrm>
          <a:prstGeom prst="ellipse">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749040"/>
            <a:ext cx="1417320" cy="548640"/>
          </a:xfrm>
          <a:prstGeom prst="rect">
            <a:avLst/>
          </a:prstGeom>
          <a:noFill/>
        </p:spPr>
        <p:txBody>
          <a:bodyPr wrap="square" lIns="0" rIns="0" tIns="0" bIns="0">
            <a:spAutoFit/>
          </a:bodyPr>
          <a:lstStyle/>
          <a:p>
            <a:pPr algn="l">
              <a:spcAft>
                <a:spcPts val="0"/>
              </a:spcAft>
            </a:pPr>
            <a:r>
              <a:rPr sz="1300" b="1" i="0">
                <a:solidFill>
                  <a:srgbClr val="003359"/>
                </a:solidFill>
                <a:latin typeface="Arial"/>
              </a:rPr>
              <a:t>51 customers</a:t>
            </a:r>
          </a:p>
        </p:txBody>
      </p:sp>
      <p:sp>
        <p:nvSpPr>
          <p:cNvPr id="18" name="TextBox 17"/>
          <p:cNvSpPr txBox="1"/>
          <p:nvPr/>
        </p:nvSpPr>
        <p:spPr>
          <a:xfrm>
            <a:off x="2331720" y="3703320"/>
            <a:ext cx="3383280" cy="640080"/>
          </a:xfrm>
          <a:prstGeom prst="rect">
            <a:avLst/>
          </a:prstGeom>
          <a:noFill/>
        </p:spPr>
        <p:txBody>
          <a:bodyPr wrap="square" lIns="0" rIns="0" tIns="0" bIns="0">
            <a:spAutoFit/>
          </a:bodyPr>
          <a:lstStyle/>
          <a:p>
            <a:pPr algn="l">
              <a:spcAft>
                <a:spcPts val="100"/>
              </a:spcAft>
            </a:pPr>
            <a:r>
              <a:rPr sz="800" b="1" i="0">
                <a:solidFill>
                  <a:srgbClr val="595959"/>
                </a:solidFill>
                <a:latin typeface="Arial"/>
              </a:rPr>
              <a:t>Exact (gurobipy)</a:t>
            </a:r>
          </a:p>
          <a:p>
            <a:pPr algn="l">
              <a:spcAft>
                <a:spcPts val="0"/>
              </a:spcAft>
            </a:pPr>
            <a:r>
              <a:rPr sz="1000" b="0" i="0">
                <a:solidFill>
                  <a:srgbClr val="000000"/>
                </a:solidFill>
                <a:latin typeface="Arial"/>
              </a:rPr>
              <a:t>Model too large for the free license (2,550 binary vars)</a:t>
            </a:r>
          </a:p>
        </p:txBody>
      </p:sp>
      <p:sp>
        <p:nvSpPr>
          <p:cNvPr id="19" name="TextBox 18"/>
          <p:cNvSpPr txBox="1"/>
          <p:nvPr/>
        </p:nvSpPr>
        <p:spPr>
          <a:xfrm>
            <a:off x="5897880" y="3703320"/>
            <a:ext cx="2788920" cy="640080"/>
          </a:xfrm>
          <a:prstGeom prst="rect">
            <a:avLst/>
          </a:prstGeom>
          <a:noFill/>
        </p:spPr>
        <p:txBody>
          <a:bodyPr wrap="square" lIns="0" rIns="0" tIns="0" bIns="0">
            <a:spAutoFit/>
          </a:bodyPr>
          <a:lstStyle/>
          <a:p>
            <a:pPr algn="l">
              <a:spcAft>
                <a:spcPts val="100"/>
              </a:spcAft>
            </a:pPr>
            <a:r>
              <a:rPr sz="800" b="1" i="0">
                <a:solidFill>
                  <a:srgbClr val="595959"/>
                </a:solidFill>
                <a:latin typeface="Arial"/>
              </a:rPr>
              <a:t>Heuristics</a:t>
            </a:r>
          </a:p>
          <a:p>
            <a:pPr algn="l">
              <a:spcAft>
                <a:spcPts val="0"/>
              </a:spcAft>
            </a:pPr>
            <a:r>
              <a:rPr sz="1000" b="0" i="0">
                <a:solidFill>
                  <a:srgbClr val="000000"/>
                </a:solidFill>
                <a:latin typeface="Arial"/>
              </a:rPr>
              <a:t>Best heuristic: 0.19% above the proven optimum, 0.16 s</a:t>
            </a:r>
          </a:p>
        </p:txBody>
      </p:sp>
      <p:sp>
        <p:nvSpPr>
          <p:cNvPr id="20" name="TextBox 19"/>
          <p:cNvSpPr txBox="1"/>
          <p:nvPr/>
        </p:nvSpPr>
        <p:spPr>
          <a:xfrm>
            <a:off x="320040" y="4553712"/>
            <a:ext cx="8503920" cy="320040"/>
          </a:xfrm>
          <a:prstGeom prst="rect">
            <a:avLst/>
          </a:prstGeom>
          <a:noFill/>
        </p:spPr>
        <p:txBody>
          <a:bodyPr wrap="square" lIns="0" rIns="0" tIns="0" bIns="0">
            <a:spAutoFit/>
          </a:bodyPr>
          <a:lstStyle/>
          <a:p>
            <a:pPr algn="l">
              <a:spcAft>
                <a:spcPts val="0"/>
              </a:spcAft>
            </a:pPr>
            <a:r>
              <a:rPr sz="1150" b="1" i="0">
                <a:solidFill>
                  <a:srgbClr val="003359"/>
                </a:solidFill>
                <a:latin typeface="Arial"/>
              </a:rPr>
              <a:t>Exact = the reference, not the workhorse — fast heuristics must carry the load.</a:t>
            </a:r>
          </a:p>
        </p:txBody>
      </p:sp>
      <p:sp>
        <p:nvSpPr>
          <p:cNvPr id="21" name="TextBox 20"/>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22" name="TextBox 21"/>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No Single Heuristic Wins</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Share of 1,260 instances on which each solver is the best in the portfolio</a:t>
            </a:r>
          </a:p>
        </p:txBody>
      </p:sp>
      <p:graphicFrame>
        <p:nvGraphicFramePr>
          <p:cNvPr id="5" name="Chart 4"/>
          <p:cNvGraphicFramePr>
            <a:graphicFrameLocks noGrp="1"/>
          </p:cNvGraphicFramePr>
          <p:nvPr/>
        </p:nvGraphicFramePr>
        <p:xfrm>
          <a:off x="320040" y="1737360"/>
          <a:ext cx="5074920" cy="3063240"/>
        </p:xfrm>
        <a:graphic>
          <a:graphicData uri="http://schemas.openxmlformats.org/drawingml/2006/chart">
            <c:chart xmlns:c="http://schemas.openxmlformats.org/drawingml/2006/chart" r:id="rId2"/>
          </a:graphicData>
        </a:graphic>
      </p:graphicFrame>
      <p:sp>
        <p:nvSpPr>
          <p:cNvPr id="6" name="TextBox 5"/>
          <p:cNvSpPr txBox="1"/>
          <p:nvPr/>
        </p:nvSpPr>
        <p:spPr>
          <a:xfrm>
            <a:off x="5715000" y="1874519"/>
            <a:ext cx="3108960" cy="2926080"/>
          </a:xfrm>
          <a:prstGeom prst="rect">
            <a:avLst/>
          </a:prstGeom>
          <a:noFill/>
        </p:spPr>
        <p:txBody>
          <a:bodyPr wrap="square" lIns="0" rIns="0" tIns="0" bIns="0">
            <a:spAutoFit/>
          </a:bodyPr>
          <a:lstStyle/>
          <a:p>
            <a:pPr algn="l">
              <a:spcAft>
                <a:spcPts val="600"/>
              </a:spcAft>
            </a:pPr>
            <a:r>
              <a:rPr sz="1300" b="1" i="0">
                <a:solidFill>
                  <a:srgbClr val="003359"/>
                </a:solidFill>
                <a:latin typeface="Arial"/>
              </a:rPr>
              <a:t>Every solver has its territory</a:t>
            </a:r>
          </a:p>
          <a:p>
            <a:pPr algn="l">
              <a:spcAft>
                <a:spcPts val="600"/>
              </a:spcAft>
            </a:pPr>
            <a:r>
              <a:rPr sz="1050" b="0" i="0">
                <a:solidFill>
                  <a:srgbClr val="000000"/>
                </a:solidFill>
                <a:latin typeface="Arial"/>
              </a:rPr>
              <a:t>•  Largest share is only 25.6% — no solver dominates.</a:t>
            </a:r>
          </a:p>
          <a:p>
            <a:pPr algn="l">
              <a:spcAft>
                <a:spcPts val="600"/>
              </a:spcAft>
            </a:pPr>
            <a:r>
              <a:rPr sz="1050" b="0" i="0">
                <a:solidFill>
                  <a:srgbClr val="000000"/>
                </a:solidFill>
                <a:latin typeface="Arial"/>
              </a:rPr>
              <a:t>•  A wrong pick costs up to +19% route length.</a:t>
            </a:r>
          </a:p>
          <a:p>
            <a:pPr algn="l">
              <a:spcAft>
                <a:spcPts val="600"/>
              </a:spcAft>
            </a:pPr>
            <a:r>
              <a:rPr sz="1050" b="0" i="0">
                <a:solidFill>
                  <a:srgbClr val="000000"/>
                </a:solidFill>
                <a:latin typeface="Arial"/>
              </a:rPr>
              <a:t>•  The winner depends on geometry, depot position, and demand structure.</a:t>
            </a:r>
          </a:p>
          <a:p>
            <a:pPr algn="l">
              <a:spcAft>
                <a:spcPts val="0"/>
              </a:spcAft>
            </a:pPr>
            <a:r>
              <a:rPr sz="1050" b="1" i="0">
                <a:solidFill>
                  <a:srgbClr val="E37222"/>
                </a:solidFill>
                <a:latin typeface="Arial"/>
              </a:rPr>
              <a:t>Algorithm selection: learn to predict the winner per instance (Asín-Achá et al. 2024).</a:t>
            </a:r>
          </a:p>
        </p:txBody>
      </p:sp>
      <p:sp>
        <p:nvSpPr>
          <p:cNvPr id="7" name="TextBox 6"/>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8" name="TextBox 7"/>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The Solution: A Learned Meta-Solver</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Look at the instance first — then commit the time budget to the predicted best heuristic</a:t>
            </a:r>
          </a:p>
        </p:txBody>
      </p:sp>
      <p:sp>
        <p:nvSpPr>
          <p:cNvPr id="5" name="Chevron 4"/>
          <p:cNvSpPr/>
          <p:nvPr/>
        </p:nvSpPr>
        <p:spPr>
          <a:xfrm>
            <a:off x="320040" y="1783080"/>
            <a:ext cx="1572768" cy="868680"/>
          </a:xfrm>
          <a:prstGeom prst="chevron">
            <a:avLst>
              <a:gd name="adj" fmla="val 28000"/>
            </a:avLst>
          </a:prstGeom>
          <a:solidFill>
            <a:srgbClr val="98C6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9144" bIns="9144"/>
          <a:lstStyle/>
          <a:p>
            <a:pPr algn="ctr"/>
            <a:r>
              <a:rPr sz="1000" b="1">
                <a:solidFill>
                  <a:srgbClr val="003359"/>
                </a:solidFill>
                <a:latin typeface="Arial"/>
              </a:rPr>
              <a:t>New CVRP
instance</a:t>
            </a:r>
          </a:p>
        </p:txBody>
      </p:sp>
      <p:sp>
        <p:nvSpPr>
          <p:cNvPr id="6" name="Chevron 5"/>
          <p:cNvSpPr/>
          <p:nvPr/>
        </p:nvSpPr>
        <p:spPr>
          <a:xfrm>
            <a:off x="2020824" y="1783080"/>
            <a:ext cx="1572768" cy="868680"/>
          </a:xfrm>
          <a:prstGeom prst="chevron">
            <a:avLst>
              <a:gd name="adj" fmla="val 28000"/>
            </a:avLst>
          </a:prstGeom>
          <a:solidFill>
            <a:srgbClr val="64A0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9144" bIns="9144"/>
          <a:lstStyle/>
          <a:p>
            <a:pPr algn="ctr"/>
            <a:r>
              <a:rPr sz="1000" b="1">
                <a:solidFill>
                  <a:srgbClr val="FFFFFF"/>
                </a:solidFill>
                <a:latin typeface="Arial"/>
              </a:rPr>
              <a:t>Extract 38
features</a:t>
            </a:r>
          </a:p>
        </p:txBody>
      </p:sp>
      <p:sp>
        <p:nvSpPr>
          <p:cNvPr id="7" name="Chevron 6"/>
          <p:cNvSpPr/>
          <p:nvPr/>
        </p:nvSpPr>
        <p:spPr>
          <a:xfrm>
            <a:off x="3721608" y="1783080"/>
            <a:ext cx="1572768" cy="868680"/>
          </a:xfrm>
          <a:prstGeom prst="chevron">
            <a:avLst>
              <a:gd name="adj" fmla="val 28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9144" bIns="9144"/>
          <a:lstStyle/>
          <a:p>
            <a:pPr algn="ctr"/>
            <a:r>
              <a:rPr sz="1000" b="1">
                <a:solidFill>
                  <a:srgbClr val="FFFFFF"/>
                </a:solidFill>
                <a:latin typeface="Arial"/>
              </a:rPr>
              <a:t>Random Forest
predicts winner</a:t>
            </a:r>
          </a:p>
        </p:txBody>
      </p:sp>
      <p:sp>
        <p:nvSpPr>
          <p:cNvPr id="8" name="Chevron 7"/>
          <p:cNvSpPr/>
          <p:nvPr/>
        </p:nvSpPr>
        <p:spPr>
          <a:xfrm>
            <a:off x="5422392" y="1783080"/>
            <a:ext cx="1572768" cy="868680"/>
          </a:xfrm>
          <a:prstGeom prst="chevron">
            <a:avLst>
              <a:gd name="adj" fmla="val 28000"/>
            </a:avLst>
          </a:prstGeom>
          <a:solidFill>
            <a:srgbClr val="005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9144" bIns="9144"/>
          <a:lstStyle/>
          <a:p>
            <a:pPr algn="ctr"/>
            <a:r>
              <a:rPr sz="1000" b="1">
                <a:solidFill>
                  <a:srgbClr val="FFFFFF"/>
                </a:solidFill>
                <a:latin typeface="Arial"/>
              </a:rPr>
              <a:t>Run predicted
heuristic</a:t>
            </a:r>
          </a:p>
        </p:txBody>
      </p:sp>
      <p:sp>
        <p:nvSpPr>
          <p:cNvPr id="9" name="Chevron 8"/>
          <p:cNvSpPr/>
          <p:nvPr/>
        </p:nvSpPr>
        <p:spPr>
          <a:xfrm>
            <a:off x="7123175" y="1783080"/>
            <a:ext cx="1572768" cy="868680"/>
          </a:xfrm>
          <a:prstGeom prst="chevron">
            <a:avLst>
              <a:gd name="adj" fmla="val 28000"/>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9144" bIns="9144"/>
          <a:lstStyle/>
          <a:p>
            <a:pPr algn="ctr"/>
            <a:r>
              <a:rPr sz="1000" b="1">
                <a:solidFill>
                  <a:srgbClr val="FFFFFF"/>
                </a:solidFill>
                <a:latin typeface="Arial"/>
              </a:rPr>
              <a:t>Routes in
~0.2 s</a:t>
            </a:r>
          </a:p>
        </p:txBody>
      </p:sp>
      <p:sp>
        <p:nvSpPr>
          <p:cNvPr id="10" name="TextBox 9"/>
          <p:cNvSpPr txBox="1"/>
          <p:nvPr/>
        </p:nvSpPr>
        <p:spPr>
          <a:xfrm>
            <a:off x="320040" y="2880360"/>
            <a:ext cx="8503920" cy="1920240"/>
          </a:xfrm>
          <a:prstGeom prst="rect">
            <a:avLst/>
          </a:prstGeom>
          <a:noFill/>
        </p:spPr>
        <p:txBody>
          <a:bodyPr wrap="square" lIns="0" rIns="0" tIns="0" bIns="0">
            <a:spAutoFit/>
          </a:bodyPr>
          <a:lstStyle/>
          <a:p>
            <a:pPr algn="l">
              <a:spcAft>
                <a:spcPts val="500"/>
              </a:spcAft>
            </a:pPr>
            <a:r>
              <a:rPr sz="1300" b="1" i="0">
                <a:solidFill>
                  <a:srgbClr val="003359"/>
                </a:solidFill>
                <a:latin typeface="Arial"/>
              </a:rPr>
              <a:t>Design choices (following the paper)</a:t>
            </a:r>
          </a:p>
          <a:p>
            <a:pPr algn="l">
              <a:spcAft>
                <a:spcPts val="500"/>
              </a:spcAft>
            </a:pPr>
            <a:r>
              <a:rPr sz="1050" b="0" i="0">
                <a:solidFill>
                  <a:srgbClr val="000000"/>
                </a:solidFill>
                <a:latin typeface="Arial"/>
              </a:rPr>
              <a:t>•  Fixed 20-second budget per solver run — the label is “best solution within the budget”; cost ties break toward the faster solver.</a:t>
            </a:r>
          </a:p>
          <a:p>
            <a:pPr algn="l">
              <a:spcAft>
                <a:spcPts val="500"/>
              </a:spcAft>
            </a:pPr>
            <a:r>
              <a:rPr sz="1050" b="0" i="0">
                <a:solidFill>
                  <a:srgbClr val="000000"/>
                </a:solidFill>
                <a:latin typeface="Arial"/>
              </a:rPr>
              <a:t>•  Features are computable before solving — no solver output enters the model (enforced by an explicit blocklist).</a:t>
            </a:r>
          </a:p>
          <a:p>
            <a:pPr algn="l">
              <a:spcAft>
                <a:spcPts val="500"/>
              </a:spcAft>
            </a:pPr>
            <a:r>
              <a:rPr sz="1050" b="0" i="0">
                <a:solidFill>
                  <a:srgbClr val="000000"/>
                </a:solidFill>
                <a:latin typeface="Arial"/>
              </a:rPr>
              <a:t>•  Algorithm configuration enters as discrete portfolio entries (e.g. Clarke-Wright ± 2-opt) — the paper's discretized form.</a:t>
            </a:r>
          </a:p>
          <a:p>
            <a:pPr algn="l">
              <a:spcAft>
                <a:spcPts val="500"/>
              </a:spcAft>
            </a:pPr>
            <a:r>
              <a:rPr sz="1050" b="0" i="0">
                <a:solidFill>
                  <a:srgbClr val="000000"/>
                </a:solidFill>
                <a:latin typeface="Arial"/>
              </a:rPr>
              <a:t>•  If the predicted solver fails, fall back to the single best solver — never return empty-handed.</a:t>
            </a:r>
          </a:p>
        </p:txBody>
      </p:sp>
      <p:sp>
        <p:nvSpPr>
          <p:cNvPr id="11" name="TextBox 10"/>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12" name="TextBox 11"/>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The Portfolio: Five Classical Heuristics</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VeRyPy implementations, pinned commit; every solution independently re-validated and re-costed</a:t>
            </a:r>
          </a:p>
        </p:txBody>
      </p:sp>
      <p:sp>
        <p:nvSpPr>
          <p:cNvPr id="5" name="Rounded Rectangle 4"/>
          <p:cNvSpPr/>
          <p:nvPr/>
        </p:nvSpPr>
        <p:spPr>
          <a:xfrm>
            <a:off x="320040" y="1737360"/>
            <a:ext cx="2697480" cy="1170432"/>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5488" y="1847088"/>
            <a:ext cx="2386584" cy="950976"/>
          </a:xfrm>
          <a:prstGeom prst="rect">
            <a:avLst/>
          </a:prstGeom>
          <a:noFill/>
        </p:spPr>
        <p:txBody>
          <a:bodyPr wrap="square" lIns="0" rIns="0" tIns="0" bIns="0">
            <a:spAutoFit/>
          </a:bodyPr>
          <a:lstStyle/>
          <a:p>
            <a:pPr algn="l">
              <a:spcAft>
                <a:spcPts val="200"/>
              </a:spcAft>
            </a:pPr>
            <a:r>
              <a:rPr sz="1150" b="1" i="0">
                <a:solidFill>
                  <a:srgbClr val="003359"/>
                </a:solidFill>
                <a:latin typeface="Arial"/>
              </a:rPr>
              <a:t>Clarke–Wright + 2-opt  </a:t>
            </a:r>
            <a:r>
              <a:rPr sz="850">
                <a:solidFill>
                  <a:srgbClr val="595959"/>
                </a:solidFill>
                <a:latin typeface="Arial"/>
              </a:rPr>
              <a:t>1964</a:t>
            </a:r>
          </a:p>
          <a:p>
            <a:pPr algn="l">
              <a:spcAft>
                <a:spcPts val="0"/>
              </a:spcAft>
            </a:pPr>
            <a:r>
              <a:rPr sz="950" b="0" i="0">
                <a:solidFill>
                  <a:srgbClr val="000000"/>
                </a:solidFill>
                <a:latin typeface="Arial"/>
              </a:rPr>
              <a:t>Merge routes by largest saving, then polish each tour.</a:t>
            </a:r>
          </a:p>
        </p:txBody>
      </p:sp>
      <p:sp>
        <p:nvSpPr>
          <p:cNvPr id="7" name="Rounded Rectangle 6"/>
          <p:cNvSpPr/>
          <p:nvPr/>
        </p:nvSpPr>
        <p:spPr>
          <a:xfrm>
            <a:off x="3218688" y="1737360"/>
            <a:ext cx="2697480" cy="1170432"/>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74136" y="1847088"/>
            <a:ext cx="2386584" cy="950976"/>
          </a:xfrm>
          <a:prstGeom prst="rect">
            <a:avLst/>
          </a:prstGeom>
          <a:noFill/>
        </p:spPr>
        <p:txBody>
          <a:bodyPr wrap="square" lIns="0" rIns="0" tIns="0" bIns="0">
            <a:spAutoFit/>
          </a:bodyPr>
          <a:lstStyle/>
          <a:p>
            <a:pPr algn="l">
              <a:spcAft>
                <a:spcPts val="200"/>
              </a:spcAft>
            </a:pPr>
            <a:r>
              <a:rPr sz="1150" b="1" i="0">
                <a:solidFill>
                  <a:srgbClr val="003359"/>
                </a:solidFill>
                <a:latin typeface="Arial"/>
              </a:rPr>
              <a:t>Wren–Holliday sweep  </a:t>
            </a:r>
            <a:r>
              <a:rPr sz="850">
                <a:solidFill>
                  <a:srgbClr val="595959"/>
                </a:solidFill>
                <a:latin typeface="Arial"/>
              </a:rPr>
              <a:t>1972</a:t>
            </a:r>
          </a:p>
          <a:p>
            <a:pPr algn="l">
              <a:spcAft>
                <a:spcPts val="0"/>
              </a:spcAft>
            </a:pPr>
            <a:r>
              <a:rPr sz="950" b="0" i="0">
                <a:solidFill>
                  <a:srgbClr val="000000"/>
                </a:solidFill>
                <a:latin typeface="Arial"/>
              </a:rPr>
              <a:t>Rotate a ray around the depot; cut routes at capacity.</a:t>
            </a:r>
          </a:p>
        </p:txBody>
      </p:sp>
      <p:sp>
        <p:nvSpPr>
          <p:cNvPr id="9" name="Rounded Rectangle 8"/>
          <p:cNvSpPr/>
          <p:nvPr/>
        </p:nvSpPr>
        <p:spPr>
          <a:xfrm>
            <a:off x="6117336" y="1737360"/>
            <a:ext cx="2697480" cy="1170432"/>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2784" y="1847088"/>
            <a:ext cx="2386584" cy="950976"/>
          </a:xfrm>
          <a:prstGeom prst="rect">
            <a:avLst/>
          </a:prstGeom>
          <a:noFill/>
        </p:spPr>
        <p:txBody>
          <a:bodyPr wrap="square" lIns="0" rIns="0" tIns="0" bIns="0">
            <a:spAutoFit/>
          </a:bodyPr>
          <a:lstStyle/>
          <a:p>
            <a:pPr algn="l">
              <a:spcAft>
                <a:spcPts val="200"/>
              </a:spcAft>
            </a:pPr>
            <a:r>
              <a:rPr sz="1150" b="1" i="0">
                <a:solidFill>
                  <a:srgbClr val="003359"/>
                </a:solidFill>
                <a:latin typeface="Arial"/>
              </a:rPr>
              <a:t>Mole–Jameson insertion  </a:t>
            </a:r>
            <a:r>
              <a:rPr sz="850">
                <a:solidFill>
                  <a:srgbClr val="595959"/>
                </a:solidFill>
                <a:latin typeface="Arial"/>
              </a:rPr>
              <a:t>1976</a:t>
            </a:r>
          </a:p>
          <a:p>
            <a:pPr algn="l">
              <a:spcAft>
                <a:spcPts val="0"/>
              </a:spcAft>
            </a:pPr>
            <a:r>
              <a:rPr sz="950" b="0" i="0">
                <a:solidFill>
                  <a:srgbClr val="000000"/>
                </a:solidFill>
                <a:latin typeface="Arial"/>
              </a:rPr>
              <a:t>Insert each customer where it strains the route least.</a:t>
            </a:r>
          </a:p>
        </p:txBody>
      </p:sp>
      <p:sp>
        <p:nvSpPr>
          <p:cNvPr id="11" name="Rounded Rectangle 10"/>
          <p:cNvSpPr/>
          <p:nvPr/>
        </p:nvSpPr>
        <p:spPr>
          <a:xfrm>
            <a:off x="1764792" y="3017520"/>
            <a:ext cx="2697480" cy="1170432"/>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20240" y="3127248"/>
            <a:ext cx="2386584" cy="950976"/>
          </a:xfrm>
          <a:prstGeom prst="rect">
            <a:avLst/>
          </a:prstGeom>
          <a:noFill/>
        </p:spPr>
        <p:txBody>
          <a:bodyPr wrap="square" lIns="0" rIns="0" tIns="0" bIns="0">
            <a:spAutoFit/>
          </a:bodyPr>
          <a:lstStyle/>
          <a:p>
            <a:pPr algn="l">
              <a:spcAft>
                <a:spcPts val="200"/>
              </a:spcAft>
            </a:pPr>
            <a:r>
              <a:rPr sz="1150" b="1" i="0">
                <a:solidFill>
                  <a:srgbClr val="003359"/>
                </a:solidFill>
                <a:latin typeface="Arial"/>
              </a:rPr>
              <a:t>CMT two-phase  </a:t>
            </a:r>
            <a:r>
              <a:rPr sz="850">
                <a:solidFill>
                  <a:srgbClr val="595959"/>
                </a:solidFill>
                <a:latin typeface="Arial"/>
              </a:rPr>
              <a:t>1979</a:t>
            </a:r>
          </a:p>
          <a:p>
            <a:pPr algn="l">
              <a:spcAft>
                <a:spcPts val="0"/>
              </a:spcAft>
            </a:pPr>
            <a:r>
              <a:rPr sz="950" b="0" i="0">
                <a:solidFill>
                  <a:srgbClr val="000000"/>
                </a:solidFill>
                <a:latin typeface="Arial"/>
              </a:rPr>
              <a:t>Cluster customers first, then route each cluster.</a:t>
            </a:r>
          </a:p>
        </p:txBody>
      </p:sp>
      <p:sp>
        <p:nvSpPr>
          <p:cNvPr id="13" name="Rounded Rectangle 12"/>
          <p:cNvSpPr/>
          <p:nvPr/>
        </p:nvSpPr>
        <p:spPr>
          <a:xfrm>
            <a:off x="4663440" y="3017520"/>
            <a:ext cx="2697480" cy="1170432"/>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18888" y="3127248"/>
            <a:ext cx="2386584" cy="950976"/>
          </a:xfrm>
          <a:prstGeom prst="rect">
            <a:avLst/>
          </a:prstGeom>
          <a:noFill/>
        </p:spPr>
        <p:txBody>
          <a:bodyPr wrap="square" lIns="0" rIns="0" tIns="0" bIns="0">
            <a:spAutoFit/>
          </a:bodyPr>
          <a:lstStyle/>
          <a:p>
            <a:pPr algn="l">
              <a:spcAft>
                <a:spcPts val="200"/>
              </a:spcAft>
            </a:pPr>
            <a:r>
              <a:rPr sz="1150" b="1" i="0">
                <a:solidFill>
                  <a:srgbClr val="003359"/>
                </a:solidFill>
                <a:latin typeface="Arial"/>
              </a:rPr>
              <a:t>Route-first cluster-second  </a:t>
            </a:r>
            <a:r>
              <a:rPr sz="850">
                <a:solidFill>
                  <a:srgbClr val="595959"/>
                </a:solidFill>
                <a:latin typeface="Arial"/>
              </a:rPr>
              <a:t>1983</a:t>
            </a:r>
          </a:p>
          <a:p>
            <a:pPr algn="l">
              <a:spcAft>
                <a:spcPts val="0"/>
              </a:spcAft>
            </a:pPr>
            <a:r>
              <a:rPr sz="950" b="0" i="0">
                <a:solidFill>
                  <a:srgbClr val="000000"/>
                </a:solidFill>
                <a:latin typeface="Arial"/>
              </a:rPr>
              <a:t>Build one giant tour, then split it into feasible routes.</a:t>
            </a:r>
          </a:p>
        </p:txBody>
      </p:sp>
      <p:sp>
        <p:nvSpPr>
          <p:cNvPr id="15" name="TextBox 14"/>
          <p:cNvSpPr txBox="1"/>
          <p:nvPr/>
        </p:nvSpPr>
        <p:spPr>
          <a:xfrm>
            <a:off x="320040" y="4343400"/>
            <a:ext cx="8503920" cy="548640"/>
          </a:xfrm>
          <a:prstGeom prst="rect">
            <a:avLst/>
          </a:prstGeom>
          <a:noFill/>
        </p:spPr>
        <p:txBody>
          <a:bodyPr wrap="square" lIns="0" rIns="0" tIns="0" bIns="0">
            <a:spAutoFit/>
          </a:bodyPr>
          <a:lstStyle/>
          <a:p>
            <a:pPr algn="l">
              <a:spcAft>
                <a:spcPts val="0"/>
              </a:spcAft>
            </a:pPr>
            <a:r>
              <a:rPr sz="1050" b="1" i="0">
                <a:solidFill>
                  <a:srgbClr val="003359"/>
                </a:solidFill>
                <a:latin typeface="Arial"/>
              </a:rPr>
              <a:t>Deliberately left out:  </a:t>
            </a:r>
            <a:r>
              <a:rPr sz="950">
                <a:solidFill>
                  <a:srgbClr val="000000"/>
                </a:solidFill>
                <a:latin typeface="Arial"/>
              </a:rPr>
              <a:t>Gaskell savings (won only 3 of 240 audit instances — not learnable) and hybrid genetic search (would win almost every label and collapse the learning problem — kept as an external reference, see later).</a:t>
            </a:r>
          </a:p>
        </p:txBody>
      </p:sp>
      <p:sp>
        <p:nvSpPr>
          <p:cNvPr id="16" name="TextBox 15"/>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17" name="TextBox 16"/>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1,260 Synthetic Instances by Design</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A balanced factorial grid — built to span instance variation, as the paper prescribes</a:t>
            </a:r>
          </a:p>
        </p:txBody>
      </p:sp>
      <p:sp>
        <p:nvSpPr>
          <p:cNvPr id="5" name="Rounded Rectangle 4"/>
          <p:cNvSpPr/>
          <p:nvPr/>
        </p:nvSpPr>
        <p:spPr>
          <a:xfrm>
            <a:off x="320040" y="1737360"/>
            <a:ext cx="1481328" cy="1298448"/>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79" y="1828800"/>
            <a:ext cx="1298448" cy="1143000"/>
          </a:xfrm>
          <a:prstGeom prst="rect">
            <a:avLst/>
          </a:prstGeom>
          <a:noFill/>
        </p:spPr>
        <p:txBody>
          <a:bodyPr wrap="square" lIns="0" rIns="0" tIns="0" bIns="0">
            <a:spAutoFit/>
          </a:bodyPr>
          <a:lstStyle/>
          <a:p>
            <a:pPr algn="ctr">
              <a:spcAft>
                <a:spcPts val="100"/>
              </a:spcAft>
            </a:pPr>
            <a:r>
              <a:rPr sz="2800" b="1" i="0">
                <a:solidFill>
                  <a:srgbClr val="0065BD"/>
                </a:solidFill>
                <a:latin typeface="Arial"/>
              </a:rPr>
              <a:t>5</a:t>
            </a:r>
          </a:p>
          <a:p>
            <a:pPr algn="ctr">
              <a:spcAft>
                <a:spcPts val="200"/>
              </a:spcAft>
            </a:pPr>
            <a:r>
              <a:rPr sz="950" b="1" i="0">
                <a:solidFill>
                  <a:srgbClr val="000000"/>
                </a:solidFill>
                <a:latin typeface="Arial"/>
              </a:rPr>
              <a:t>spatial families</a:t>
            </a:r>
          </a:p>
          <a:p>
            <a:pPr algn="ctr">
              <a:spcAft>
                <a:spcPts val="0"/>
              </a:spcAft>
            </a:pPr>
            <a:r>
              <a:rPr sz="750" b="0" i="0">
                <a:solidFill>
                  <a:srgbClr val="595959"/>
                </a:solidFill>
                <a:latin typeface="Arial"/>
              </a:rPr>
              <a:t>uniform / clustered / two-cluster / radial / mixed</a:t>
            </a:r>
          </a:p>
        </p:txBody>
      </p:sp>
      <p:sp>
        <p:nvSpPr>
          <p:cNvPr id="7" name="TextBox 6"/>
          <p:cNvSpPr txBox="1"/>
          <p:nvPr/>
        </p:nvSpPr>
        <p:spPr>
          <a:xfrm>
            <a:off x="1801368" y="2194560"/>
            <a:ext cx="274320" cy="365760"/>
          </a:xfrm>
          <a:prstGeom prst="rect">
            <a:avLst/>
          </a:prstGeom>
          <a:noFill/>
        </p:spPr>
        <p:txBody>
          <a:bodyPr wrap="square" lIns="0" rIns="0" tIns="0" bIns="0">
            <a:spAutoFit/>
          </a:bodyPr>
          <a:lstStyle/>
          <a:p>
            <a:pPr algn="ctr">
              <a:spcAft>
                <a:spcPts val="0"/>
              </a:spcAft>
            </a:pPr>
            <a:r>
              <a:rPr sz="1500" b="0" i="0">
                <a:solidFill>
                  <a:srgbClr val="595959"/>
                </a:solidFill>
                <a:latin typeface="Arial"/>
              </a:rPr>
              <a:t>×</a:t>
            </a:r>
          </a:p>
        </p:txBody>
      </p:sp>
      <p:sp>
        <p:nvSpPr>
          <p:cNvPr id="8" name="Rounded Rectangle 7"/>
          <p:cNvSpPr/>
          <p:nvPr/>
        </p:nvSpPr>
        <p:spPr>
          <a:xfrm>
            <a:off x="2075688" y="1737360"/>
            <a:ext cx="1481328" cy="1298448"/>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67128" y="1828800"/>
            <a:ext cx="1298448" cy="1143000"/>
          </a:xfrm>
          <a:prstGeom prst="rect">
            <a:avLst/>
          </a:prstGeom>
          <a:noFill/>
        </p:spPr>
        <p:txBody>
          <a:bodyPr wrap="square" lIns="0" rIns="0" tIns="0" bIns="0">
            <a:spAutoFit/>
          </a:bodyPr>
          <a:lstStyle/>
          <a:p>
            <a:pPr algn="ctr">
              <a:spcAft>
                <a:spcPts val="100"/>
              </a:spcAft>
            </a:pPr>
            <a:r>
              <a:rPr sz="2800" b="1" i="0">
                <a:solidFill>
                  <a:srgbClr val="0065BD"/>
                </a:solidFill>
                <a:latin typeface="Arial"/>
              </a:rPr>
              <a:t>3</a:t>
            </a:r>
          </a:p>
          <a:p>
            <a:pPr algn="ctr">
              <a:spcAft>
                <a:spcPts val="200"/>
              </a:spcAft>
            </a:pPr>
            <a:r>
              <a:rPr sz="950" b="1" i="0">
                <a:solidFill>
                  <a:srgbClr val="000000"/>
                </a:solidFill>
                <a:latin typeface="Arial"/>
              </a:rPr>
              <a:t>depot positions</a:t>
            </a:r>
          </a:p>
          <a:p>
            <a:pPr algn="ctr">
              <a:spcAft>
                <a:spcPts val="0"/>
              </a:spcAft>
            </a:pPr>
            <a:r>
              <a:rPr sz="750" b="0" i="0">
                <a:solidFill>
                  <a:srgbClr val="595959"/>
                </a:solidFill>
                <a:latin typeface="Arial"/>
              </a:rPr>
              <a:t>center / corner / random</a:t>
            </a:r>
          </a:p>
        </p:txBody>
      </p:sp>
      <p:sp>
        <p:nvSpPr>
          <p:cNvPr id="10" name="TextBox 9"/>
          <p:cNvSpPr txBox="1"/>
          <p:nvPr/>
        </p:nvSpPr>
        <p:spPr>
          <a:xfrm>
            <a:off x="3557016" y="2194560"/>
            <a:ext cx="274320" cy="365760"/>
          </a:xfrm>
          <a:prstGeom prst="rect">
            <a:avLst/>
          </a:prstGeom>
          <a:noFill/>
        </p:spPr>
        <p:txBody>
          <a:bodyPr wrap="square" lIns="0" rIns="0" tIns="0" bIns="0">
            <a:spAutoFit/>
          </a:bodyPr>
          <a:lstStyle/>
          <a:p>
            <a:pPr algn="ctr">
              <a:spcAft>
                <a:spcPts val="0"/>
              </a:spcAft>
            </a:pPr>
            <a:r>
              <a:rPr sz="1500" b="0" i="0">
                <a:solidFill>
                  <a:srgbClr val="595959"/>
                </a:solidFill>
                <a:latin typeface="Arial"/>
              </a:rPr>
              <a:t>×</a:t>
            </a:r>
          </a:p>
        </p:txBody>
      </p:sp>
      <p:sp>
        <p:nvSpPr>
          <p:cNvPr id="11" name="Rounded Rectangle 10"/>
          <p:cNvSpPr/>
          <p:nvPr/>
        </p:nvSpPr>
        <p:spPr>
          <a:xfrm>
            <a:off x="3831336" y="1737360"/>
            <a:ext cx="1481328" cy="1298448"/>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22776" y="1828800"/>
            <a:ext cx="1298448" cy="1143000"/>
          </a:xfrm>
          <a:prstGeom prst="rect">
            <a:avLst/>
          </a:prstGeom>
          <a:noFill/>
        </p:spPr>
        <p:txBody>
          <a:bodyPr wrap="square" lIns="0" rIns="0" tIns="0" bIns="0">
            <a:spAutoFit/>
          </a:bodyPr>
          <a:lstStyle/>
          <a:p>
            <a:pPr algn="ctr">
              <a:spcAft>
                <a:spcPts val="100"/>
              </a:spcAft>
            </a:pPr>
            <a:r>
              <a:rPr sz="2800" b="1" i="0">
                <a:solidFill>
                  <a:srgbClr val="0065BD"/>
                </a:solidFill>
                <a:latin typeface="Arial"/>
              </a:rPr>
              <a:t>4</a:t>
            </a:r>
          </a:p>
          <a:p>
            <a:pPr algn="ctr">
              <a:spcAft>
                <a:spcPts val="200"/>
              </a:spcAft>
            </a:pPr>
            <a:r>
              <a:rPr sz="950" b="1" i="0">
                <a:solidFill>
                  <a:srgbClr val="000000"/>
                </a:solidFill>
                <a:latin typeface="Arial"/>
              </a:rPr>
              <a:t>demand regimes</a:t>
            </a:r>
          </a:p>
          <a:p>
            <a:pPr algn="ctr">
              <a:spcAft>
                <a:spcPts val="0"/>
              </a:spcAft>
            </a:pPr>
            <a:r>
              <a:rPr sz="750" b="0" i="0">
                <a:solidFill>
                  <a:srgbClr val="595959"/>
                </a:solidFill>
                <a:latin typeface="Arial"/>
              </a:rPr>
              <a:t>low &amp; high variance, low &amp; high pressure</a:t>
            </a:r>
          </a:p>
        </p:txBody>
      </p:sp>
      <p:sp>
        <p:nvSpPr>
          <p:cNvPr id="13" name="TextBox 12"/>
          <p:cNvSpPr txBox="1"/>
          <p:nvPr/>
        </p:nvSpPr>
        <p:spPr>
          <a:xfrm>
            <a:off x="5312664" y="2194560"/>
            <a:ext cx="274320" cy="365760"/>
          </a:xfrm>
          <a:prstGeom prst="rect">
            <a:avLst/>
          </a:prstGeom>
          <a:noFill/>
        </p:spPr>
        <p:txBody>
          <a:bodyPr wrap="square" lIns="0" rIns="0" tIns="0" bIns="0">
            <a:spAutoFit/>
          </a:bodyPr>
          <a:lstStyle/>
          <a:p>
            <a:pPr algn="ctr">
              <a:spcAft>
                <a:spcPts val="0"/>
              </a:spcAft>
            </a:pPr>
            <a:r>
              <a:rPr sz="1500" b="0" i="0">
                <a:solidFill>
                  <a:srgbClr val="595959"/>
                </a:solidFill>
                <a:latin typeface="Arial"/>
              </a:rPr>
              <a:t>×</a:t>
            </a:r>
          </a:p>
        </p:txBody>
      </p:sp>
      <p:sp>
        <p:nvSpPr>
          <p:cNvPr id="14" name="Rounded Rectangle 13"/>
          <p:cNvSpPr/>
          <p:nvPr/>
        </p:nvSpPr>
        <p:spPr>
          <a:xfrm>
            <a:off x="5586984" y="1737360"/>
            <a:ext cx="1481328" cy="1298448"/>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78424" y="1828800"/>
            <a:ext cx="1298448" cy="1143000"/>
          </a:xfrm>
          <a:prstGeom prst="rect">
            <a:avLst/>
          </a:prstGeom>
          <a:noFill/>
        </p:spPr>
        <p:txBody>
          <a:bodyPr wrap="square" lIns="0" rIns="0" tIns="0" bIns="0">
            <a:spAutoFit/>
          </a:bodyPr>
          <a:lstStyle/>
          <a:p>
            <a:pPr algn="ctr">
              <a:spcAft>
                <a:spcPts val="100"/>
              </a:spcAft>
            </a:pPr>
            <a:r>
              <a:rPr sz="2800" b="1" i="0">
                <a:solidFill>
                  <a:srgbClr val="0065BD"/>
                </a:solidFill>
                <a:latin typeface="Arial"/>
              </a:rPr>
              <a:t>3</a:t>
            </a:r>
          </a:p>
          <a:p>
            <a:pPr algn="ctr">
              <a:spcAft>
                <a:spcPts val="200"/>
              </a:spcAft>
            </a:pPr>
            <a:r>
              <a:rPr sz="950" b="1" i="0">
                <a:solidFill>
                  <a:srgbClr val="000000"/>
                </a:solidFill>
                <a:latin typeface="Arial"/>
              </a:rPr>
              <a:t>sizes</a:t>
            </a:r>
          </a:p>
          <a:p>
            <a:pPr algn="ctr">
              <a:spcAft>
                <a:spcPts val="0"/>
              </a:spcAft>
            </a:pPr>
            <a:r>
              <a:rPr sz="750" b="0" i="0">
                <a:solidFill>
                  <a:srgbClr val="595959"/>
                </a:solidFill>
                <a:latin typeface="Arial"/>
              </a:rPr>
              <a:t>20 / 50 / 100 customers</a:t>
            </a:r>
          </a:p>
        </p:txBody>
      </p:sp>
      <p:sp>
        <p:nvSpPr>
          <p:cNvPr id="16" name="TextBox 15"/>
          <p:cNvSpPr txBox="1"/>
          <p:nvPr/>
        </p:nvSpPr>
        <p:spPr>
          <a:xfrm>
            <a:off x="7068312" y="2194560"/>
            <a:ext cx="274320" cy="365760"/>
          </a:xfrm>
          <a:prstGeom prst="rect">
            <a:avLst/>
          </a:prstGeom>
          <a:noFill/>
        </p:spPr>
        <p:txBody>
          <a:bodyPr wrap="square" lIns="0" rIns="0" tIns="0" bIns="0">
            <a:spAutoFit/>
          </a:bodyPr>
          <a:lstStyle/>
          <a:p>
            <a:pPr algn="ctr">
              <a:spcAft>
                <a:spcPts val="0"/>
              </a:spcAft>
            </a:pPr>
            <a:r>
              <a:rPr sz="1500" b="0" i="0">
                <a:solidFill>
                  <a:srgbClr val="595959"/>
                </a:solidFill>
                <a:latin typeface="Arial"/>
              </a:rPr>
              <a:t>×</a:t>
            </a:r>
          </a:p>
        </p:txBody>
      </p:sp>
      <p:sp>
        <p:nvSpPr>
          <p:cNvPr id="17" name="Rounded Rectangle 16"/>
          <p:cNvSpPr/>
          <p:nvPr/>
        </p:nvSpPr>
        <p:spPr>
          <a:xfrm>
            <a:off x="7342632" y="1737360"/>
            <a:ext cx="1481328" cy="1298448"/>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34072" y="1828800"/>
            <a:ext cx="1298448" cy="1143000"/>
          </a:xfrm>
          <a:prstGeom prst="rect">
            <a:avLst/>
          </a:prstGeom>
          <a:noFill/>
        </p:spPr>
        <p:txBody>
          <a:bodyPr wrap="square" lIns="0" rIns="0" tIns="0" bIns="0">
            <a:spAutoFit/>
          </a:bodyPr>
          <a:lstStyle/>
          <a:p>
            <a:pPr algn="ctr">
              <a:spcAft>
                <a:spcPts val="100"/>
              </a:spcAft>
            </a:pPr>
            <a:r>
              <a:rPr sz="2800" b="1" i="0">
                <a:solidFill>
                  <a:srgbClr val="0065BD"/>
                </a:solidFill>
                <a:latin typeface="Arial"/>
              </a:rPr>
              <a:t>7</a:t>
            </a:r>
          </a:p>
          <a:p>
            <a:pPr algn="ctr">
              <a:spcAft>
                <a:spcPts val="200"/>
              </a:spcAft>
            </a:pPr>
            <a:r>
              <a:rPr sz="950" b="1" i="0">
                <a:solidFill>
                  <a:srgbClr val="000000"/>
                </a:solidFill>
                <a:latin typeface="Arial"/>
              </a:rPr>
              <a:t>seeds</a:t>
            </a:r>
          </a:p>
          <a:p>
            <a:pPr algn="ctr">
              <a:spcAft>
                <a:spcPts val="0"/>
              </a:spcAft>
            </a:pPr>
            <a:r>
              <a:rPr sz="750" b="0" i="0">
                <a:solidFill>
                  <a:srgbClr val="595959"/>
                </a:solidFill>
                <a:latin typeface="Arial"/>
              </a:rPr>
              <a:t>per configuration</a:t>
            </a:r>
          </a:p>
        </p:txBody>
      </p:sp>
      <p:sp>
        <p:nvSpPr>
          <p:cNvPr id="19" name="TextBox 18"/>
          <p:cNvSpPr txBox="1"/>
          <p:nvPr/>
        </p:nvSpPr>
        <p:spPr>
          <a:xfrm>
            <a:off x="320040" y="3310128"/>
            <a:ext cx="8503920" cy="1554480"/>
          </a:xfrm>
          <a:prstGeom prst="rect">
            <a:avLst/>
          </a:prstGeom>
          <a:noFill/>
        </p:spPr>
        <p:txBody>
          <a:bodyPr wrap="square" lIns="0" rIns="0" tIns="0" bIns="0">
            <a:spAutoFit/>
          </a:bodyPr>
          <a:lstStyle/>
          <a:p>
            <a:pPr algn="l">
              <a:spcAft>
                <a:spcPts val="600"/>
              </a:spcAft>
            </a:pPr>
            <a:r>
              <a:rPr sz="1250" b="1" i="0">
                <a:solidFill>
                  <a:srgbClr val="003359"/>
                </a:solidFill>
                <a:latin typeface="Arial"/>
              </a:rPr>
              <a:t>= 1,260 instances · 6,300 timed solver runs · CVRPLIB rounded-distance convention</a:t>
            </a:r>
          </a:p>
          <a:p>
            <a:pPr algn="l">
              <a:spcAft>
                <a:spcPts val="400"/>
              </a:spcAft>
            </a:pPr>
            <a:r>
              <a:rPr sz="1050" b="0" i="0">
                <a:solidFill>
                  <a:srgbClr val="000000"/>
                </a:solidFill>
                <a:latin typeface="Arial"/>
              </a:rPr>
              <a:t>•  Label = solver with the lowest feasible cost within 20 s (exactly one run ever timed out).</a:t>
            </a:r>
          </a:p>
          <a:p>
            <a:pPr algn="l">
              <a:spcAft>
                <a:spcPts val="400"/>
              </a:spcAft>
            </a:pPr>
            <a:r>
              <a:rPr sz="1050" b="0" i="0">
                <a:solidFill>
                  <a:srgbClr val="000000"/>
                </a:solidFill>
                <a:latin typeface="Arial"/>
              </a:rPr>
              <a:t>•  Stratified 80/20 split: 1,008 training / 252 test instances, disjoint by construction.</a:t>
            </a:r>
          </a:p>
          <a:p>
            <a:pPr algn="l">
              <a:spcAft>
                <a:spcPts val="400"/>
              </a:spcAft>
            </a:pPr>
            <a:r>
              <a:rPr sz="1050" b="0" i="0">
                <a:solidFill>
                  <a:srgbClr val="000000"/>
                </a:solidFill>
                <a:latin typeface="Arial"/>
              </a:rPr>
              <a:t>•  Every instance regenerable from a stable ID; full generation manifests saved with the results.</a:t>
            </a:r>
          </a:p>
        </p:txBody>
      </p:sp>
      <p:sp>
        <p:nvSpPr>
          <p:cNvPr id="20" name="TextBox 19"/>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21" name="TextBox 20"/>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38 Features the Model Sees Before Solving</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Cheap descriptive statistics — in the spirit of the paper's instance characterization</a:t>
            </a:r>
          </a:p>
        </p:txBody>
      </p:sp>
      <p:sp>
        <p:nvSpPr>
          <p:cNvPr id="5" name="Oval 4"/>
          <p:cNvSpPr/>
          <p:nvPr/>
        </p:nvSpPr>
        <p:spPr>
          <a:xfrm>
            <a:off x="384048" y="1810511"/>
            <a:ext cx="365760" cy="365760"/>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9144" bIns="9144"/>
          <a:lstStyle/>
          <a:p>
            <a:pPr algn="ctr"/>
            <a:r>
              <a:rPr sz="1200" b="1">
                <a:solidFill>
                  <a:srgbClr val="FFFFFF"/>
                </a:solidFill>
                <a:latin typeface="Arial"/>
              </a:rPr>
              <a:t>1</a:t>
            </a:r>
          </a:p>
        </p:txBody>
      </p:sp>
      <p:sp>
        <p:nvSpPr>
          <p:cNvPr id="6" name="TextBox 5"/>
          <p:cNvSpPr txBox="1"/>
          <p:nvPr/>
        </p:nvSpPr>
        <p:spPr>
          <a:xfrm>
            <a:off x="914400" y="1755648"/>
            <a:ext cx="5074920" cy="548640"/>
          </a:xfrm>
          <a:prstGeom prst="rect">
            <a:avLst/>
          </a:prstGeom>
          <a:noFill/>
        </p:spPr>
        <p:txBody>
          <a:bodyPr wrap="square" lIns="0" rIns="0" tIns="0" bIns="0">
            <a:spAutoFit/>
          </a:bodyPr>
          <a:lstStyle/>
          <a:p>
            <a:pPr algn="l">
              <a:spcAft>
                <a:spcPts val="100"/>
              </a:spcAft>
            </a:pPr>
            <a:r>
              <a:rPr sz="1100" b="1" i="0">
                <a:solidFill>
                  <a:srgbClr val="003359"/>
                </a:solidFill>
                <a:latin typeface="Arial"/>
              </a:rPr>
              <a:t>Size &amp; capacity</a:t>
            </a:r>
          </a:p>
          <a:p>
            <a:pPr algn="l">
              <a:spcAft>
                <a:spcPts val="0"/>
              </a:spcAft>
            </a:pPr>
            <a:r>
              <a:rPr sz="900" b="0" i="0">
                <a:solidFill>
                  <a:srgbClr val="000000"/>
                </a:solidFill>
                <a:latin typeface="Arial"/>
              </a:rPr>
              <a:t>n, Q, total demand, capacity pressure, minimum-fleet bound</a:t>
            </a:r>
          </a:p>
        </p:txBody>
      </p:sp>
      <p:sp>
        <p:nvSpPr>
          <p:cNvPr id="7" name="Oval 6"/>
          <p:cNvSpPr/>
          <p:nvPr/>
        </p:nvSpPr>
        <p:spPr>
          <a:xfrm>
            <a:off x="384048" y="2386583"/>
            <a:ext cx="365760" cy="365760"/>
          </a:xfrm>
          <a:prstGeom prst="ellipse">
            <a:avLst/>
          </a:prstGeom>
          <a:solidFill>
            <a:srgbClr val="005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9144" bIns="9144"/>
          <a:lstStyle/>
          <a:p>
            <a:pPr algn="ctr"/>
            <a:r>
              <a:rPr sz="1200" b="1">
                <a:solidFill>
                  <a:srgbClr val="FFFFFF"/>
                </a:solidFill>
                <a:latin typeface="Arial"/>
              </a:rPr>
              <a:t>2</a:t>
            </a:r>
          </a:p>
        </p:txBody>
      </p:sp>
      <p:sp>
        <p:nvSpPr>
          <p:cNvPr id="8" name="TextBox 7"/>
          <p:cNvSpPr txBox="1"/>
          <p:nvPr/>
        </p:nvSpPr>
        <p:spPr>
          <a:xfrm>
            <a:off x="914400" y="2331720"/>
            <a:ext cx="5074920" cy="548640"/>
          </a:xfrm>
          <a:prstGeom prst="rect">
            <a:avLst/>
          </a:prstGeom>
          <a:noFill/>
        </p:spPr>
        <p:txBody>
          <a:bodyPr wrap="square" lIns="0" rIns="0" tIns="0" bIns="0">
            <a:spAutoFit/>
          </a:bodyPr>
          <a:lstStyle/>
          <a:p>
            <a:pPr algn="l">
              <a:spcAft>
                <a:spcPts val="100"/>
              </a:spcAft>
            </a:pPr>
            <a:r>
              <a:rPr sz="1100" b="1" i="0">
                <a:solidFill>
                  <a:srgbClr val="003359"/>
                </a:solidFill>
                <a:latin typeface="Arial"/>
              </a:rPr>
              <a:t>Demand shape</a:t>
            </a:r>
          </a:p>
          <a:p>
            <a:pPr algn="l">
              <a:spcAft>
                <a:spcPts val="0"/>
              </a:spcAft>
            </a:pPr>
            <a:r>
              <a:rPr sz="900" b="0" i="0">
                <a:solidFill>
                  <a:srgbClr val="000000"/>
                </a:solidFill>
                <a:latin typeface="Arial"/>
              </a:rPr>
              <a:t>mean, spread, coefficient of variation, quantiles</a:t>
            </a:r>
          </a:p>
        </p:txBody>
      </p:sp>
      <p:sp>
        <p:nvSpPr>
          <p:cNvPr id="9" name="Oval 8"/>
          <p:cNvSpPr/>
          <p:nvPr/>
        </p:nvSpPr>
        <p:spPr>
          <a:xfrm>
            <a:off x="384048" y="2962655"/>
            <a:ext cx="365760" cy="365760"/>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9144" bIns="9144"/>
          <a:lstStyle/>
          <a:p>
            <a:pPr algn="ctr"/>
            <a:r>
              <a:rPr sz="1200" b="1">
                <a:solidFill>
                  <a:srgbClr val="FFFFFF"/>
                </a:solidFill>
                <a:latin typeface="Arial"/>
              </a:rPr>
              <a:t>3</a:t>
            </a:r>
          </a:p>
        </p:txBody>
      </p:sp>
      <p:sp>
        <p:nvSpPr>
          <p:cNvPr id="10" name="TextBox 9"/>
          <p:cNvSpPr txBox="1"/>
          <p:nvPr/>
        </p:nvSpPr>
        <p:spPr>
          <a:xfrm>
            <a:off x="914400" y="2907791"/>
            <a:ext cx="5074920" cy="548640"/>
          </a:xfrm>
          <a:prstGeom prst="rect">
            <a:avLst/>
          </a:prstGeom>
          <a:noFill/>
        </p:spPr>
        <p:txBody>
          <a:bodyPr wrap="square" lIns="0" rIns="0" tIns="0" bIns="0">
            <a:spAutoFit/>
          </a:bodyPr>
          <a:lstStyle/>
          <a:p>
            <a:pPr algn="l">
              <a:spcAft>
                <a:spcPts val="100"/>
              </a:spcAft>
            </a:pPr>
            <a:r>
              <a:rPr sz="1100" b="1" i="0">
                <a:solidFill>
                  <a:srgbClr val="003359"/>
                </a:solidFill>
                <a:latin typeface="Arial"/>
              </a:rPr>
              <a:t>Depot geometry</a:t>
            </a:r>
          </a:p>
          <a:p>
            <a:pPr algn="l">
              <a:spcAft>
                <a:spcPts val="0"/>
              </a:spcAft>
            </a:pPr>
            <a:r>
              <a:rPr sz="900" b="0" i="0">
                <a:solidFill>
                  <a:srgbClr val="000000"/>
                </a:solidFill>
                <a:latin typeface="Arial"/>
              </a:rPr>
              <a:t>depot centrality, distance-to-customer statistics</a:t>
            </a:r>
          </a:p>
        </p:txBody>
      </p:sp>
      <p:sp>
        <p:nvSpPr>
          <p:cNvPr id="11" name="Oval 10"/>
          <p:cNvSpPr/>
          <p:nvPr/>
        </p:nvSpPr>
        <p:spPr>
          <a:xfrm>
            <a:off x="384048" y="3538727"/>
            <a:ext cx="365760" cy="365760"/>
          </a:xfrm>
          <a:prstGeom prst="ellipse">
            <a:avLst/>
          </a:prstGeom>
          <a:solidFill>
            <a:srgbClr val="005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9144" bIns="9144"/>
          <a:lstStyle/>
          <a:p>
            <a:pPr algn="ctr"/>
            <a:r>
              <a:rPr sz="1200" b="1">
                <a:solidFill>
                  <a:srgbClr val="FFFFFF"/>
                </a:solidFill>
                <a:latin typeface="Arial"/>
              </a:rPr>
              <a:t>4</a:t>
            </a:r>
          </a:p>
        </p:txBody>
      </p:sp>
      <p:sp>
        <p:nvSpPr>
          <p:cNvPr id="12" name="TextBox 11"/>
          <p:cNvSpPr txBox="1"/>
          <p:nvPr/>
        </p:nvSpPr>
        <p:spPr>
          <a:xfrm>
            <a:off x="914400" y="3483863"/>
            <a:ext cx="5074920" cy="548640"/>
          </a:xfrm>
          <a:prstGeom prst="rect">
            <a:avLst/>
          </a:prstGeom>
          <a:noFill/>
        </p:spPr>
        <p:txBody>
          <a:bodyPr wrap="square" lIns="0" rIns="0" tIns="0" bIns="0">
            <a:spAutoFit/>
          </a:bodyPr>
          <a:lstStyle/>
          <a:p>
            <a:pPr algn="l">
              <a:spcAft>
                <a:spcPts val="100"/>
              </a:spcAft>
            </a:pPr>
            <a:r>
              <a:rPr sz="1100" b="1" i="0">
                <a:solidFill>
                  <a:srgbClr val="003359"/>
                </a:solidFill>
                <a:latin typeface="Arial"/>
              </a:rPr>
              <a:t>Customer geometry</a:t>
            </a:r>
          </a:p>
          <a:p>
            <a:pPr algn="l">
              <a:spcAft>
                <a:spcPts val="0"/>
              </a:spcAft>
            </a:pPr>
            <a:r>
              <a:rPr sz="900" b="0" i="0">
                <a:solidFill>
                  <a:srgbClr val="000000"/>
                </a:solidFill>
                <a:latin typeface="Arial"/>
              </a:rPr>
              <a:t>nearest-neighbor &amp; pairwise spread, cluster separation</a:t>
            </a:r>
          </a:p>
        </p:txBody>
      </p:sp>
      <p:sp>
        <p:nvSpPr>
          <p:cNvPr id="13" name="Oval 12"/>
          <p:cNvSpPr/>
          <p:nvPr/>
        </p:nvSpPr>
        <p:spPr>
          <a:xfrm>
            <a:off x="384048" y="4114800"/>
            <a:ext cx="365760" cy="365760"/>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9144" bIns="9144"/>
          <a:lstStyle/>
          <a:p>
            <a:pPr algn="ctr"/>
            <a:r>
              <a:rPr sz="1200" b="1">
                <a:solidFill>
                  <a:srgbClr val="FFFFFF"/>
                </a:solidFill>
                <a:latin typeface="Arial"/>
              </a:rPr>
              <a:t>5</a:t>
            </a:r>
          </a:p>
        </p:txBody>
      </p:sp>
      <p:sp>
        <p:nvSpPr>
          <p:cNvPr id="14" name="TextBox 13"/>
          <p:cNvSpPr txBox="1"/>
          <p:nvPr/>
        </p:nvSpPr>
        <p:spPr>
          <a:xfrm>
            <a:off x="914400" y="4059935"/>
            <a:ext cx="5074920" cy="548640"/>
          </a:xfrm>
          <a:prstGeom prst="rect">
            <a:avLst/>
          </a:prstGeom>
          <a:noFill/>
        </p:spPr>
        <p:txBody>
          <a:bodyPr wrap="square" lIns="0" rIns="0" tIns="0" bIns="0">
            <a:spAutoFit/>
          </a:bodyPr>
          <a:lstStyle/>
          <a:p>
            <a:pPr algn="l">
              <a:spcAft>
                <a:spcPts val="100"/>
              </a:spcAft>
            </a:pPr>
            <a:r>
              <a:rPr sz="1100" b="1" i="0">
                <a:solidFill>
                  <a:srgbClr val="003359"/>
                </a:solidFill>
                <a:latin typeface="Arial"/>
              </a:rPr>
              <a:t>Ring occupancy</a:t>
            </a:r>
          </a:p>
          <a:p>
            <a:pPr algn="l">
              <a:spcAft>
                <a:spcPts val="0"/>
              </a:spcAft>
            </a:pPr>
            <a:r>
              <a:rPr sz="900" b="0" i="0">
                <a:solidFill>
                  <a:srgbClr val="000000"/>
                </a:solidFill>
                <a:latin typeface="Arial"/>
              </a:rPr>
              <a:t>customer share in 5 concentric rings — the paper's “circular convolution”</a:t>
            </a:r>
          </a:p>
        </p:txBody>
      </p:sp>
      <p:sp>
        <p:nvSpPr>
          <p:cNvPr id="15" name="Rounded Rectangle 14"/>
          <p:cNvSpPr/>
          <p:nvPr/>
        </p:nvSpPr>
        <p:spPr>
          <a:xfrm>
            <a:off x="6263640" y="1737360"/>
            <a:ext cx="2560320" cy="237744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1901952"/>
            <a:ext cx="2194560" cy="2103120"/>
          </a:xfrm>
          <a:prstGeom prst="rect">
            <a:avLst/>
          </a:prstGeom>
          <a:noFill/>
        </p:spPr>
        <p:txBody>
          <a:bodyPr wrap="square" lIns="0" rIns="0" tIns="0" bIns="0">
            <a:spAutoFit/>
          </a:bodyPr>
          <a:lstStyle/>
          <a:p>
            <a:pPr algn="l">
              <a:spcAft>
                <a:spcPts val="500"/>
              </a:spcAft>
            </a:pPr>
            <a:r>
              <a:rPr sz="1200" b="1" i="0">
                <a:solidFill>
                  <a:srgbClr val="003359"/>
                </a:solidFill>
                <a:latin typeface="Arial"/>
              </a:rPr>
              <a:t>Leakage guard</a:t>
            </a:r>
          </a:p>
          <a:p>
            <a:pPr algn="l">
              <a:spcAft>
                <a:spcPts val="500"/>
              </a:spcAft>
            </a:pPr>
            <a:r>
              <a:rPr sz="900" b="0" i="0">
                <a:solidFill>
                  <a:srgbClr val="000000"/>
                </a:solidFill>
                <a:latin typeface="Arial"/>
              </a:rPr>
              <a:t>•  Solver costs, runtimes, labels, seeds, generator categories: blocked from the feature matrix.</a:t>
            </a:r>
          </a:p>
          <a:p>
            <a:pPr algn="l">
              <a:spcAft>
                <a:spcPts val="500"/>
              </a:spcAft>
            </a:pPr>
            <a:r>
              <a:rPr sz="900" b="0" i="0">
                <a:solidFill>
                  <a:srgbClr val="000000"/>
                </a:solidFill>
                <a:latin typeface="Arial"/>
              </a:rPr>
              <a:t>•  Enforced by explicit checks — the pipeline rejects prohibited columns.</a:t>
            </a:r>
          </a:p>
        </p:txBody>
      </p:sp>
      <p:sp>
        <p:nvSpPr>
          <p:cNvPr id="17" name="TextBox 16"/>
          <p:cNvSpPr txBox="1"/>
          <p:nvPr/>
        </p:nvSpPr>
        <p:spPr>
          <a:xfrm>
            <a:off x="320040" y="4590288"/>
            <a:ext cx="8503920" cy="274320"/>
          </a:xfrm>
          <a:prstGeom prst="rect">
            <a:avLst/>
          </a:prstGeom>
          <a:noFill/>
        </p:spPr>
        <p:txBody>
          <a:bodyPr wrap="square" lIns="0" rIns="0" tIns="0" bIns="0">
            <a:spAutoFit/>
          </a:bodyPr>
          <a:lstStyle/>
          <a:p>
            <a:pPr algn="l">
              <a:spcAft>
                <a:spcPts val="0"/>
              </a:spcAft>
            </a:pPr>
            <a:r>
              <a:rPr sz="1000" b="0" i="1">
                <a:solidFill>
                  <a:srgbClr val="595959"/>
                </a:solidFill>
                <a:latin typeface="Arial"/>
              </a:rPr>
              <a:t>Engineered around three hypotheses: demand structure, depot geometry, instance size — tested on the next two slides.</a:t>
            </a:r>
          </a:p>
        </p:txBody>
      </p:sp>
      <p:sp>
        <p:nvSpPr>
          <p:cNvPr id="18" name="TextBox 17"/>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19" name="TextBox 18"/>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How We Measure a Selector</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Two standard baselines from the algorithm-selection literature — and the yardstick between them</a:t>
            </a:r>
          </a:p>
        </p:txBody>
      </p:sp>
      <p:sp>
        <p:nvSpPr>
          <p:cNvPr id="5" name="Rounded Rectangle 4"/>
          <p:cNvSpPr/>
          <p:nvPr/>
        </p:nvSpPr>
        <p:spPr>
          <a:xfrm>
            <a:off x="320040" y="1737360"/>
            <a:ext cx="4114800" cy="109728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847088"/>
            <a:ext cx="3749039" cy="914400"/>
          </a:xfrm>
          <a:prstGeom prst="rect">
            <a:avLst/>
          </a:prstGeom>
          <a:noFill/>
        </p:spPr>
        <p:txBody>
          <a:bodyPr wrap="square" lIns="0" rIns="0" tIns="0" bIns="0">
            <a:spAutoFit/>
          </a:bodyPr>
          <a:lstStyle/>
          <a:p>
            <a:pPr algn="l">
              <a:spcAft>
                <a:spcPts val="300"/>
              </a:spcAft>
            </a:pPr>
            <a:r>
              <a:rPr sz="1200" b="1" i="0">
                <a:solidFill>
                  <a:srgbClr val="003359"/>
                </a:solidFill>
                <a:latin typeface="Arial"/>
              </a:rPr>
              <a:t>SBS — Single Best Solver</a:t>
            </a:r>
          </a:p>
          <a:p>
            <a:pPr algn="l">
              <a:spcAft>
                <a:spcPts val="0"/>
              </a:spcAft>
            </a:pPr>
            <a:r>
              <a:rPr sz="950" b="0" i="0">
                <a:solidFill>
                  <a:srgbClr val="000000"/>
                </a:solidFill>
                <a:latin typeface="Arial"/>
              </a:rPr>
              <a:t>Best on average on training data (here: Mole–Jameson). What you'd deploy without ML — the baseline to beat.</a:t>
            </a:r>
          </a:p>
        </p:txBody>
      </p:sp>
      <p:sp>
        <p:nvSpPr>
          <p:cNvPr id="7" name="Rounded Rectangle 6"/>
          <p:cNvSpPr/>
          <p:nvPr/>
        </p:nvSpPr>
        <p:spPr>
          <a:xfrm>
            <a:off x="4709160" y="1737360"/>
            <a:ext cx="4114800" cy="109728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2040" y="1847088"/>
            <a:ext cx="3749039" cy="914400"/>
          </a:xfrm>
          <a:prstGeom prst="rect">
            <a:avLst/>
          </a:prstGeom>
          <a:noFill/>
        </p:spPr>
        <p:txBody>
          <a:bodyPr wrap="square" lIns="0" rIns="0" tIns="0" bIns="0">
            <a:spAutoFit/>
          </a:bodyPr>
          <a:lstStyle/>
          <a:p>
            <a:pPr algn="l">
              <a:spcAft>
                <a:spcPts val="300"/>
              </a:spcAft>
            </a:pPr>
            <a:r>
              <a:rPr sz="1200" b="1" i="0">
                <a:solidFill>
                  <a:srgbClr val="003359"/>
                </a:solidFill>
                <a:latin typeface="Arial"/>
              </a:rPr>
              <a:t>VBS — Virtual Best Solver</a:t>
            </a:r>
          </a:p>
          <a:p>
            <a:pPr algn="l">
              <a:spcAft>
                <a:spcPts val="0"/>
              </a:spcAft>
            </a:pPr>
            <a:r>
              <a:rPr sz="950" b="0" i="0">
                <a:solidFill>
                  <a:srgbClr val="000000"/>
                </a:solidFill>
                <a:latin typeface="Arial"/>
              </a:rPr>
              <a:t>An oracle that picks the true winner on every instance. Perfect selection — the ceiling.</a:t>
            </a:r>
          </a:p>
        </p:txBody>
      </p:sp>
      <p:sp>
        <p:nvSpPr>
          <p:cNvPr id="9" name="TextBox 8"/>
          <p:cNvSpPr txBox="1"/>
          <p:nvPr/>
        </p:nvSpPr>
        <p:spPr>
          <a:xfrm>
            <a:off x="320040" y="3108960"/>
            <a:ext cx="8503920" cy="320040"/>
          </a:xfrm>
          <a:prstGeom prst="rect">
            <a:avLst/>
          </a:prstGeom>
          <a:noFill/>
        </p:spPr>
        <p:txBody>
          <a:bodyPr wrap="square" lIns="0" rIns="0" tIns="0" bIns="0">
            <a:spAutoFit/>
          </a:bodyPr>
          <a:lstStyle/>
          <a:p>
            <a:pPr algn="l">
              <a:spcAft>
                <a:spcPts val="0"/>
              </a:spcAft>
            </a:pPr>
            <a:r>
              <a:rPr sz="1250" b="1" i="0">
                <a:solidFill>
                  <a:srgbClr val="003359"/>
                </a:solidFill>
                <a:latin typeface="Arial"/>
              </a:rPr>
              <a:t>m̂ — where does a selector land between oracle and no-ML baseline?</a:t>
            </a:r>
          </a:p>
        </p:txBody>
      </p:sp>
      <p:cxnSp>
        <p:nvCxnSpPr>
          <p:cNvPr id="10" name="Connector 9"/>
          <p:cNvCxnSpPr/>
          <p:nvPr/>
        </p:nvCxnSpPr>
        <p:spPr>
          <a:xfrm>
            <a:off x="914400" y="3977639"/>
            <a:ext cx="7315200" cy="0"/>
          </a:xfrm>
          <a:prstGeom prst="line">
            <a:avLst/>
          </a:prstGeom>
          <a:ln w="508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841248" y="3904487"/>
            <a:ext cx="146304" cy="146304"/>
          </a:xfrm>
          <a:prstGeom prst="ellipse">
            <a:avLst/>
          </a:prstGeom>
          <a:solidFill>
            <a:srgbClr val="A2A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156448" y="3904487"/>
            <a:ext cx="146304" cy="146304"/>
          </a:xfrm>
          <a:prstGeom prst="ellipse">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4142231"/>
            <a:ext cx="3108960" cy="274320"/>
          </a:xfrm>
          <a:prstGeom prst="rect">
            <a:avLst/>
          </a:prstGeom>
          <a:noFill/>
        </p:spPr>
        <p:txBody>
          <a:bodyPr wrap="square" lIns="0" rIns="0" tIns="0" bIns="0">
            <a:spAutoFit/>
          </a:bodyPr>
          <a:lstStyle/>
          <a:p>
            <a:pPr algn="l">
              <a:spcAft>
                <a:spcPts val="0"/>
              </a:spcAft>
            </a:pPr>
            <a:r>
              <a:rPr sz="950" b="1" i="0">
                <a:solidFill>
                  <a:srgbClr val="A2AD00"/>
                </a:solidFill>
                <a:latin typeface="Arial"/>
              </a:rPr>
              <a:t>0 = selects like the oracle (VBS)</a:t>
            </a:r>
          </a:p>
        </p:txBody>
      </p:sp>
      <p:sp>
        <p:nvSpPr>
          <p:cNvPr id="14" name="TextBox 13"/>
          <p:cNvSpPr txBox="1"/>
          <p:nvPr/>
        </p:nvSpPr>
        <p:spPr>
          <a:xfrm>
            <a:off x="5577840" y="4142231"/>
            <a:ext cx="3108960" cy="274320"/>
          </a:xfrm>
          <a:prstGeom prst="rect">
            <a:avLst/>
          </a:prstGeom>
          <a:noFill/>
        </p:spPr>
        <p:txBody>
          <a:bodyPr wrap="square" lIns="0" rIns="0" tIns="0" bIns="0">
            <a:spAutoFit/>
          </a:bodyPr>
          <a:lstStyle/>
          <a:p>
            <a:pPr algn="r">
              <a:spcAft>
                <a:spcPts val="0"/>
              </a:spcAft>
            </a:pPr>
            <a:r>
              <a:rPr sz="950" b="1" i="0">
                <a:solidFill>
                  <a:srgbClr val="595959"/>
                </a:solidFill>
                <a:latin typeface="Arial"/>
              </a:rPr>
              <a:t>1 = no better than SBS</a:t>
            </a:r>
          </a:p>
        </p:txBody>
      </p:sp>
      <p:sp>
        <p:nvSpPr>
          <p:cNvPr id="15" name="Oval 14"/>
          <p:cNvSpPr/>
          <p:nvPr/>
        </p:nvSpPr>
        <p:spPr>
          <a:xfrm>
            <a:off x="6243523" y="3886200"/>
            <a:ext cx="182880" cy="182880"/>
          </a:xfrm>
          <a:prstGeom prst="ellipse">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37683" y="3474720"/>
            <a:ext cx="2194560" cy="292608"/>
          </a:xfrm>
          <a:prstGeom prst="rect">
            <a:avLst/>
          </a:prstGeom>
          <a:noFill/>
        </p:spPr>
        <p:txBody>
          <a:bodyPr wrap="square" lIns="0" rIns="0" tIns="0" bIns="0">
            <a:spAutoFit/>
          </a:bodyPr>
          <a:lstStyle/>
          <a:p>
            <a:pPr algn="ctr">
              <a:spcAft>
                <a:spcPts val="0"/>
              </a:spcAft>
            </a:pPr>
            <a:r>
              <a:rPr sz="1000" b="1" i="0">
                <a:solidFill>
                  <a:srgbClr val="E37222"/>
                </a:solidFill>
                <a:latin typeface="Arial"/>
              </a:rPr>
              <a:t>this project: 0.741</a:t>
            </a:r>
          </a:p>
        </p:txBody>
      </p:sp>
      <p:sp>
        <p:nvSpPr>
          <p:cNvPr id="17" name="TextBox 16"/>
          <p:cNvSpPr txBox="1"/>
          <p:nvPr/>
        </p:nvSpPr>
        <p:spPr>
          <a:xfrm>
            <a:off x="320040" y="4572000"/>
            <a:ext cx="8503920" cy="274320"/>
          </a:xfrm>
          <a:prstGeom prst="rect">
            <a:avLst/>
          </a:prstGeom>
          <a:noFill/>
        </p:spPr>
        <p:txBody>
          <a:bodyPr wrap="square" lIns="0" rIns="0" tIns="0" bIns="0">
            <a:spAutoFit/>
          </a:bodyPr>
          <a:lstStyle/>
          <a:p>
            <a:pPr algn="l">
              <a:spcAft>
                <a:spcPts val="0"/>
              </a:spcAft>
            </a:pPr>
            <a:r>
              <a:rPr sz="950" b="0" i="0">
                <a:solidFill>
                  <a:srgbClr val="595959"/>
                </a:solidFill>
                <a:latin typeface="Arial"/>
              </a:rPr>
              <a:t>Also reported: regret (cost above the per-instance best) and the share of instances within 1% of it.</a:t>
            </a:r>
          </a:p>
        </p:txBody>
      </p:sp>
      <p:sp>
        <p:nvSpPr>
          <p:cNvPr id="18" name="TextBox 17"/>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19" name="TextBox 18"/>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Main Result: The Selector Beats the Baseline</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Held-out test set, 252 instances — Random Forest is the best of four ML models</a:t>
            </a:r>
          </a:p>
        </p:txBody>
      </p:sp>
      <p:graphicFrame>
        <p:nvGraphicFramePr>
          <p:cNvPr id="5" name="Chart 4"/>
          <p:cNvGraphicFramePr>
            <a:graphicFrameLocks noGrp="1"/>
          </p:cNvGraphicFramePr>
          <p:nvPr/>
        </p:nvGraphicFramePr>
        <p:xfrm>
          <a:off x="320040" y="1737360"/>
          <a:ext cx="4754880" cy="3063240"/>
        </p:xfrm>
        <a:graphic>
          <a:graphicData uri="http://schemas.openxmlformats.org/drawingml/2006/chart">
            <c:chart xmlns:c="http://schemas.openxmlformats.org/drawingml/2006/chart" r:id="rId2"/>
          </a:graphicData>
        </a:graphic>
      </p:graphicFrame>
      <p:sp>
        <p:nvSpPr>
          <p:cNvPr id="6" name="TextBox 5"/>
          <p:cNvSpPr txBox="1"/>
          <p:nvPr/>
        </p:nvSpPr>
        <p:spPr>
          <a:xfrm>
            <a:off x="5440680" y="1783080"/>
            <a:ext cx="3383280" cy="914400"/>
          </a:xfrm>
          <a:prstGeom prst="rect">
            <a:avLst/>
          </a:prstGeom>
          <a:noFill/>
        </p:spPr>
        <p:txBody>
          <a:bodyPr wrap="square" lIns="0" rIns="0" tIns="0" bIns="0">
            <a:spAutoFit/>
          </a:bodyPr>
          <a:lstStyle/>
          <a:p>
            <a:pPr algn="l">
              <a:spcAft>
                <a:spcPts val="100"/>
              </a:spcAft>
            </a:pPr>
            <a:r>
              <a:rPr sz="1900" b="1" i="0">
                <a:solidFill>
                  <a:srgbClr val="003359"/>
                </a:solidFill>
                <a:latin typeface="Arial"/>
              </a:rPr>
              <a:t>63.1%  vs  45.2%</a:t>
            </a:r>
          </a:p>
          <a:p>
            <a:pPr algn="l">
              <a:spcAft>
                <a:spcPts val="400"/>
              </a:spcAft>
            </a:pPr>
            <a:r>
              <a:rPr sz="950" b="0" i="0">
                <a:solidFill>
                  <a:srgbClr val="595959"/>
                </a:solidFill>
                <a:latin typeface="Arial"/>
              </a:rPr>
              <a:t>instances within 1% of best possible — Random Forest vs SBS</a:t>
            </a:r>
          </a:p>
        </p:txBody>
      </p:sp>
      <p:sp>
        <p:nvSpPr>
          <p:cNvPr id="7" name="TextBox 6"/>
          <p:cNvSpPr txBox="1"/>
          <p:nvPr/>
        </p:nvSpPr>
        <p:spPr>
          <a:xfrm>
            <a:off x="5440680" y="2606040"/>
            <a:ext cx="3383280" cy="914400"/>
          </a:xfrm>
          <a:prstGeom prst="rect">
            <a:avLst/>
          </a:prstGeom>
          <a:noFill/>
        </p:spPr>
        <p:txBody>
          <a:bodyPr wrap="square" lIns="0" rIns="0" tIns="0" bIns="0">
            <a:spAutoFit/>
          </a:bodyPr>
          <a:lstStyle/>
          <a:p>
            <a:pPr algn="l">
              <a:spcAft>
                <a:spcPts val="100"/>
              </a:spcAft>
            </a:pPr>
            <a:r>
              <a:rPr sz="1900" b="1" i="0">
                <a:solidFill>
                  <a:srgbClr val="003359"/>
                </a:solidFill>
                <a:latin typeface="Arial"/>
              </a:rPr>
              <a:t>1.24%  vs  1.67%</a:t>
            </a:r>
          </a:p>
          <a:p>
            <a:pPr algn="l">
              <a:spcAft>
                <a:spcPts val="400"/>
              </a:spcAft>
            </a:pPr>
            <a:r>
              <a:rPr sz="950" b="0" i="0">
                <a:solidFill>
                  <a:srgbClr val="595959"/>
                </a:solidFill>
                <a:latin typeface="Arial"/>
              </a:rPr>
              <a:t>mean regret (extra route length over per-instance best)</a:t>
            </a:r>
          </a:p>
        </p:txBody>
      </p:sp>
      <p:sp>
        <p:nvSpPr>
          <p:cNvPr id="8" name="TextBox 7"/>
          <p:cNvSpPr txBox="1"/>
          <p:nvPr/>
        </p:nvSpPr>
        <p:spPr>
          <a:xfrm>
            <a:off x="5440680" y="3429000"/>
            <a:ext cx="3383280" cy="914400"/>
          </a:xfrm>
          <a:prstGeom prst="rect">
            <a:avLst/>
          </a:prstGeom>
          <a:noFill/>
        </p:spPr>
        <p:txBody>
          <a:bodyPr wrap="square" lIns="0" rIns="0" tIns="0" bIns="0">
            <a:spAutoFit/>
          </a:bodyPr>
          <a:lstStyle/>
          <a:p>
            <a:pPr algn="l">
              <a:spcAft>
                <a:spcPts val="100"/>
              </a:spcAft>
            </a:pPr>
            <a:r>
              <a:rPr sz="1900" b="1" i="0">
                <a:solidFill>
                  <a:srgbClr val="E37222"/>
                </a:solidFill>
                <a:latin typeface="Arial"/>
              </a:rPr>
              <a:t>m̂ = 0.741</a:t>
            </a:r>
          </a:p>
          <a:p>
            <a:pPr algn="l">
              <a:spcAft>
                <a:spcPts val="400"/>
              </a:spcAft>
            </a:pPr>
            <a:r>
              <a:rPr sz="950" b="0" i="0">
                <a:solidFill>
                  <a:srgbClr val="595959"/>
                </a:solidFill>
                <a:latin typeface="Arial"/>
              </a:rPr>
              <a:t>closes ~26% of the SBS → oracle gap</a:t>
            </a:r>
          </a:p>
        </p:txBody>
      </p:sp>
      <p:sp>
        <p:nvSpPr>
          <p:cNvPr id="9" name="TextBox 8"/>
          <p:cNvSpPr txBox="1"/>
          <p:nvPr/>
        </p:nvSpPr>
        <p:spPr>
          <a:xfrm>
            <a:off x="5440680" y="4160520"/>
            <a:ext cx="3383280" cy="685800"/>
          </a:xfrm>
          <a:prstGeom prst="rect">
            <a:avLst/>
          </a:prstGeom>
          <a:noFill/>
        </p:spPr>
        <p:txBody>
          <a:bodyPr wrap="square" lIns="0" rIns="0" tIns="0" bIns="0">
            <a:spAutoFit/>
          </a:bodyPr>
          <a:lstStyle/>
          <a:p>
            <a:pPr algn="l">
              <a:spcAft>
                <a:spcPts val="0"/>
              </a:spcAft>
            </a:pPr>
            <a:r>
              <a:rPr sz="900" b="0" i="0">
                <a:solidFill>
                  <a:srgbClr val="595959"/>
                </a:solidFill>
                <a:latin typeface="Arial"/>
              </a:rPr>
              <a:t>Accuracy is 40% over five classes — but wrong picks are usually cheap; a weak selector (Decision Tree, m̂ &gt; 1) is worse than no ML at all.</a:t>
            </a:r>
          </a:p>
        </p:txBody>
      </p:sp>
      <p:sp>
        <p:nvSpPr>
          <p:cNvPr id="10" name="TextBox 9"/>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11" name="TextBox 10"/>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Feature Importance: Expected vs Observed</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Permutation importance on held-out data — did our three engineering hypotheses hold?</a:t>
            </a:r>
          </a:p>
        </p:txBody>
      </p:sp>
      <p:graphicFrame>
        <p:nvGraphicFramePr>
          <p:cNvPr id="5" name="Chart 4"/>
          <p:cNvGraphicFramePr>
            <a:graphicFrameLocks noGrp="1"/>
          </p:cNvGraphicFramePr>
          <p:nvPr/>
        </p:nvGraphicFramePr>
        <p:xfrm>
          <a:off x="320040" y="1737360"/>
          <a:ext cx="4892040" cy="2926080"/>
        </p:xfrm>
        <a:graphic>
          <a:graphicData uri="http://schemas.openxmlformats.org/drawingml/2006/chart">
            <c:chart xmlns:c="http://schemas.openxmlformats.org/drawingml/2006/chart" r:id="rId2"/>
          </a:graphicData>
        </a:graphic>
      </p:graphicFrame>
      <p:sp>
        <p:nvSpPr>
          <p:cNvPr id="6" name="Rounded Rectangle 5"/>
          <p:cNvSpPr/>
          <p:nvPr/>
        </p:nvSpPr>
        <p:spPr>
          <a:xfrm>
            <a:off x="5532120" y="1783080"/>
            <a:ext cx="3291840" cy="896112"/>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87568" y="1874519"/>
            <a:ext cx="2980944" cy="731520"/>
          </a:xfrm>
          <a:prstGeom prst="rect">
            <a:avLst/>
          </a:prstGeom>
          <a:noFill/>
        </p:spPr>
        <p:txBody>
          <a:bodyPr wrap="square" lIns="0" rIns="0" tIns="0" bIns="0">
            <a:spAutoFit/>
          </a:bodyPr>
          <a:lstStyle/>
          <a:p>
            <a:pPr algn="l">
              <a:spcAft>
                <a:spcPts val="200"/>
              </a:spcAft>
            </a:pPr>
            <a:r>
              <a:rPr sz="1050" b="1" i="0">
                <a:solidFill>
                  <a:srgbClr val="A2AD00"/>
                </a:solidFill>
                <a:latin typeface="Arial"/>
              </a:rPr>
              <a:t>Confirmed</a:t>
            </a:r>
          </a:p>
          <a:p>
            <a:pPr algn="l">
              <a:spcAft>
                <a:spcPts val="0"/>
              </a:spcAft>
            </a:pPr>
            <a:r>
              <a:rPr sz="900" b="0" i="0">
                <a:solidFill>
                  <a:srgbClr val="000000"/>
                </a:solidFill>
                <a:latin typeface="Arial"/>
              </a:rPr>
              <a:t>Demand structure matters: capacity pressure &amp; demand spread top the impurity ranking.</a:t>
            </a:r>
          </a:p>
        </p:txBody>
      </p:sp>
      <p:sp>
        <p:nvSpPr>
          <p:cNvPr id="8" name="Rounded Rectangle 7"/>
          <p:cNvSpPr/>
          <p:nvPr/>
        </p:nvSpPr>
        <p:spPr>
          <a:xfrm>
            <a:off x="5532120" y="2807208"/>
            <a:ext cx="3291840" cy="896112"/>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87568" y="2898648"/>
            <a:ext cx="2980944" cy="731520"/>
          </a:xfrm>
          <a:prstGeom prst="rect">
            <a:avLst/>
          </a:prstGeom>
          <a:noFill/>
        </p:spPr>
        <p:txBody>
          <a:bodyPr wrap="square" lIns="0" rIns="0" tIns="0" bIns="0">
            <a:spAutoFit/>
          </a:bodyPr>
          <a:lstStyle/>
          <a:p>
            <a:pPr algn="l">
              <a:spcAft>
                <a:spcPts val="200"/>
              </a:spcAft>
            </a:pPr>
            <a:r>
              <a:rPr sz="1050" b="1" i="0">
                <a:solidFill>
                  <a:srgbClr val="0065BD"/>
                </a:solidFill>
                <a:latin typeface="Arial"/>
              </a:rPr>
              <a:t>Stronger than expected</a:t>
            </a:r>
          </a:p>
          <a:p>
            <a:pPr algn="l">
              <a:spcAft>
                <a:spcPts val="0"/>
              </a:spcAft>
            </a:pPr>
            <a:r>
              <a:rPr sz="900" b="0" i="0">
                <a:solidFill>
                  <a:srgbClr val="000000"/>
                </a:solidFill>
                <a:latin typeface="Arial"/>
              </a:rPr>
              <a:t>Depot centrality &amp; the ring profile are the top held-out predictors.</a:t>
            </a:r>
          </a:p>
        </p:txBody>
      </p:sp>
      <p:sp>
        <p:nvSpPr>
          <p:cNvPr id="10" name="Rounded Rectangle 9"/>
          <p:cNvSpPr/>
          <p:nvPr/>
        </p:nvSpPr>
        <p:spPr>
          <a:xfrm>
            <a:off x="5532120" y="3831336"/>
            <a:ext cx="3291840" cy="896112"/>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87568" y="3922776"/>
            <a:ext cx="2980944" cy="731520"/>
          </a:xfrm>
          <a:prstGeom prst="rect">
            <a:avLst/>
          </a:prstGeom>
          <a:noFill/>
        </p:spPr>
        <p:txBody>
          <a:bodyPr wrap="square" lIns="0" rIns="0" tIns="0" bIns="0">
            <a:spAutoFit/>
          </a:bodyPr>
          <a:lstStyle/>
          <a:p>
            <a:pPr algn="l">
              <a:spcAft>
                <a:spcPts val="200"/>
              </a:spcAft>
            </a:pPr>
            <a:r>
              <a:rPr sz="1050" b="1" i="0">
                <a:solidFill>
                  <a:srgbClr val="E37222"/>
                </a:solidFill>
                <a:latin typeface="Arial"/>
              </a:rPr>
              <a:t>Surprise</a:t>
            </a:r>
          </a:p>
          <a:p>
            <a:pPr algn="l">
              <a:spcAft>
                <a:spcPts val="0"/>
              </a:spcAft>
            </a:pPr>
            <a:r>
              <a:rPr sz="900" b="0" i="0">
                <a:solidFill>
                  <a:srgbClr val="000000"/>
                </a:solidFill>
                <a:latin typeface="Arial"/>
              </a:rPr>
              <a:t>Raw size (n) barely matters — never in the top 10. Shape beats scale.</a:t>
            </a:r>
          </a:p>
        </p:txBody>
      </p:sp>
      <p:sp>
        <p:nvSpPr>
          <p:cNvPr id="12" name="TextBox 11"/>
          <p:cNvSpPr txBox="1"/>
          <p:nvPr/>
        </p:nvSpPr>
        <p:spPr>
          <a:xfrm>
            <a:off x="320040" y="4590288"/>
            <a:ext cx="8503920" cy="274320"/>
          </a:xfrm>
          <a:prstGeom prst="rect">
            <a:avLst/>
          </a:prstGeom>
          <a:noFill/>
        </p:spPr>
        <p:txBody>
          <a:bodyPr wrap="square" lIns="0" rIns="0" tIns="0" bIns="0">
            <a:spAutoFit/>
          </a:bodyPr>
          <a:lstStyle/>
          <a:p>
            <a:pPr algn="l">
              <a:spcAft>
                <a:spcPts val="0"/>
              </a:spcAft>
            </a:pPr>
            <a:r>
              <a:rPr sz="950" b="0" i="1">
                <a:solidFill>
                  <a:srgbClr val="595959"/>
                </a:solidFill>
                <a:latin typeface="Arial"/>
              </a:rPr>
              <a:t>Importances are predictive associations, not causal claims.</a:t>
            </a:r>
          </a:p>
        </p:txBody>
      </p:sp>
      <p:sp>
        <p:nvSpPr>
          <p:cNvPr id="13" name="TextBox 12"/>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14" name="TextBox 13"/>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Which Characteristics Favor Which Solver?</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Solver win rates across 1,260 instances — the engineered characteristics visibly reshuffle the winner</a:t>
            </a:r>
          </a:p>
        </p:txBody>
      </p:sp>
      <p:sp>
        <p:nvSpPr>
          <p:cNvPr id="5" name="Rounded Rectangle 4"/>
          <p:cNvSpPr/>
          <p:nvPr/>
        </p:nvSpPr>
        <p:spPr>
          <a:xfrm>
            <a:off x="320040" y="1737360"/>
            <a:ext cx="4114800" cy="269748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883664"/>
            <a:ext cx="3749039" cy="2468880"/>
          </a:xfrm>
          <a:prstGeom prst="rect">
            <a:avLst/>
          </a:prstGeom>
          <a:noFill/>
        </p:spPr>
        <p:txBody>
          <a:bodyPr wrap="square" lIns="0" rIns="0" tIns="0" bIns="0">
            <a:spAutoFit/>
          </a:bodyPr>
          <a:lstStyle/>
          <a:p>
            <a:pPr algn="l">
              <a:spcAft>
                <a:spcPts val="500"/>
              </a:spcAft>
            </a:pPr>
            <a:r>
              <a:rPr sz="1150" b="1" i="0">
                <a:solidFill>
                  <a:srgbClr val="003359"/>
                </a:solidFill>
                <a:latin typeface="Arial"/>
              </a:rPr>
              <a:t>Demand structure — the strongest signal</a:t>
            </a:r>
          </a:p>
          <a:p>
            <a:pPr algn="l">
              <a:spcAft>
                <a:spcPts val="500"/>
              </a:spcAft>
            </a:pPr>
            <a:r>
              <a:rPr sz="950" b="1" i="0">
                <a:solidFill>
                  <a:srgbClr val="005293"/>
                </a:solidFill>
                <a:latin typeface="Arial"/>
              </a:rPr>
              <a:t>•  Even demands → route-first cluster-second (41%). </a:t>
            </a:r>
            <a:r>
              <a:rPr sz="900" b="0">
                <a:solidFill>
                  <a:srgbClr val="000000"/>
                </a:solidFill>
                <a:latin typeface="Arial"/>
              </a:rPr>
              <a:t>Cutting one giant tour is clean when demands are uniform.</a:t>
            </a:r>
          </a:p>
          <a:p>
            <a:pPr algn="l">
              <a:spcAft>
                <a:spcPts val="500"/>
              </a:spcAft>
            </a:pPr>
            <a:r>
              <a:rPr sz="950" b="1" i="0">
                <a:solidFill>
                  <a:srgbClr val="005293"/>
                </a:solidFill>
                <a:latin typeface="Arial"/>
              </a:rPr>
              <a:t>•  Lumpy demands → Clarke-Wright + 2-opt (38%). </a:t>
            </a:r>
            <a:r>
              <a:rPr sz="900" b="0">
                <a:solidFill>
                  <a:srgbClr val="000000"/>
                </a:solidFill>
                <a:latin typeface="Arial"/>
              </a:rPr>
              <a:t>Greedy savings merges absorb high variance.</a:t>
            </a:r>
          </a:p>
          <a:p>
            <a:pPr algn="l">
              <a:spcAft>
                <a:spcPts val="500"/>
              </a:spcAft>
            </a:pPr>
            <a:r>
              <a:rPr sz="950" b="1" i="0">
                <a:solidFill>
                  <a:srgbClr val="005293"/>
                </a:solidFill>
                <a:latin typeface="Arial"/>
              </a:rPr>
              <a:t>•  Tight capacity → Mole-Jameson (34%). </a:t>
            </a:r>
            <a:r>
              <a:rPr sz="900" b="0">
                <a:solidFill>
                  <a:srgbClr val="000000"/>
                </a:solidFill>
                <a:latin typeface="Arial"/>
              </a:rPr>
              <a:t>Feasibility-aware insertion pays off when vehicles run full.</a:t>
            </a:r>
          </a:p>
        </p:txBody>
      </p:sp>
      <p:sp>
        <p:nvSpPr>
          <p:cNvPr id="7" name="Rounded Rectangle 6"/>
          <p:cNvSpPr/>
          <p:nvPr/>
        </p:nvSpPr>
        <p:spPr>
          <a:xfrm>
            <a:off x="4709160" y="1737360"/>
            <a:ext cx="4114800" cy="269748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2040" y="1883664"/>
            <a:ext cx="3749039" cy="2468880"/>
          </a:xfrm>
          <a:prstGeom prst="rect">
            <a:avLst/>
          </a:prstGeom>
          <a:noFill/>
        </p:spPr>
        <p:txBody>
          <a:bodyPr wrap="square" lIns="0" rIns="0" tIns="0" bIns="0">
            <a:spAutoFit/>
          </a:bodyPr>
          <a:lstStyle/>
          <a:p>
            <a:pPr algn="l">
              <a:spcAft>
                <a:spcPts val="500"/>
              </a:spcAft>
            </a:pPr>
            <a:r>
              <a:rPr sz="1150" b="1" i="0">
                <a:solidFill>
                  <a:srgbClr val="003359"/>
                </a:solidFill>
                <a:latin typeface="Arial"/>
              </a:rPr>
              <a:t>Depot position &amp; spatial layout</a:t>
            </a:r>
          </a:p>
          <a:p>
            <a:pPr algn="l">
              <a:spcAft>
                <a:spcPts val="500"/>
              </a:spcAft>
            </a:pPr>
            <a:r>
              <a:rPr sz="950" b="1" i="0">
                <a:solidFill>
                  <a:srgbClr val="005293"/>
                </a:solidFill>
                <a:latin typeface="Arial"/>
              </a:rPr>
              <a:t>•  Central depot, radial layouts → sweep peaks (25–27%). </a:t>
            </a:r>
            <a:r>
              <a:rPr sz="900" b="0">
                <a:solidFill>
                  <a:srgbClr val="000000"/>
                </a:solidFill>
                <a:latin typeface="Arial"/>
              </a:rPr>
              <a:t>Wren-Holliday partitions by angle — it needs angular spread.</a:t>
            </a:r>
          </a:p>
          <a:p>
            <a:pPr algn="l">
              <a:spcAft>
                <a:spcPts val="500"/>
              </a:spcAft>
            </a:pPr>
            <a:r>
              <a:rPr sz="950" b="1" i="0">
                <a:solidFill>
                  <a:srgbClr val="005293"/>
                </a:solidFill>
                <a:latin typeface="Arial"/>
              </a:rPr>
              <a:t>•  Corner depot → sweep fades; Mole-Jameson leads (28%). </a:t>
            </a:r>
            <a:r>
              <a:rPr sz="900" b="0">
                <a:solidFill>
                  <a:srgbClr val="000000"/>
                </a:solidFill>
                <a:latin typeface="Arial"/>
              </a:rPr>
              <a:t>No angular spread left to sweep.</a:t>
            </a:r>
          </a:p>
          <a:p>
            <a:pPr algn="l">
              <a:spcAft>
                <a:spcPts val="500"/>
              </a:spcAft>
            </a:pPr>
            <a:r>
              <a:rPr sz="950" b="1" i="0">
                <a:solidFill>
                  <a:srgbClr val="005293"/>
                </a:solidFill>
                <a:latin typeface="Arial"/>
              </a:rPr>
              <a:t>•  Uniform / mixed scatter → Clarke-Wright leads (29%). </a:t>
            </a:r>
            <a:r>
              <a:rPr sz="900" b="0">
                <a:solidFill>
                  <a:srgbClr val="000000"/>
                </a:solidFill>
                <a:latin typeface="Arial"/>
              </a:rPr>
              <a:t>Savings thrives without exploitable structure.</a:t>
            </a:r>
          </a:p>
        </p:txBody>
      </p:sp>
      <p:sp>
        <p:nvSpPr>
          <p:cNvPr id="9" name="TextBox 8"/>
          <p:cNvSpPr txBox="1"/>
          <p:nvPr/>
        </p:nvSpPr>
        <p:spPr>
          <a:xfrm>
            <a:off x="320040" y="4572000"/>
            <a:ext cx="8503920" cy="320040"/>
          </a:xfrm>
          <a:prstGeom prst="rect">
            <a:avLst/>
          </a:prstGeom>
          <a:noFill/>
        </p:spPr>
        <p:txBody>
          <a:bodyPr wrap="square" lIns="0" rIns="0" tIns="0" bIns="0">
            <a:spAutoFit/>
          </a:bodyPr>
          <a:lstStyle/>
          <a:p>
            <a:pPr algn="l">
              <a:spcAft>
                <a:spcPts val="0"/>
              </a:spcAft>
            </a:pPr>
            <a:r>
              <a:rPr sz="1050" b="1" i="0">
                <a:solidFill>
                  <a:srgbClr val="003359"/>
                </a:solidFill>
                <a:latin typeface="Arial"/>
              </a:rPr>
              <a:t>This is the signal the Random Forest exploits — the features, not the model class, are the heart of the project.</a:t>
            </a:r>
          </a:p>
        </p:txBody>
      </p:sp>
      <p:sp>
        <p:nvSpPr>
          <p:cNvPr id="10" name="TextBox 9"/>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11" name="TextBox 10"/>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Where It Works — and Where It Struggles</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Random Forest on the test split, share of instances within 1% of best possible</a:t>
            </a:r>
          </a:p>
        </p:txBody>
      </p:sp>
      <p:sp>
        <p:nvSpPr>
          <p:cNvPr id="5" name="Rounded Rectangle 4"/>
          <p:cNvSpPr/>
          <p:nvPr/>
        </p:nvSpPr>
        <p:spPr>
          <a:xfrm>
            <a:off x="320040" y="1737360"/>
            <a:ext cx="2697480" cy="301752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883664"/>
            <a:ext cx="2331720" cy="2743200"/>
          </a:xfrm>
          <a:prstGeom prst="rect">
            <a:avLst/>
          </a:prstGeom>
          <a:noFill/>
        </p:spPr>
        <p:txBody>
          <a:bodyPr wrap="square" lIns="0" rIns="0" tIns="0" bIns="0">
            <a:spAutoFit/>
          </a:bodyPr>
          <a:lstStyle/>
          <a:p>
            <a:pPr algn="l">
              <a:spcAft>
                <a:spcPts val="500"/>
              </a:spcAft>
            </a:pPr>
            <a:r>
              <a:rPr sz="1200" b="1" i="0">
                <a:solidFill>
                  <a:srgbClr val="003359"/>
                </a:solidFill>
                <a:latin typeface="Arial"/>
              </a:rPr>
              <a:t>By instance size</a:t>
            </a:r>
          </a:p>
          <a:p>
            <a:pPr algn="l">
              <a:spcAft>
                <a:spcPts val="100"/>
              </a:spcAft>
            </a:pPr>
            <a:r>
              <a:rPr sz="1500" b="1" i="0">
                <a:solidFill>
                  <a:srgbClr val="005293"/>
                </a:solidFill>
                <a:latin typeface="Arial"/>
              </a:rPr>
              <a:t>58%  </a:t>
            </a:r>
            <a:r>
              <a:rPr sz="950">
                <a:solidFill>
                  <a:srgbClr val="000000"/>
                </a:solidFill>
                <a:latin typeface="Arial"/>
              </a:rPr>
              <a:t>20 customers</a:t>
            </a:r>
          </a:p>
          <a:p>
            <a:pPr algn="l">
              <a:spcAft>
                <a:spcPts val="100"/>
              </a:spcAft>
            </a:pPr>
            <a:r>
              <a:rPr sz="1500" b="1" i="0">
                <a:solidFill>
                  <a:srgbClr val="005293"/>
                </a:solidFill>
                <a:latin typeface="Arial"/>
              </a:rPr>
              <a:t>60%  </a:t>
            </a:r>
            <a:r>
              <a:rPr sz="950">
                <a:solidFill>
                  <a:srgbClr val="000000"/>
                </a:solidFill>
                <a:latin typeface="Arial"/>
              </a:rPr>
              <a:t>50 customers</a:t>
            </a:r>
          </a:p>
          <a:p>
            <a:pPr algn="l">
              <a:spcAft>
                <a:spcPts val="100"/>
              </a:spcAft>
            </a:pPr>
            <a:r>
              <a:rPr sz="1500" b="1" i="0">
                <a:solidFill>
                  <a:srgbClr val="005293"/>
                </a:solidFill>
                <a:latin typeface="Arial"/>
              </a:rPr>
              <a:t>71%  </a:t>
            </a:r>
            <a:r>
              <a:rPr sz="950">
                <a:solidFill>
                  <a:srgbClr val="000000"/>
                </a:solidFill>
                <a:latin typeface="Arial"/>
              </a:rPr>
              <a:t>100 customers</a:t>
            </a:r>
          </a:p>
          <a:p>
            <a:pPr algn="l">
              <a:spcAft>
                <a:spcPts val="0"/>
              </a:spcAft>
            </a:pPr>
            <a:r>
              <a:rPr sz="900" b="0" i="1">
                <a:solidFill>
                  <a:srgbClr val="595959"/>
                </a:solidFill>
                <a:latin typeface="Arial"/>
              </a:rPr>
              <a:t>More geometric structure → easier selection.</a:t>
            </a:r>
          </a:p>
        </p:txBody>
      </p:sp>
      <p:sp>
        <p:nvSpPr>
          <p:cNvPr id="7" name="Rounded Rectangle 6"/>
          <p:cNvSpPr/>
          <p:nvPr/>
        </p:nvSpPr>
        <p:spPr>
          <a:xfrm>
            <a:off x="3218688" y="1737360"/>
            <a:ext cx="2697480" cy="301752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01568" y="1883664"/>
            <a:ext cx="2331720" cy="2743200"/>
          </a:xfrm>
          <a:prstGeom prst="rect">
            <a:avLst/>
          </a:prstGeom>
          <a:noFill/>
        </p:spPr>
        <p:txBody>
          <a:bodyPr wrap="square" lIns="0" rIns="0" tIns="0" bIns="0">
            <a:spAutoFit/>
          </a:bodyPr>
          <a:lstStyle/>
          <a:p>
            <a:pPr algn="l">
              <a:spcAft>
                <a:spcPts val="500"/>
              </a:spcAft>
            </a:pPr>
            <a:r>
              <a:rPr sz="1200" b="1" i="0">
                <a:solidFill>
                  <a:srgbClr val="003359"/>
                </a:solidFill>
                <a:latin typeface="Arial"/>
              </a:rPr>
              <a:t>By demand regime</a:t>
            </a:r>
          </a:p>
          <a:p>
            <a:pPr algn="l">
              <a:spcAft>
                <a:spcPts val="100"/>
              </a:spcAft>
            </a:pPr>
            <a:r>
              <a:rPr sz="1500" b="1" i="0">
                <a:solidFill>
                  <a:srgbClr val="005293"/>
                </a:solidFill>
                <a:latin typeface="Arial"/>
              </a:rPr>
              <a:t>47%  </a:t>
            </a:r>
            <a:r>
              <a:rPr sz="950">
                <a:solidFill>
                  <a:srgbClr val="000000"/>
                </a:solidFill>
                <a:latin typeface="Arial"/>
              </a:rPr>
              <a:t>high pressure</a:t>
            </a:r>
          </a:p>
          <a:p>
            <a:pPr algn="l">
              <a:spcAft>
                <a:spcPts val="100"/>
              </a:spcAft>
            </a:pPr>
            <a:r>
              <a:rPr sz="1500" b="1" i="0">
                <a:solidFill>
                  <a:srgbClr val="005293"/>
                </a:solidFill>
                <a:latin typeface="Arial"/>
              </a:rPr>
              <a:t>67%  </a:t>
            </a:r>
            <a:r>
              <a:rPr sz="950">
                <a:solidFill>
                  <a:srgbClr val="000000"/>
                </a:solidFill>
                <a:latin typeface="Arial"/>
              </a:rPr>
              <a:t>low variance</a:t>
            </a:r>
          </a:p>
          <a:p>
            <a:pPr algn="l">
              <a:spcAft>
                <a:spcPts val="100"/>
              </a:spcAft>
            </a:pPr>
            <a:r>
              <a:rPr sz="1500" b="1" i="0">
                <a:solidFill>
                  <a:srgbClr val="005293"/>
                </a:solidFill>
                <a:latin typeface="Arial"/>
              </a:rPr>
              <a:t>69%  </a:t>
            </a:r>
            <a:r>
              <a:rPr sz="950">
                <a:solidFill>
                  <a:srgbClr val="000000"/>
                </a:solidFill>
                <a:latin typeface="Arial"/>
              </a:rPr>
              <a:t>high var. / low pressure</a:t>
            </a:r>
          </a:p>
          <a:p>
            <a:pPr algn="l">
              <a:spcAft>
                <a:spcPts val="0"/>
              </a:spcAft>
            </a:pPr>
            <a:r>
              <a:rPr sz="900" b="0" i="1">
                <a:solidFill>
                  <a:srgbClr val="595959"/>
                </a:solidFill>
                <a:latin typeface="Arial"/>
              </a:rPr>
              <a:t>Tightly constrained instances are intrinsically harder.</a:t>
            </a:r>
          </a:p>
        </p:txBody>
      </p:sp>
      <p:sp>
        <p:nvSpPr>
          <p:cNvPr id="9" name="Rounded Rectangle 8"/>
          <p:cNvSpPr/>
          <p:nvPr/>
        </p:nvSpPr>
        <p:spPr>
          <a:xfrm>
            <a:off x="6117336" y="1737360"/>
            <a:ext cx="2697480" cy="301752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0216" y="1883664"/>
            <a:ext cx="2331720" cy="2743200"/>
          </a:xfrm>
          <a:prstGeom prst="rect">
            <a:avLst/>
          </a:prstGeom>
          <a:noFill/>
        </p:spPr>
        <p:txBody>
          <a:bodyPr wrap="square" lIns="0" rIns="0" tIns="0" bIns="0">
            <a:spAutoFit/>
          </a:bodyPr>
          <a:lstStyle/>
          <a:p>
            <a:pPr algn="l">
              <a:spcAft>
                <a:spcPts val="500"/>
              </a:spcAft>
            </a:pPr>
            <a:r>
              <a:rPr sz="1200" b="1" i="0">
                <a:solidFill>
                  <a:srgbClr val="003359"/>
                </a:solidFill>
                <a:latin typeface="Arial"/>
              </a:rPr>
              <a:t>By depot position</a:t>
            </a:r>
          </a:p>
          <a:p>
            <a:pPr algn="l">
              <a:spcAft>
                <a:spcPts val="100"/>
              </a:spcAft>
            </a:pPr>
            <a:r>
              <a:rPr sz="1500" b="1" i="0">
                <a:solidFill>
                  <a:srgbClr val="005293"/>
                </a:solidFill>
                <a:latin typeface="Arial"/>
              </a:rPr>
              <a:t>60%  </a:t>
            </a:r>
            <a:r>
              <a:rPr sz="950">
                <a:solidFill>
                  <a:srgbClr val="000000"/>
                </a:solidFill>
                <a:latin typeface="Arial"/>
              </a:rPr>
              <a:t>random</a:t>
            </a:r>
          </a:p>
          <a:p>
            <a:pPr algn="l">
              <a:spcAft>
                <a:spcPts val="100"/>
              </a:spcAft>
            </a:pPr>
            <a:r>
              <a:rPr sz="1500" b="1" i="0">
                <a:solidFill>
                  <a:srgbClr val="005293"/>
                </a:solidFill>
                <a:latin typeface="Arial"/>
              </a:rPr>
              <a:t>61%  </a:t>
            </a:r>
            <a:r>
              <a:rPr sz="950">
                <a:solidFill>
                  <a:srgbClr val="000000"/>
                </a:solidFill>
                <a:latin typeface="Arial"/>
              </a:rPr>
              <a:t>center</a:t>
            </a:r>
          </a:p>
          <a:p>
            <a:pPr algn="l">
              <a:spcAft>
                <a:spcPts val="100"/>
              </a:spcAft>
            </a:pPr>
            <a:r>
              <a:rPr sz="1500" b="1" i="0">
                <a:solidFill>
                  <a:srgbClr val="005293"/>
                </a:solidFill>
                <a:latin typeface="Arial"/>
              </a:rPr>
              <a:t>70%  </a:t>
            </a:r>
            <a:r>
              <a:rPr sz="950">
                <a:solidFill>
                  <a:srgbClr val="000000"/>
                </a:solidFill>
                <a:latin typeface="Arial"/>
              </a:rPr>
              <a:t>corner</a:t>
            </a:r>
          </a:p>
          <a:p>
            <a:pPr algn="l">
              <a:spcAft>
                <a:spcPts val="0"/>
              </a:spcAft>
            </a:pPr>
            <a:r>
              <a:rPr sz="900" b="0" i="1">
                <a:solidFill>
                  <a:srgbClr val="595959"/>
                </a:solidFill>
                <a:latin typeface="Arial"/>
              </a:rPr>
              <a:t>Random depots also have the lowest accuracy (33%).</a:t>
            </a:r>
          </a:p>
        </p:txBody>
      </p:sp>
      <p:sp>
        <p:nvSpPr>
          <p:cNvPr id="11" name="TextBox 10"/>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12" name="TextBox 11"/>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Does It Transfer to Real Benchmarks?</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Trained only on synthetic data — tested on 85 classic CVRPLIB instances (sets A, B, E, P)</a:t>
            </a:r>
          </a:p>
        </p:txBody>
      </p:sp>
      <p:graphicFrame>
        <p:nvGraphicFramePr>
          <p:cNvPr id="5" name="Chart 4"/>
          <p:cNvGraphicFramePr>
            <a:graphicFrameLocks noGrp="1"/>
          </p:cNvGraphicFramePr>
          <p:nvPr/>
        </p:nvGraphicFramePr>
        <p:xfrm>
          <a:off x="320040" y="1691640"/>
          <a:ext cx="4937760" cy="3154680"/>
        </p:xfrm>
        <a:graphic>
          <a:graphicData uri="http://schemas.openxmlformats.org/drawingml/2006/chart">
            <c:chart xmlns:c="http://schemas.openxmlformats.org/drawingml/2006/chart" r:id="rId2"/>
          </a:graphicData>
        </a:graphic>
      </p:graphicFrame>
      <p:sp>
        <p:nvSpPr>
          <p:cNvPr id="6" name="TextBox 5"/>
          <p:cNvSpPr txBox="1"/>
          <p:nvPr/>
        </p:nvSpPr>
        <p:spPr>
          <a:xfrm>
            <a:off x="5532120" y="1783080"/>
            <a:ext cx="3291840" cy="3017520"/>
          </a:xfrm>
          <a:prstGeom prst="rect">
            <a:avLst/>
          </a:prstGeom>
          <a:noFill/>
        </p:spPr>
        <p:txBody>
          <a:bodyPr wrap="square" lIns="0" rIns="0" tIns="0" bIns="0">
            <a:spAutoFit/>
          </a:bodyPr>
          <a:lstStyle/>
          <a:p>
            <a:pPr algn="l">
              <a:spcAft>
                <a:spcPts val="500"/>
              </a:spcAft>
            </a:pPr>
            <a:r>
              <a:rPr sz="1300" b="1" i="0">
                <a:solidFill>
                  <a:srgbClr val="003359"/>
                </a:solidFill>
                <a:latin typeface="Arial"/>
              </a:rPr>
              <a:t>The honest read</a:t>
            </a:r>
          </a:p>
          <a:p>
            <a:pPr algn="l">
              <a:spcAft>
                <a:spcPts val="500"/>
              </a:spcAft>
            </a:pPr>
            <a:r>
              <a:rPr sz="950" b="0" i="0">
                <a:solidFill>
                  <a:srgbClr val="000000"/>
                </a:solidFill>
                <a:latin typeface="Arial"/>
              </a:rPr>
              <a:t>•  Within-1% rate still clearly better: 52.9% vs 43.5%.</a:t>
            </a:r>
          </a:p>
          <a:p>
            <a:pPr algn="l">
              <a:spcAft>
                <a:spcPts val="500"/>
              </a:spcAft>
            </a:pPr>
            <a:r>
              <a:rPr sz="950" b="0" i="0">
                <a:solidFill>
                  <a:srgbClr val="000000"/>
                </a:solidFill>
                <a:latin typeface="Arial"/>
              </a:rPr>
              <a:t>•  But mean regret is essentially tied (1.84% vs 1.88%, m̂ = 0.98) — the in-distribution edge largely fades.</a:t>
            </a:r>
          </a:p>
          <a:p>
            <a:pPr algn="l">
              <a:spcAft>
                <a:spcPts val="500"/>
              </a:spcAft>
            </a:pPr>
            <a:r>
              <a:rPr sz="950" b="0" i="0">
                <a:solidFill>
                  <a:srgbClr val="000000"/>
                </a:solidFill>
                <a:latin typeface="Arial"/>
              </a:rPr>
              <a:t>•  Mirrors the paper: stylized benchmark families are hard for synthetically trained selectors.</a:t>
            </a:r>
          </a:p>
          <a:p>
            <a:pPr algn="l">
              <a:spcAft>
                <a:spcPts val="500"/>
              </a:spcAft>
            </a:pPr>
            <a:r>
              <a:rPr sz="950" b="0" i="0">
                <a:solidFill>
                  <a:srgbClr val="000000"/>
                </a:solidFill>
                <a:latin typeface="Arial"/>
              </a:rPr>
              <a:t>•  Portfolio quality holds: best solver +1.98% vs proven optima; on E-n51-k5 the selector picks the winner (+0.19%, 0.16 s).</a:t>
            </a:r>
          </a:p>
        </p:txBody>
      </p:sp>
      <p:sp>
        <p:nvSpPr>
          <p:cNvPr id="7" name="TextBox 6"/>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8" name="TextBox 7"/>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Extension: What Does 20 s of Compute Buy?</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PyVRP hybrid genetic search at the same 20 s budget — 45 test instances + E-n51-k5</a:t>
            </a:r>
          </a:p>
        </p:txBody>
      </p:sp>
      <p:sp>
        <p:nvSpPr>
          <p:cNvPr id="5" name="TextBox 4"/>
          <p:cNvSpPr txBox="1"/>
          <p:nvPr/>
        </p:nvSpPr>
        <p:spPr>
          <a:xfrm>
            <a:off x="502920" y="1737360"/>
            <a:ext cx="4389120" cy="274320"/>
          </a:xfrm>
          <a:prstGeom prst="rect">
            <a:avLst/>
          </a:prstGeom>
          <a:noFill/>
        </p:spPr>
        <p:txBody>
          <a:bodyPr wrap="square" lIns="0" rIns="0" tIns="0" bIns="0">
            <a:spAutoFit/>
          </a:bodyPr>
          <a:lstStyle/>
          <a:p>
            <a:pPr algn="l">
              <a:spcAft>
                <a:spcPts val="0"/>
              </a:spcAft>
            </a:pPr>
            <a:r>
              <a:rPr sz="1150" b="1" i="0">
                <a:solidFill>
                  <a:srgbClr val="003359"/>
                </a:solidFill>
                <a:latin typeface="Arial"/>
              </a:rPr>
              <a:t>Time to answer (mean)</a:t>
            </a:r>
          </a:p>
        </p:txBody>
      </p:sp>
      <p:sp>
        <p:nvSpPr>
          <p:cNvPr id="6" name="Rectangle 5"/>
          <p:cNvSpPr/>
          <p:nvPr/>
        </p:nvSpPr>
        <p:spPr>
          <a:xfrm>
            <a:off x="502920" y="2103120"/>
            <a:ext cx="73152" cy="310896"/>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30552"/>
            <a:ext cx="3931920" cy="274320"/>
          </a:xfrm>
          <a:prstGeom prst="rect">
            <a:avLst/>
          </a:prstGeom>
          <a:noFill/>
        </p:spPr>
        <p:txBody>
          <a:bodyPr wrap="square" lIns="0" rIns="0" tIns="0" bIns="0">
            <a:spAutoFit/>
          </a:bodyPr>
          <a:lstStyle/>
          <a:p>
            <a:pPr algn="l">
              <a:spcAft>
                <a:spcPts val="0"/>
              </a:spcAft>
            </a:pPr>
            <a:r>
              <a:rPr sz="1000" b="1" i="0">
                <a:solidFill>
                  <a:srgbClr val="000000"/>
                </a:solidFill>
                <a:latin typeface="Arial"/>
              </a:rPr>
              <a:t>ML-selected heuristic — 0.22 s</a:t>
            </a:r>
          </a:p>
        </p:txBody>
      </p:sp>
      <p:sp>
        <p:nvSpPr>
          <p:cNvPr id="8" name="Rectangle 7"/>
          <p:cNvSpPr/>
          <p:nvPr/>
        </p:nvSpPr>
        <p:spPr>
          <a:xfrm>
            <a:off x="502920" y="2578608"/>
            <a:ext cx="4297680" cy="310896"/>
          </a:xfrm>
          <a:prstGeom prst="rect">
            <a:avLst/>
          </a:prstGeom>
          <a:solidFill>
            <a:srgbClr val="005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606040"/>
            <a:ext cx="4114800" cy="274320"/>
          </a:xfrm>
          <a:prstGeom prst="rect">
            <a:avLst/>
          </a:prstGeom>
          <a:noFill/>
        </p:spPr>
        <p:txBody>
          <a:bodyPr wrap="square" lIns="0" rIns="0" tIns="0" bIns="0">
            <a:spAutoFit/>
          </a:bodyPr>
          <a:lstStyle/>
          <a:p>
            <a:pPr algn="l">
              <a:spcAft>
                <a:spcPts val="0"/>
              </a:spcAft>
            </a:pPr>
            <a:r>
              <a:rPr sz="1000" b="1" i="0">
                <a:solidFill>
                  <a:srgbClr val="FFFFFF"/>
                </a:solidFill>
                <a:latin typeface="Arial"/>
              </a:rPr>
              <a:t>HGS — 20.0 s (the entire budget)</a:t>
            </a:r>
          </a:p>
        </p:txBody>
      </p:sp>
      <p:sp>
        <p:nvSpPr>
          <p:cNvPr id="10" name="TextBox 9"/>
          <p:cNvSpPr txBox="1"/>
          <p:nvPr/>
        </p:nvSpPr>
        <p:spPr>
          <a:xfrm>
            <a:off x="502920" y="3017520"/>
            <a:ext cx="4389120" cy="274320"/>
          </a:xfrm>
          <a:prstGeom prst="rect">
            <a:avLst/>
          </a:prstGeom>
          <a:noFill/>
        </p:spPr>
        <p:txBody>
          <a:bodyPr wrap="square" lIns="0" rIns="0" tIns="0" bIns="0">
            <a:spAutoFit/>
          </a:bodyPr>
          <a:lstStyle/>
          <a:p>
            <a:pPr algn="l">
              <a:spcAft>
                <a:spcPts val="0"/>
              </a:spcAft>
            </a:pPr>
            <a:r>
              <a:rPr sz="1100" b="1" i="0">
                <a:solidFill>
                  <a:srgbClr val="E37222"/>
                </a:solidFill>
                <a:latin typeface="Arial"/>
              </a:rPr>
              <a:t>≈ 91× more compute per answer</a:t>
            </a:r>
          </a:p>
        </p:txBody>
      </p:sp>
      <p:sp>
        <p:nvSpPr>
          <p:cNvPr id="11" name="TextBox 10"/>
          <p:cNvSpPr txBox="1"/>
          <p:nvPr/>
        </p:nvSpPr>
        <p:spPr>
          <a:xfrm>
            <a:off x="502920" y="3474720"/>
            <a:ext cx="4206240" cy="1280160"/>
          </a:xfrm>
          <a:prstGeom prst="rect">
            <a:avLst/>
          </a:prstGeom>
          <a:noFill/>
        </p:spPr>
        <p:txBody>
          <a:bodyPr wrap="square" lIns="0" rIns="0" tIns="0" bIns="0">
            <a:spAutoFit/>
          </a:bodyPr>
          <a:lstStyle/>
          <a:p>
            <a:pPr algn="l">
              <a:spcAft>
                <a:spcPts val="300"/>
              </a:spcAft>
            </a:pPr>
            <a:r>
              <a:rPr sz="1150" b="1" i="0">
                <a:solidFill>
                  <a:srgbClr val="003359"/>
                </a:solidFill>
                <a:latin typeface="Arial"/>
              </a:rPr>
              <a:t>Why HGS stays out of the portfolio</a:t>
            </a:r>
          </a:p>
          <a:p>
            <a:pPr algn="l">
              <a:spcAft>
                <a:spcPts val="0"/>
              </a:spcAft>
            </a:pPr>
            <a:r>
              <a:rPr sz="950" b="0" i="0">
                <a:solidFill>
                  <a:srgbClr val="000000"/>
                </a:solidFill>
                <a:latin typeface="Arial"/>
              </a:rPr>
              <a:t>It wins or ties the portfolio oracle on 100% of sampled instances — as a label class it would swallow the dataset. As a reference, it prices the trade-off.</a:t>
            </a:r>
          </a:p>
        </p:txBody>
      </p:sp>
      <p:sp>
        <p:nvSpPr>
          <p:cNvPr id="12" name="TextBox 11"/>
          <p:cNvSpPr txBox="1"/>
          <p:nvPr/>
        </p:nvSpPr>
        <p:spPr>
          <a:xfrm>
            <a:off x="5212080" y="1783080"/>
            <a:ext cx="3566160" cy="914400"/>
          </a:xfrm>
          <a:prstGeom prst="rect">
            <a:avLst/>
          </a:prstGeom>
          <a:noFill/>
        </p:spPr>
        <p:txBody>
          <a:bodyPr wrap="square" lIns="0" rIns="0" tIns="0" bIns="0">
            <a:spAutoFit/>
          </a:bodyPr>
          <a:lstStyle/>
          <a:p>
            <a:pPr algn="l">
              <a:spcAft>
                <a:spcPts val="100"/>
              </a:spcAft>
            </a:pPr>
            <a:r>
              <a:rPr sz="2600" b="1" i="0">
                <a:solidFill>
                  <a:srgbClr val="003359"/>
                </a:solidFill>
                <a:latin typeface="Arial"/>
              </a:rPr>
              <a:t>+3.5%</a:t>
            </a:r>
          </a:p>
          <a:p>
            <a:pPr algn="l">
              <a:spcAft>
                <a:spcPts val="400"/>
              </a:spcAft>
            </a:pPr>
            <a:r>
              <a:rPr sz="950" b="0" i="0">
                <a:solidFill>
                  <a:srgbClr val="595959"/>
                </a:solidFill>
                <a:latin typeface="Arial"/>
              </a:rPr>
              <a:t>mean quality gain of HGS over the ML-selected heuristic (+2.1% over the oracle)</a:t>
            </a:r>
          </a:p>
        </p:txBody>
      </p:sp>
      <p:sp>
        <p:nvSpPr>
          <p:cNvPr id="13" name="TextBox 12"/>
          <p:cNvSpPr txBox="1"/>
          <p:nvPr/>
        </p:nvSpPr>
        <p:spPr>
          <a:xfrm>
            <a:off x="5212080" y="2743200"/>
            <a:ext cx="3566160" cy="914400"/>
          </a:xfrm>
          <a:prstGeom prst="rect">
            <a:avLst/>
          </a:prstGeom>
          <a:noFill/>
        </p:spPr>
        <p:txBody>
          <a:bodyPr wrap="square" lIns="0" rIns="0" tIns="0" bIns="0">
            <a:spAutoFit/>
          </a:bodyPr>
          <a:lstStyle/>
          <a:p>
            <a:pPr algn="l">
              <a:spcAft>
                <a:spcPts val="100"/>
              </a:spcAft>
            </a:pPr>
            <a:r>
              <a:rPr sz="1700" b="1" i="0">
                <a:solidFill>
                  <a:srgbClr val="003359"/>
                </a:solidFill>
                <a:latin typeface="Arial"/>
              </a:rPr>
              <a:t>2.5% → 4.3%</a:t>
            </a:r>
          </a:p>
          <a:p>
            <a:pPr algn="l">
              <a:spcAft>
                <a:spcPts val="400"/>
              </a:spcAft>
            </a:pPr>
            <a:r>
              <a:rPr sz="950" b="0" i="0">
                <a:solidFill>
                  <a:srgbClr val="595959"/>
                </a:solidFill>
                <a:latin typeface="Arial"/>
              </a:rPr>
              <a:t>the gain grows with instance size (n = 20 → 100)</a:t>
            </a:r>
          </a:p>
        </p:txBody>
      </p:sp>
      <p:sp>
        <p:nvSpPr>
          <p:cNvPr id="14" name="TextBox 13"/>
          <p:cNvSpPr txBox="1"/>
          <p:nvPr/>
        </p:nvSpPr>
        <p:spPr>
          <a:xfrm>
            <a:off x="5212080" y="3520440"/>
            <a:ext cx="3566160" cy="914400"/>
          </a:xfrm>
          <a:prstGeom prst="rect">
            <a:avLst/>
          </a:prstGeom>
          <a:noFill/>
        </p:spPr>
        <p:txBody>
          <a:bodyPr wrap="square" lIns="0" rIns="0" tIns="0" bIns="0">
            <a:spAutoFit/>
          </a:bodyPr>
          <a:lstStyle/>
          <a:p>
            <a:pPr algn="l">
              <a:spcAft>
                <a:spcPts val="100"/>
              </a:spcAft>
            </a:pPr>
            <a:r>
              <a:rPr sz="1700" b="1" i="0">
                <a:solidFill>
                  <a:srgbClr val="003359"/>
                </a:solidFill>
                <a:latin typeface="Arial"/>
              </a:rPr>
              <a:t>521 = optimum</a:t>
            </a:r>
          </a:p>
          <a:p>
            <a:pPr algn="l">
              <a:spcAft>
                <a:spcPts val="400"/>
              </a:spcAft>
            </a:pPr>
            <a:r>
              <a:rPr sz="950" b="0" i="0">
                <a:solidFill>
                  <a:srgbClr val="595959"/>
                </a:solidFill>
                <a:latin typeface="Arial"/>
              </a:rPr>
              <a:t>HGS recovers the proven optimum on E-n51-k5 within the budget</a:t>
            </a:r>
          </a:p>
        </p:txBody>
      </p:sp>
      <p:sp>
        <p:nvSpPr>
          <p:cNvPr id="15" name="TextBox 14"/>
          <p:cNvSpPr txBox="1"/>
          <p:nvPr/>
        </p:nvSpPr>
        <p:spPr>
          <a:xfrm>
            <a:off x="320040" y="4526280"/>
            <a:ext cx="8503920" cy="320040"/>
          </a:xfrm>
          <a:prstGeom prst="rect">
            <a:avLst/>
          </a:prstGeom>
          <a:noFill/>
        </p:spPr>
        <p:txBody>
          <a:bodyPr wrap="square" lIns="0" rIns="0" tIns="0" bIns="0">
            <a:spAutoFit/>
          </a:bodyPr>
          <a:lstStyle/>
          <a:p>
            <a:pPr algn="l">
              <a:spcAft>
                <a:spcPts val="0"/>
              </a:spcAft>
            </a:pPr>
            <a:r>
              <a:rPr sz="1050" b="1" i="0">
                <a:solidFill>
                  <a:srgbClr val="003359"/>
                </a:solidFill>
                <a:latin typeface="Arial"/>
              </a:rPr>
              <a:t>Real-time answers &amp; warm starts → ML-selected heuristic;  quality at 20 s per instance → run HGS.</a:t>
            </a:r>
          </a:p>
        </p:txBody>
      </p:sp>
      <p:sp>
        <p:nvSpPr>
          <p:cNvPr id="16" name="TextBox 15"/>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17" name="TextBox 16"/>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Limitations and Takeaways</a:t>
            </a:r>
          </a:p>
        </p:txBody>
      </p:sp>
      <p:sp>
        <p:nvSpPr>
          <p:cNvPr id="4" name="Rounded Rectangle 3"/>
          <p:cNvSpPr/>
          <p:nvPr/>
        </p:nvSpPr>
        <p:spPr>
          <a:xfrm>
            <a:off x="320040" y="1600200"/>
            <a:ext cx="4114800" cy="315468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21207" y="1764792"/>
            <a:ext cx="3712463" cy="2834640"/>
          </a:xfrm>
          <a:prstGeom prst="rect">
            <a:avLst/>
          </a:prstGeom>
          <a:noFill/>
        </p:spPr>
        <p:txBody>
          <a:bodyPr wrap="square" lIns="0" rIns="0" tIns="0" bIns="0">
            <a:spAutoFit/>
          </a:bodyPr>
          <a:lstStyle/>
          <a:p>
            <a:pPr algn="l">
              <a:spcAft>
                <a:spcPts val="500"/>
              </a:spcAft>
            </a:pPr>
            <a:r>
              <a:rPr sz="1250" b="1" i="0">
                <a:solidFill>
                  <a:srgbClr val="003359"/>
                </a:solidFill>
                <a:latin typeface="Arial"/>
              </a:rPr>
              <a:t>Limitations — stated plainly</a:t>
            </a:r>
          </a:p>
          <a:p>
            <a:pPr algn="l">
              <a:spcAft>
                <a:spcPts val="500"/>
              </a:spcAft>
            </a:pPr>
            <a:r>
              <a:rPr sz="950" b="0" i="0">
                <a:solidFill>
                  <a:srgbClr val="000000"/>
                </a:solidFill>
                <a:latin typeface="Arial"/>
              </a:rPr>
              <a:t>•  Trained on synthetic data; transfer to real benchmarks is partial (m̂ ≈ 1 there).</a:t>
            </a:r>
          </a:p>
          <a:p>
            <a:pPr algn="l">
              <a:spcAft>
                <a:spcPts val="500"/>
              </a:spcAft>
            </a:pPr>
            <a:r>
              <a:rPr sz="950" b="0" i="0">
                <a:solidFill>
                  <a:srgbClr val="000000"/>
                </a:solidFill>
                <a:latin typeface="Arial"/>
              </a:rPr>
              <a:t>•  Labels are the portfolio's best, not true optima (portfolio best ≈ +2% vs proven optima).</a:t>
            </a:r>
          </a:p>
          <a:p>
            <a:pPr algn="l">
              <a:spcAft>
                <a:spcPts val="500"/>
              </a:spcAft>
            </a:pPr>
            <a:r>
              <a:rPr sz="950" b="0" i="0">
                <a:solidFill>
                  <a:srgbClr val="000000"/>
                </a:solidFill>
                <a:latin typeface="Arial"/>
              </a:rPr>
              <a:t>•  The 20 s budget bounds runtime but doesn't reward faster solvers among non-ties.</a:t>
            </a:r>
          </a:p>
          <a:p>
            <a:pPr algn="l">
              <a:spcAft>
                <a:spcPts val="500"/>
              </a:spcAft>
            </a:pPr>
            <a:r>
              <a:rPr sz="950" b="0" i="0">
                <a:solidFill>
                  <a:srgbClr val="000000"/>
                </a:solidFill>
                <a:latin typeface="Arial"/>
              </a:rPr>
              <a:t>•  Exact baseline uses a weak MTZ formulation; free-license size caps apply.</a:t>
            </a:r>
          </a:p>
        </p:txBody>
      </p:sp>
      <p:sp>
        <p:nvSpPr>
          <p:cNvPr id="6" name="Rounded Rectangle 5"/>
          <p:cNvSpPr/>
          <p:nvPr/>
        </p:nvSpPr>
        <p:spPr>
          <a:xfrm>
            <a:off x="4709160" y="1600200"/>
            <a:ext cx="4114800" cy="3154680"/>
          </a:xfrm>
          <a:prstGeom prst="roundRect">
            <a:avLst>
              <a:gd name="adj" fmla="val 7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10328" y="1764792"/>
            <a:ext cx="3712463" cy="2834640"/>
          </a:xfrm>
          <a:prstGeom prst="rect">
            <a:avLst/>
          </a:prstGeom>
          <a:noFill/>
        </p:spPr>
        <p:txBody>
          <a:bodyPr wrap="square" lIns="0" rIns="0" tIns="0" bIns="0">
            <a:spAutoFit/>
          </a:bodyPr>
          <a:lstStyle/>
          <a:p>
            <a:pPr algn="l">
              <a:spcAft>
                <a:spcPts val="500"/>
              </a:spcAft>
            </a:pPr>
            <a:r>
              <a:rPr sz="1250" b="1" i="0">
                <a:solidFill>
                  <a:srgbClr val="FFFFFF"/>
                </a:solidFill>
                <a:latin typeface="Arial"/>
              </a:rPr>
              <a:t>What holds up</a:t>
            </a:r>
          </a:p>
          <a:p>
            <a:pPr algn="l">
              <a:spcAft>
                <a:spcPts val="500"/>
              </a:spcAft>
            </a:pPr>
            <a:r>
              <a:rPr sz="950" b="0" i="0">
                <a:solidFill>
                  <a:srgbClr val="FFFFFF"/>
                </a:solidFill>
                <a:latin typeface="Arial"/>
              </a:rPr>
              <a:t>•  Per-instance selection beats the single-best-solver baseline in-distribution (m̂ = 0.741).</a:t>
            </a:r>
          </a:p>
          <a:p>
            <a:pPr algn="l">
              <a:spcAft>
                <a:spcPts val="500"/>
              </a:spcAft>
            </a:pPr>
            <a:r>
              <a:rPr sz="950" b="0" i="0">
                <a:solidFill>
                  <a:srgbClr val="FFFFFF"/>
                </a:solidFill>
                <a:latin typeface="Arial"/>
              </a:rPr>
              <a:t>•  Cheap pre-solution features carry real signal — depot geometry above all.</a:t>
            </a:r>
          </a:p>
          <a:p>
            <a:pPr algn="l">
              <a:spcAft>
                <a:spcPts val="500"/>
              </a:spcAft>
            </a:pPr>
            <a:r>
              <a:rPr sz="950" b="0" i="0">
                <a:solidFill>
                  <a:srgbClr val="FFFFFF"/>
                </a:solidFill>
                <a:latin typeface="Arial"/>
              </a:rPr>
              <a:t>•  Every claim is backed by frozen, integrity-checked, reproducible artifacts.</a:t>
            </a:r>
          </a:p>
          <a:p>
            <a:pPr algn="l">
              <a:spcAft>
                <a:spcPts val="500"/>
              </a:spcAft>
            </a:pPr>
            <a:r>
              <a:rPr sz="950" b="0" i="0">
                <a:solidFill>
                  <a:srgbClr val="FFFFFF"/>
                </a:solidFill>
                <a:latin typeface="Arial"/>
              </a:rPr>
              <a:t>•  The speed-quality trade-off is quantified, not asserted: 3.5% quality vs 91× compute.</a:t>
            </a:r>
          </a:p>
        </p:txBody>
      </p:sp>
      <p:sp>
        <p:nvSpPr>
          <p:cNvPr id="8" name="TextBox 7"/>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9" name="TextBox 8"/>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Look at the instance first — then pick the solver.</a:t>
            </a:r>
          </a:p>
        </p:txBody>
      </p:sp>
      <p:sp>
        <p:nvSpPr>
          <p:cNvPr id="3" name="Rounded Rectangle 2"/>
          <p:cNvSpPr/>
          <p:nvPr/>
        </p:nvSpPr>
        <p:spPr>
          <a:xfrm>
            <a:off x="320040" y="2468880"/>
            <a:ext cx="1965960" cy="1143000"/>
          </a:xfrm>
          <a:prstGeom prst="roundRect">
            <a:avLst>
              <a:gd name="adj" fmla="val 7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48056" y="2615184"/>
            <a:ext cx="1709928" cy="868680"/>
          </a:xfrm>
          <a:prstGeom prst="rect">
            <a:avLst/>
          </a:prstGeom>
          <a:noFill/>
        </p:spPr>
        <p:txBody>
          <a:bodyPr wrap="square" lIns="0" rIns="0" tIns="0" bIns="0">
            <a:spAutoFit/>
          </a:bodyPr>
          <a:lstStyle/>
          <a:p>
            <a:pPr algn="ctr">
              <a:spcAft>
                <a:spcPts val="300"/>
              </a:spcAft>
            </a:pPr>
            <a:r>
              <a:rPr sz="1550" b="1" i="0">
                <a:solidFill>
                  <a:srgbClr val="FFFFFF"/>
                </a:solidFill>
                <a:latin typeface="Arial"/>
              </a:rPr>
              <a:t>m̂ = 0.741</a:t>
            </a:r>
          </a:p>
          <a:p>
            <a:pPr algn="ctr">
              <a:spcAft>
                <a:spcPts val="0"/>
              </a:spcAft>
            </a:pPr>
            <a:r>
              <a:rPr sz="850" b="0" i="0">
                <a:solidFill>
                  <a:srgbClr val="FFFFFF"/>
                </a:solidFill>
                <a:latin typeface="Arial"/>
              </a:rPr>
              <a:t>closes ~26% of the baseline→oracle gap</a:t>
            </a:r>
          </a:p>
        </p:txBody>
      </p:sp>
      <p:sp>
        <p:nvSpPr>
          <p:cNvPr id="5" name="Rounded Rectangle 4"/>
          <p:cNvSpPr/>
          <p:nvPr/>
        </p:nvSpPr>
        <p:spPr>
          <a:xfrm>
            <a:off x="2450592" y="2468880"/>
            <a:ext cx="1965960" cy="1143000"/>
          </a:xfrm>
          <a:prstGeom prst="roundRect">
            <a:avLst>
              <a:gd name="adj" fmla="val 7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78608" y="2615184"/>
            <a:ext cx="1709928" cy="868680"/>
          </a:xfrm>
          <a:prstGeom prst="rect">
            <a:avLst/>
          </a:prstGeom>
          <a:noFill/>
        </p:spPr>
        <p:txBody>
          <a:bodyPr wrap="square" lIns="0" rIns="0" tIns="0" bIns="0">
            <a:spAutoFit/>
          </a:bodyPr>
          <a:lstStyle/>
          <a:p>
            <a:pPr algn="ctr">
              <a:spcAft>
                <a:spcPts val="300"/>
              </a:spcAft>
            </a:pPr>
            <a:r>
              <a:rPr sz="1550" b="1" i="0">
                <a:solidFill>
                  <a:srgbClr val="FFFFFF"/>
                </a:solidFill>
                <a:latin typeface="Arial"/>
              </a:rPr>
              <a:t>63% vs 45%</a:t>
            </a:r>
          </a:p>
          <a:p>
            <a:pPr algn="ctr">
              <a:spcAft>
                <a:spcPts val="0"/>
              </a:spcAft>
            </a:pPr>
            <a:r>
              <a:rPr sz="850" b="0" i="0">
                <a:solidFill>
                  <a:srgbClr val="FFFFFF"/>
                </a:solidFill>
                <a:latin typeface="Arial"/>
              </a:rPr>
              <a:t>within 1% of best, selector vs baseline</a:t>
            </a:r>
          </a:p>
        </p:txBody>
      </p:sp>
      <p:sp>
        <p:nvSpPr>
          <p:cNvPr id="7" name="Rounded Rectangle 6"/>
          <p:cNvSpPr/>
          <p:nvPr/>
        </p:nvSpPr>
        <p:spPr>
          <a:xfrm>
            <a:off x="4581144" y="2468880"/>
            <a:ext cx="1965960" cy="1143000"/>
          </a:xfrm>
          <a:prstGeom prst="roundRect">
            <a:avLst>
              <a:gd name="adj" fmla="val 7000"/>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09159" y="2615184"/>
            <a:ext cx="1709928" cy="868680"/>
          </a:xfrm>
          <a:prstGeom prst="rect">
            <a:avLst/>
          </a:prstGeom>
          <a:noFill/>
        </p:spPr>
        <p:txBody>
          <a:bodyPr wrap="square" lIns="0" rIns="0" tIns="0" bIns="0">
            <a:spAutoFit/>
          </a:bodyPr>
          <a:lstStyle/>
          <a:p>
            <a:pPr algn="ctr">
              <a:spcAft>
                <a:spcPts val="300"/>
              </a:spcAft>
            </a:pPr>
            <a:r>
              <a:rPr sz="1550" b="1" i="0">
                <a:solidFill>
                  <a:srgbClr val="FFFFFF"/>
                </a:solidFill>
                <a:latin typeface="Arial"/>
              </a:rPr>
              <a:t>0.22 s vs 20 s</a:t>
            </a:r>
          </a:p>
          <a:p>
            <a:pPr algn="ctr">
              <a:spcAft>
                <a:spcPts val="0"/>
              </a:spcAft>
            </a:pPr>
            <a:r>
              <a:rPr sz="850" b="0" i="0">
                <a:solidFill>
                  <a:srgbClr val="FFFFFF"/>
                </a:solidFill>
                <a:latin typeface="Arial"/>
              </a:rPr>
              <a:t>ML-selected heuristic vs genetic search</a:t>
            </a:r>
          </a:p>
        </p:txBody>
      </p:sp>
      <p:sp>
        <p:nvSpPr>
          <p:cNvPr id="9" name="Rounded Rectangle 8"/>
          <p:cNvSpPr/>
          <p:nvPr/>
        </p:nvSpPr>
        <p:spPr>
          <a:xfrm>
            <a:off x="6711696" y="2468880"/>
            <a:ext cx="1965960" cy="1143000"/>
          </a:xfrm>
          <a:prstGeom prst="roundRect">
            <a:avLst>
              <a:gd name="adj" fmla="val 7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39712" y="2615184"/>
            <a:ext cx="1709928" cy="868680"/>
          </a:xfrm>
          <a:prstGeom prst="rect">
            <a:avLst/>
          </a:prstGeom>
          <a:noFill/>
        </p:spPr>
        <p:txBody>
          <a:bodyPr wrap="square" lIns="0" rIns="0" tIns="0" bIns="0">
            <a:spAutoFit/>
          </a:bodyPr>
          <a:lstStyle/>
          <a:p>
            <a:pPr algn="ctr">
              <a:spcAft>
                <a:spcPts val="300"/>
              </a:spcAft>
            </a:pPr>
            <a:r>
              <a:rPr sz="1550" b="1" i="0">
                <a:solidFill>
                  <a:srgbClr val="FFFFFF"/>
                </a:solidFill>
                <a:latin typeface="Arial"/>
              </a:rPr>
              <a:t>85 + 1,260</a:t>
            </a:r>
          </a:p>
          <a:p>
            <a:pPr algn="ctr">
              <a:spcAft>
                <a:spcPts val="0"/>
              </a:spcAft>
            </a:pPr>
            <a:r>
              <a:rPr sz="850" b="0" i="0">
                <a:solidFill>
                  <a:srgbClr val="FFFFFF"/>
                </a:solidFill>
                <a:latin typeface="Arial"/>
              </a:rPr>
              <a:t>real benchmark + synthetic instances</a:t>
            </a:r>
          </a:p>
        </p:txBody>
      </p:sp>
      <p:sp>
        <p:nvSpPr>
          <p:cNvPr id="11" name="TextBox 10"/>
          <p:cNvSpPr txBox="1"/>
          <p:nvPr/>
        </p:nvSpPr>
        <p:spPr>
          <a:xfrm>
            <a:off x="320040" y="3977639"/>
            <a:ext cx="8503920" cy="320040"/>
          </a:xfrm>
          <a:prstGeom prst="rect">
            <a:avLst/>
          </a:prstGeom>
          <a:noFill/>
        </p:spPr>
        <p:txBody>
          <a:bodyPr wrap="square" lIns="0" rIns="0" tIns="0" bIns="0">
            <a:spAutoFit/>
          </a:bodyPr>
          <a:lstStyle/>
          <a:p>
            <a:pPr algn="ctr">
              <a:spcAft>
                <a:spcPts val="0"/>
              </a:spcAft>
            </a:pPr>
            <a:r>
              <a:rPr sz="1200" b="0" i="1">
                <a:solidFill>
                  <a:srgbClr val="005293"/>
                </a:solidFill>
                <a:latin typeface="Arial"/>
              </a:rPr>
              <a:t>Exact where it proves, heuristic where it scales, learned where it chooses.</a:t>
            </a:r>
          </a:p>
        </p:txBody>
      </p:sp>
      <p:sp>
        <p:nvSpPr>
          <p:cNvPr id="12" name="TextBox 11"/>
          <p:cNvSpPr txBox="1"/>
          <p:nvPr/>
        </p:nvSpPr>
        <p:spPr>
          <a:xfrm>
            <a:off x="320040" y="4389120"/>
            <a:ext cx="8503920" cy="320040"/>
          </a:xfrm>
          <a:prstGeom prst="rect">
            <a:avLst/>
          </a:prstGeom>
          <a:noFill/>
        </p:spPr>
        <p:txBody>
          <a:bodyPr wrap="square" lIns="0" rIns="0" tIns="0" bIns="0">
            <a:spAutoFit/>
          </a:bodyPr>
          <a:lstStyle/>
          <a:p>
            <a:pPr algn="ctr">
              <a:spcAft>
                <a:spcPts val="0"/>
              </a:spcAft>
            </a:pPr>
            <a:r>
              <a:rPr sz="1400" b="1" i="0">
                <a:solidFill>
                  <a:srgbClr val="003359"/>
                </a:solidFill>
                <a:latin typeface="Arial"/>
              </a:rPr>
              <a:t>Thank you — questions welcome.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Backup Slides</a:t>
            </a:r>
          </a:p>
        </p:txBody>
      </p:sp>
      <p:sp>
        <p:nvSpPr>
          <p:cNvPr id="3" name="TextBox 2"/>
          <p:cNvSpPr txBox="1"/>
          <p:nvPr/>
        </p:nvSpPr>
        <p:spPr>
          <a:xfrm>
            <a:off x="320040" y="2377440"/>
            <a:ext cx="8503920" cy="365760"/>
          </a:xfrm>
          <a:prstGeom prst="rect">
            <a:avLst/>
          </a:prstGeom>
          <a:noFill/>
        </p:spPr>
        <p:txBody>
          <a:bodyPr wrap="square" lIns="0" rIns="0" tIns="0" bIns="0">
            <a:spAutoFit/>
          </a:bodyPr>
          <a:lstStyle/>
          <a:p>
            <a:pPr algn="l">
              <a:spcAft>
                <a:spcPts val="0"/>
              </a:spcAft>
            </a:pPr>
            <a:r>
              <a:rPr sz="1200" b="0" i="0">
                <a:solidFill>
                  <a:srgbClr val="595959"/>
                </a:solidFill>
                <a:latin typeface="Arial"/>
              </a:rPr>
              <a:t>Hyperparameter tuning  ·  Exact MIP formulation  ·  Protocol details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Backup — Hyperparameter Tuning Supplement</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Paper-style grid search, 5-fold stratified CV on the frozen training split only</a:t>
            </a:r>
          </a:p>
        </p:txBody>
      </p:sp>
      <p:sp>
        <p:nvSpPr>
          <p:cNvPr id="5" name="TextBox 4"/>
          <p:cNvSpPr txBox="1"/>
          <p:nvPr/>
        </p:nvSpPr>
        <p:spPr>
          <a:xfrm>
            <a:off x="502920" y="1783080"/>
            <a:ext cx="1828800" cy="347472"/>
          </a:xfrm>
          <a:prstGeom prst="rect">
            <a:avLst/>
          </a:prstGeom>
          <a:noFill/>
        </p:spPr>
        <p:txBody>
          <a:bodyPr wrap="square" lIns="0" rIns="0" tIns="0" bIns="0">
            <a:spAutoFit/>
          </a:bodyPr>
          <a:lstStyle/>
          <a:p>
            <a:pPr algn="l">
              <a:spcAft>
                <a:spcPts val="0"/>
              </a:spcAft>
            </a:pPr>
            <a:r>
              <a:rPr sz="950" b="1" i="0">
                <a:solidFill>
                  <a:srgbClr val="003359"/>
                </a:solidFill>
                <a:latin typeface="Arial"/>
              </a:rPr>
              <a:t>Model</a:t>
            </a:r>
          </a:p>
        </p:txBody>
      </p:sp>
      <p:sp>
        <p:nvSpPr>
          <p:cNvPr id="6" name="TextBox 5"/>
          <p:cNvSpPr txBox="1"/>
          <p:nvPr/>
        </p:nvSpPr>
        <p:spPr>
          <a:xfrm>
            <a:off x="2423160" y="1783080"/>
            <a:ext cx="1645920" cy="347472"/>
          </a:xfrm>
          <a:prstGeom prst="rect">
            <a:avLst/>
          </a:prstGeom>
          <a:noFill/>
        </p:spPr>
        <p:txBody>
          <a:bodyPr wrap="square" lIns="0" rIns="0" tIns="0" bIns="0">
            <a:spAutoFit/>
          </a:bodyPr>
          <a:lstStyle/>
          <a:p>
            <a:pPr algn="l">
              <a:spcAft>
                <a:spcPts val="0"/>
              </a:spcAft>
            </a:pPr>
            <a:r>
              <a:rPr sz="950" b="1" i="0">
                <a:solidFill>
                  <a:srgbClr val="003359"/>
                </a:solidFill>
                <a:latin typeface="Arial"/>
              </a:rPr>
              <a:t>Best CV accuracy</a:t>
            </a:r>
          </a:p>
        </p:txBody>
      </p:sp>
      <p:sp>
        <p:nvSpPr>
          <p:cNvPr id="7" name="TextBox 6"/>
          <p:cNvSpPr txBox="1"/>
          <p:nvPr/>
        </p:nvSpPr>
        <p:spPr>
          <a:xfrm>
            <a:off x="4160520" y="1783080"/>
            <a:ext cx="1645920" cy="347472"/>
          </a:xfrm>
          <a:prstGeom prst="rect">
            <a:avLst/>
          </a:prstGeom>
          <a:noFill/>
        </p:spPr>
        <p:txBody>
          <a:bodyPr wrap="square" lIns="0" rIns="0" tIns="0" bIns="0">
            <a:spAutoFit/>
          </a:bodyPr>
          <a:lstStyle/>
          <a:p>
            <a:pPr algn="l">
              <a:spcAft>
                <a:spcPts val="0"/>
              </a:spcAft>
            </a:pPr>
            <a:r>
              <a:rPr sz="950" b="1" i="0">
                <a:solidFill>
                  <a:srgbClr val="003359"/>
                </a:solidFill>
                <a:latin typeface="Arial"/>
              </a:rPr>
              <a:t>Tuned test regret</a:t>
            </a:r>
          </a:p>
        </p:txBody>
      </p:sp>
      <p:sp>
        <p:nvSpPr>
          <p:cNvPr id="8" name="TextBox 7"/>
          <p:cNvSpPr txBox="1"/>
          <p:nvPr/>
        </p:nvSpPr>
        <p:spPr>
          <a:xfrm>
            <a:off x="5897880" y="1783080"/>
            <a:ext cx="2834640" cy="347472"/>
          </a:xfrm>
          <a:prstGeom prst="rect">
            <a:avLst/>
          </a:prstGeom>
          <a:noFill/>
        </p:spPr>
        <p:txBody>
          <a:bodyPr wrap="square" lIns="0" rIns="0" tIns="0" bIns="0">
            <a:spAutoFit/>
          </a:bodyPr>
          <a:lstStyle/>
          <a:p>
            <a:pPr algn="l">
              <a:spcAft>
                <a:spcPts val="0"/>
              </a:spcAft>
            </a:pPr>
            <a:r>
              <a:rPr sz="950" b="1" i="0">
                <a:solidFill>
                  <a:srgbClr val="003359"/>
                </a:solidFill>
                <a:latin typeface="Arial"/>
              </a:rPr>
              <a:t>Best parameters</a:t>
            </a:r>
          </a:p>
        </p:txBody>
      </p:sp>
      <p:sp>
        <p:nvSpPr>
          <p:cNvPr id="9" name="TextBox 8"/>
          <p:cNvSpPr txBox="1"/>
          <p:nvPr/>
        </p:nvSpPr>
        <p:spPr>
          <a:xfrm>
            <a:off x="502920" y="2185416"/>
            <a:ext cx="182880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Random Forest</a:t>
            </a:r>
          </a:p>
        </p:txBody>
      </p:sp>
      <p:sp>
        <p:nvSpPr>
          <p:cNvPr id="10" name="TextBox 9"/>
          <p:cNvSpPr txBox="1"/>
          <p:nvPr/>
        </p:nvSpPr>
        <p:spPr>
          <a:xfrm>
            <a:off x="2423160" y="2185416"/>
            <a:ext cx="164592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0.392</a:t>
            </a:r>
          </a:p>
        </p:txBody>
      </p:sp>
      <p:sp>
        <p:nvSpPr>
          <p:cNvPr id="11" name="TextBox 10"/>
          <p:cNvSpPr txBox="1"/>
          <p:nvPr/>
        </p:nvSpPr>
        <p:spPr>
          <a:xfrm>
            <a:off x="4160520" y="2185416"/>
            <a:ext cx="164592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1.33%</a:t>
            </a:r>
          </a:p>
        </p:txBody>
      </p:sp>
      <p:sp>
        <p:nvSpPr>
          <p:cNvPr id="12" name="TextBox 11"/>
          <p:cNvSpPr txBox="1"/>
          <p:nvPr/>
        </p:nvSpPr>
        <p:spPr>
          <a:xfrm>
            <a:off x="5897880" y="2185416"/>
            <a:ext cx="283464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100 trees, sqrt features, leaf ≥ 5</a:t>
            </a:r>
          </a:p>
        </p:txBody>
      </p:sp>
      <p:sp>
        <p:nvSpPr>
          <p:cNvPr id="13" name="Rectangle 12"/>
          <p:cNvSpPr/>
          <p:nvPr/>
        </p:nvSpPr>
        <p:spPr>
          <a:xfrm>
            <a:off x="320040" y="2551176"/>
            <a:ext cx="850392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587752"/>
            <a:ext cx="182880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KNN</a:t>
            </a:r>
          </a:p>
        </p:txBody>
      </p:sp>
      <p:sp>
        <p:nvSpPr>
          <p:cNvPr id="15" name="TextBox 14"/>
          <p:cNvSpPr txBox="1"/>
          <p:nvPr/>
        </p:nvSpPr>
        <p:spPr>
          <a:xfrm>
            <a:off x="2423160" y="2587752"/>
            <a:ext cx="164592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0.404</a:t>
            </a:r>
          </a:p>
        </p:txBody>
      </p:sp>
      <p:sp>
        <p:nvSpPr>
          <p:cNvPr id="16" name="TextBox 15"/>
          <p:cNvSpPr txBox="1"/>
          <p:nvPr/>
        </p:nvSpPr>
        <p:spPr>
          <a:xfrm>
            <a:off x="4160520" y="2587752"/>
            <a:ext cx="164592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1.22%</a:t>
            </a:r>
          </a:p>
        </p:txBody>
      </p:sp>
      <p:sp>
        <p:nvSpPr>
          <p:cNvPr id="17" name="TextBox 16"/>
          <p:cNvSpPr txBox="1"/>
          <p:nvPr/>
        </p:nvSpPr>
        <p:spPr>
          <a:xfrm>
            <a:off x="5897880" y="2587752"/>
            <a:ext cx="283464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k = 15, distance weights</a:t>
            </a:r>
          </a:p>
        </p:txBody>
      </p:sp>
      <p:sp>
        <p:nvSpPr>
          <p:cNvPr id="18" name="TextBox 17"/>
          <p:cNvSpPr txBox="1"/>
          <p:nvPr/>
        </p:nvSpPr>
        <p:spPr>
          <a:xfrm>
            <a:off x="502920" y="2990088"/>
            <a:ext cx="182880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Decision Tree</a:t>
            </a:r>
          </a:p>
        </p:txBody>
      </p:sp>
      <p:sp>
        <p:nvSpPr>
          <p:cNvPr id="19" name="TextBox 18"/>
          <p:cNvSpPr txBox="1"/>
          <p:nvPr/>
        </p:nvSpPr>
        <p:spPr>
          <a:xfrm>
            <a:off x="2423160" y="2990088"/>
            <a:ext cx="164592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0.402</a:t>
            </a:r>
          </a:p>
        </p:txBody>
      </p:sp>
      <p:sp>
        <p:nvSpPr>
          <p:cNvPr id="20" name="TextBox 19"/>
          <p:cNvSpPr txBox="1"/>
          <p:nvPr/>
        </p:nvSpPr>
        <p:spPr>
          <a:xfrm>
            <a:off x="4160520" y="2990088"/>
            <a:ext cx="164592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1.14%</a:t>
            </a:r>
          </a:p>
        </p:txBody>
      </p:sp>
      <p:sp>
        <p:nvSpPr>
          <p:cNvPr id="21" name="TextBox 20"/>
          <p:cNvSpPr txBox="1"/>
          <p:nvPr/>
        </p:nvSpPr>
        <p:spPr>
          <a:xfrm>
            <a:off x="5897880" y="2990088"/>
            <a:ext cx="283464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depth 4</a:t>
            </a:r>
          </a:p>
        </p:txBody>
      </p:sp>
      <p:sp>
        <p:nvSpPr>
          <p:cNvPr id="22" name="Rectangle 21"/>
          <p:cNvSpPr/>
          <p:nvPr/>
        </p:nvSpPr>
        <p:spPr>
          <a:xfrm>
            <a:off x="320040" y="3355848"/>
            <a:ext cx="850392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3392424"/>
            <a:ext cx="182880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Gradient Boosting</a:t>
            </a:r>
          </a:p>
        </p:txBody>
      </p:sp>
      <p:sp>
        <p:nvSpPr>
          <p:cNvPr id="24" name="TextBox 23"/>
          <p:cNvSpPr txBox="1"/>
          <p:nvPr/>
        </p:nvSpPr>
        <p:spPr>
          <a:xfrm>
            <a:off x="2423160" y="3392424"/>
            <a:ext cx="164592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0.394</a:t>
            </a:r>
          </a:p>
        </p:txBody>
      </p:sp>
      <p:sp>
        <p:nvSpPr>
          <p:cNvPr id="25" name="TextBox 24"/>
          <p:cNvSpPr txBox="1"/>
          <p:nvPr/>
        </p:nvSpPr>
        <p:spPr>
          <a:xfrm>
            <a:off x="4160520" y="3392424"/>
            <a:ext cx="164592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1.24%</a:t>
            </a:r>
          </a:p>
        </p:txBody>
      </p:sp>
      <p:sp>
        <p:nvSpPr>
          <p:cNvPr id="26" name="TextBox 25"/>
          <p:cNvSpPr txBox="1"/>
          <p:nvPr/>
        </p:nvSpPr>
        <p:spPr>
          <a:xfrm>
            <a:off x="5897880" y="3392424"/>
            <a:ext cx="2834640" cy="347472"/>
          </a:xfrm>
          <a:prstGeom prst="rect">
            <a:avLst/>
          </a:prstGeom>
          <a:noFill/>
        </p:spPr>
        <p:txBody>
          <a:bodyPr wrap="square" lIns="0" rIns="0" tIns="0" bIns="0">
            <a:spAutoFit/>
          </a:bodyPr>
          <a:lstStyle/>
          <a:p>
            <a:pPr algn="l">
              <a:spcAft>
                <a:spcPts val="0"/>
              </a:spcAft>
            </a:pPr>
            <a:r>
              <a:rPr sz="1000" b="0" i="0">
                <a:solidFill>
                  <a:srgbClr val="000000"/>
                </a:solidFill>
                <a:latin typeface="Arial"/>
              </a:rPr>
              <a:t>100 est., lr 0.05, depth 2</a:t>
            </a:r>
          </a:p>
        </p:txBody>
      </p:sp>
      <p:sp>
        <p:nvSpPr>
          <p:cNvPr id="27" name="TextBox 26"/>
          <p:cNvSpPr txBox="1"/>
          <p:nvPr/>
        </p:nvSpPr>
        <p:spPr>
          <a:xfrm>
            <a:off x="320040" y="4069080"/>
            <a:ext cx="8503920" cy="731520"/>
          </a:xfrm>
          <a:prstGeom prst="rect">
            <a:avLst/>
          </a:prstGeom>
          <a:noFill/>
        </p:spPr>
        <p:txBody>
          <a:bodyPr wrap="square" lIns="0" rIns="0" tIns="0" bIns="0">
            <a:spAutoFit/>
          </a:bodyPr>
          <a:lstStyle/>
          <a:p>
            <a:pPr algn="l">
              <a:spcAft>
                <a:spcPts val="0"/>
              </a:spcAft>
            </a:pPr>
            <a:r>
              <a:rPr sz="1050" b="0" i="0">
                <a:solidFill>
                  <a:srgbClr val="000000"/>
                </a:solidFill>
                <a:latin typeface="Arial"/>
              </a:rPr>
              <a:t>All CV accuracies land in a narrow band (0.392–0.404); tuned test regrets straddle the frozen Random Forest's 1.24% within noise. The fixed hyperparameters were reasonable — the frozen headline results stand.</a:t>
            </a:r>
          </a:p>
        </p:txBody>
      </p:sp>
      <p:sp>
        <p:nvSpPr>
          <p:cNvPr id="28" name="TextBox 27"/>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29" name="TextBox 28"/>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Backup — Exact MIP Formulation</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Two-index arc formulation with load propagation (MTZ-style), gurobipy</a:t>
            </a:r>
          </a:p>
        </p:txBody>
      </p:sp>
      <p:sp>
        <p:nvSpPr>
          <p:cNvPr id="5" name="TextBox 4"/>
          <p:cNvSpPr txBox="1"/>
          <p:nvPr/>
        </p:nvSpPr>
        <p:spPr>
          <a:xfrm>
            <a:off x="320040" y="1783080"/>
            <a:ext cx="4937760" cy="2926080"/>
          </a:xfrm>
          <a:prstGeom prst="rect">
            <a:avLst/>
          </a:prstGeom>
          <a:noFill/>
        </p:spPr>
        <p:txBody>
          <a:bodyPr wrap="square" lIns="0" rIns="0" tIns="0" bIns="0">
            <a:spAutoFit/>
          </a:bodyPr>
          <a:lstStyle/>
          <a:p>
            <a:pPr algn="l">
              <a:spcAft>
                <a:spcPts val="700"/>
              </a:spcAft>
            </a:pPr>
            <a:r>
              <a:rPr sz="1150" b="1" i="0">
                <a:solidFill>
                  <a:srgbClr val="003359"/>
                </a:solidFill>
                <a:latin typeface="Arial"/>
              </a:rPr>
              <a:t>min  Σ cᵢⱼ xᵢⱼ   over all arcs (i, j)</a:t>
            </a:r>
          </a:p>
          <a:p>
            <a:pPr algn="l">
              <a:spcAft>
                <a:spcPts val="700"/>
              </a:spcAft>
            </a:pPr>
            <a:r>
              <a:rPr sz="1050" b="0" i="0">
                <a:solidFill>
                  <a:srgbClr val="000000"/>
                </a:solidFill>
                <a:latin typeface="Arial"/>
              </a:rPr>
              <a:t>Σⱼ xᵢⱼ = 1  and  Σⱼ xⱼᵢ = 1   — each customer entered &amp; left once</a:t>
            </a:r>
          </a:p>
          <a:p>
            <a:pPr algn="l">
              <a:spcAft>
                <a:spcPts val="700"/>
              </a:spcAft>
            </a:pPr>
            <a:r>
              <a:rPr sz="1050" b="0" i="0">
                <a:solidFill>
                  <a:srgbClr val="000000"/>
                </a:solidFill>
                <a:latin typeface="Arial"/>
              </a:rPr>
              <a:t>depot departures = depot returns</a:t>
            </a:r>
          </a:p>
          <a:p>
            <a:pPr algn="l">
              <a:spcAft>
                <a:spcPts val="700"/>
              </a:spcAft>
            </a:pPr>
            <a:r>
              <a:rPr sz="1050" b="0" i="0">
                <a:solidFill>
                  <a:srgbClr val="000000"/>
                </a:solidFill>
                <a:latin typeface="Arial"/>
              </a:rPr>
              <a:t>uⱼ ≥ uᵢ + qⱼ − Q(1 − xᵢⱼ)   — load propagates along arcs</a:t>
            </a:r>
          </a:p>
          <a:p>
            <a:pPr algn="l">
              <a:spcAft>
                <a:spcPts val="700"/>
              </a:spcAft>
            </a:pPr>
            <a:r>
              <a:rPr sz="1050" b="0" i="0">
                <a:solidFill>
                  <a:srgbClr val="000000"/>
                </a:solidFill>
                <a:latin typeface="Arial"/>
              </a:rPr>
              <a:t>qᵢ ≤ uᵢ ≤ Q   — loads bounded by capacity</a:t>
            </a:r>
          </a:p>
          <a:p>
            <a:pPr algn="l">
              <a:spcAft>
                <a:spcPts val="700"/>
              </a:spcAft>
            </a:pPr>
            <a:r>
              <a:rPr sz="1050" b="0" i="0">
                <a:solidFill>
                  <a:srgbClr val="000000"/>
                </a:solidFill>
                <a:latin typeface="Arial"/>
              </a:rPr>
              <a:t>xᵢⱼ ∈ {0, 1}</a:t>
            </a:r>
          </a:p>
        </p:txBody>
      </p:sp>
      <p:sp>
        <p:nvSpPr>
          <p:cNvPr id="6" name="TextBox 5"/>
          <p:cNvSpPr txBox="1"/>
          <p:nvPr/>
        </p:nvSpPr>
        <p:spPr>
          <a:xfrm>
            <a:off x="5577840" y="1783080"/>
            <a:ext cx="3246120" cy="2926080"/>
          </a:xfrm>
          <a:prstGeom prst="rect">
            <a:avLst/>
          </a:prstGeom>
          <a:noFill/>
        </p:spPr>
        <p:txBody>
          <a:bodyPr wrap="square" lIns="0" rIns="0" tIns="0" bIns="0">
            <a:spAutoFit/>
          </a:bodyPr>
          <a:lstStyle/>
          <a:p>
            <a:pPr algn="l">
              <a:spcAft>
                <a:spcPts val="500"/>
              </a:spcAft>
            </a:pPr>
            <a:r>
              <a:rPr sz="1250" b="1" i="0">
                <a:solidFill>
                  <a:srgbClr val="003359"/>
                </a:solidFill>
                <a:latin typeface="Arial"/>
              </a:rPr>
              <a:t>Notes</a:t>
            </a:r>
          </a:p>
          <a:p>
            <a:pPr algn="l">
              <a:spcAft>
                <a:spcPts val="600"/>
              </a:spcAft>
            </a:pPr>
            <a:r>
              <a:rPr sz="950" b="0" i="0">
                <a:solidFill>
                  <a:srgbClr val="000000"/>
                </a:solidFill>
                <a:latin typeface="Arial"/>
              </a:rPr>
              <a:t>•  Load constraints eliminate subtours and enforce capacity simultaneously.</a:t>
            </a:r>
          </a:p>
          <a:p>
            <a:pPr algn="l">
              <a:spcAft>
                <a:spcPts val="600"/>
              </a:spcAft>
            </a:pPr>
            <a:r>
              <a:rPr sz="950" b="0" i="0">
                <a:solidFill>
                  <a:srgbClr val="000000"/>
                </a:solidFill>
                <a:latin typeface="Arial"/>
              </a:rPr>
              <a:t>•  Unlimited fleet — matches the heuristic convention.</a:t>
            </a:r>
          </a:p>
          <a:p>
            <a:pPr algn="l">
              <a:spcAft>
                <a:spcPts val="600"/>
              </a:spcAft>
            </a:pPr>
            <a:r>
              <a:rPr sz="950" b="0" i="0">
                <a:solidFill>
                  <a:srgbClr val="000000"/>
                </a:solidFill>
                <a:latin typeface="Arial"/>
              </a:rPr>
              <a:t>•  n = 20 → 440 binary variables; the free license caps at 2,000 (hence no exact solve at n = 51).</a:t>
            </a:r>
          </a:p>
          <a:p>
            <a:pPr algn="l">
              <a:spcAft>
                <a:spcPts val="600"/>
              </a:spcAft>
            </a:pPr>
            <a:r>
              <a:rPr sz="950" b="0" i="0">
                <a:solidFill>
                  <a:srgbClr val="000000"/>
                </a:solidFill>
                <a:latin typeface="Arial"/>
              </a:rPr>
              <a:t>•  Every Gurobi solution re-validated and re-costed independently.</a:t>
            </a:r>
          </a:p>
        </p:txBody>
      </p:sp>
      <p:sp>
        <p:nvSpPr>
          <p:cNvPr id="7" name="TextBox 6"/>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8" name="TextBox 7"/>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a:latin typeface="Arial"/>
              </a:rPr>
              <a:t>Backup — Protocol Details</a:t>
            </a:r>
          </a:p>
        </p:txBody>
      </p:sp>
      <p:sp>
        <p:nvSpPr>
          <p:cNvPr id="4" name="TextBox 3"/>
          <p:cNvSpPr txBox="1"/>
          <p:nvPr/>
        </p:nvSpPr>
        <p:spPr>
          <a:xfrm>
            <a:off x="320040" y="1435608"/>
            <a:ext cx="8503920" cy="274320"/>
          </a:xfrm>
          <a:prstGeom prst="rect">
            <a:avLst/>
          </a:prstGeom>
          <a:noFill/>
        </p:spPr>
        <p:txBody>
          <a:bodyPr wrap="square" lIns="0" rIns="0" tIns="0" bIns="0">
            <a:spAutoFit/>
          </a:bodyPr>
          <a:lstStyle/>
          <a:p>
            <a:pPr algn="l">
              <a:spcAft>
                <a:spcPts val="400"/>
              </a:spcAft>
            </a:pPr>
            <a:r>
              <a:rPr sz="1100" b="0" i="1">
                <a:solidFill>
                  <a:srgbClr val="595959"/>
                </a:solidFill>
                <a:latin typeface="Arial"/>
              </a:rPr>
              <a:t>The fine print behind the numbers</a:t>
            </a:r>
          </a:p>
        </p:txBody>
      </p:sp>
      <p:sp>
        <p:nvSpPr>
          <p:cNvPr id="5" name="Rounded Rectangle 4"/>
          <p:cNvSpPr/>
          <p:nvPr/>
        </p:nvSpPr>
        <p:spPr>
          <a:xfrm>
            <a:off x="320040" y="1737360"/>
            <a:ext cx="2697480" cy="301752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883664"/>
            <a:ext cx="2331720" cy="2743200"/>
          </a:xfrm>
          <a:prstGeom prst="rect">
            <a:avLst/>
          </a:prstGeom>
          <a:noFill/>
        </p:spPr>
        <p:txBody>
          <a:bodyPr wrap="square" lIns="0" rIns="0" tIns="0" bIns="0">
            <a:spAutoFit/>
          </a:bodyPr>
          <a:lstStyle/>
          <a:p>
            <a:pPr algn="l">
              <a:spcAft>
                <a:spcPts val="500"/>
              </a:spcAft>
            </a:pPr>
            <a:r>
              <a:rPr sz="1150" b="1" i="0">
                <a:solidFill>
                  <a:srgbClr val="003359"/>
                </a:solidFill>
                <a:latin typeface="Arial"/>
              </a:rPr>
              <a:t>Labels &amp; budget</a:t>
            </a:r>
          </a:p>
          <a:p>
            <a:pPr algn="l">
              <a:spcAft>
                <a:spcPts val="600"/>
              </a:spcAft>
            </a:pPr>
            <a:r>
              <a:rPr sz="900" b="0" i="0">
                <a:solidFill>
                  <a:srgbClr val="000000"/>
                </a:solidFill>
                <a:latin typeface="Arial"/>
              </a:rPr>
              <a:t>•  20 s wall-clock per solver run; timeout = failure (1 of 6,300 runs).</a:t>
            </a:r>
          </a:p>
          <a:p>
            <a:pPr algn="l">
              <a:spcAft>
                <a:spcPts val="600"/>
              </a:spcAft>
            </a:pPr>
            <a:r>
              <a:rPr sz="900" b="0" i="0">
                <a:solidFill>
                  <a:srgbClr val="000000"/>
                </a:solidFill>
                <a:latin typeface="Arial"/>
              </a:rPr>
              <a:t>•  Label = lowest feasible cost; exact ties break toward the faster solver.</a:t>
            </a:r>
          </a:p>
          <a:p>
            <a:pPr algn="l">
              <a:spcAft>
                <a:spcPts val="600"/>
              </a:spcAft>
            </a:pPr>
            <a:r>
              <a:rPr sz="900" b="0" i="0">
                <a:solidFill>
                  <a:srgbClr val="000000"/>
                </a:solidFill>
                <a:latin typeface="Arial"/>
              </a:rPr>
              <a:t>•  CVRPLIB rounded-distance convention throughout.</a:t>
            </a:r>
          </a:p>
        </p:txBody>
      </p:sp>
      <p:sp>
        <p:nvSpPr>
          <p:cNvPr id="7" name="Rounded Rectangle 6"/>
          <p:cNvSpPr/>
          <p:nvPr/>
        </p:nvSpPr>
        <p:spPr>
          <a:xfrm>
            <a:off x="3218688" y="1737360"/>
            <a:ext cx="2697480" cy="301752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01568" y="1883664"/>
            <a:ext cx="2331720" cy="2743200"/>
          </a:xfrm>
          <a:prstGeom prst="rect">
            <a:avLst/>
          </a:prstGeom>
          <a:noFill/>
        </p:spPr>
        <p:txBody>
          <a:bodyPr wrap="square" lIns="0" rIns="0" tIns="0" bIns="0">
            <a:spAutoFit/>
          </a:bodyPr>
          <a:lstStyle/>
          <a:p>
            <a:pPr algn="l">
              <a:spcAft>
                <a:spcPts val="500"/>
              </a:spcAft>
            </a:pPr>
            <a:r>
              <a:rPr sz="1150" b="1" i="0">
                <a:solidFill>
                  <a:srgbClr val="003359"/>
                </a:solidFill>
                <a:latin typeface="Arial"/>
              </a:rPr>
              <a:t>Integrity checks</a:t>
            </a:r>
          </a:p>
          <a:p>
            <a:pPr algn="l">
              <a:spcAft>
                <a:spcPts val="600"/>
              </a:spcAft>
            </a:pPr>
            <a:r>
              <a:rPr sz="900" b="0" i="0">
                <a:solidFill>
                  <a:srgbClr val="000000"/>
                </a:solidFill>
                <a:latin typeface="Arial"/>
              </a:rPr>
              <a:t>•  Labels re-derived from raw costs at every load.</a:t>
            </a:r>
          </a:p>
          <a:p>
            <a:pPr algn="l">
              <a:spcAft>
                <a:spcPts val="600"/>
              </a:spcAft>
            </a:pPr>
            <a:r>
              <a:rPr sz="900" b="0" i="0">
                <a:solidFill>
                  <a:srgbClr val="000000"/>
                </a:solidFill>
                <a:latin typeface="Arial"/>
              </a:rPr>
              <a:t>•  Train/test IDs disjoint; VBS regret exactly 0 by assertion.</a:t>
            </a:r>
          </a:p>
          <a:p>
            <a:pPr algn="l">
              <a:spcAft>
                <a:spcPts val="600"/>
              </a:spcAft>
            </a:pPr>
            <a:r>
              <a:rPr sz="900" b="0" i="0">
                <a:solidFill>
                  <a:srgbClr val="000000"/>
                </a:solidFill>
                <a:latin typeface="Arial"/>
              </a:rPr>
              <a:t>•  Prohibited feature columns rejected by code, not convention.</a:t>
            </a:r>
          </a:p>
        </p:txBody>
      </p:sp>
      <p:sp>
        <p:nvSpPr>
          <p:cNvPr id="9" name="Rounded Rectangle 8"/>
          <p:cNvSpPr/>
          <p:nvPr/>
        </p:nvSpPr>
        <p:spPr>
          <a:xfrm>
            <a:off x="6117336" y="1737360"/>
            <a:ext cx="2697480" cy="3017520"/>
          </a:xfrm>
          <a:prstGeom prst="roundRect">
            <a:avLst>
              <a:gd name="adj" fmla="val 7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0216" y="1883664"/>
            <a:ext cx="2331720" cy="2743200"/>
          </a:xfrm>
          <a:prstGeom prst="rect">
            <a:avLst/>
          </a:prstGeom>
          <a:noFill/>
        </p:spPr>
        <p:txBody>
          <a:bodyPr wrap="square" lIns="0" rIns="0" tIns="0" bIns="0">
            <a:spAutoFit/>
          </a:bodyPr>
          <a:lstStyle/>
          <a:p>
            <a:pPr algn="l">
              <a:spcAft>
                <a:spcPts val="500"/>
              </a:spcAft>
            </a:pPr>
            <a:r>
              <a:rPr sz="1150" b="1" i="0">
                <a:solidFill>
                  <a:srgbClr val="003359"/>
                </a:solidFill>
                <a:latin typeface="Arial"/>
              </a:rPr>
              <a:t>Environment</a:t>
            </a:r>
          </a:p>
          <a:p>
            <a:pPr algn="l">
              <a:spcAft>
                <a:spcPts val="600"/>
              </a:spcAft>
            </a:pPr>
            <a:r>
              <a:rPr sz="900" b="0" i="0">
                <a:solidFill>
                  <a:srgbClr val="000000"/>
                </a:solidFill>
                <a:latin typeface="Arial"/>
              </a:rPr>
              <a:t>•  VeRyPy pinned to a fixed commit; PyVRP 0.13; gurobipy 13.</a:t>
            </a:r>
          </a:p>
          <a:p>
            <a:pPr algn="l">
              <a:spcAft>
                <a:spcPts val="600"/>
              </a:spcAft>
            </a:pPr>
            <a:r>
              <a:rPr sz="900" b="0" i="0">
                <a:solidFill>
                  <a:srgbClr val="000000"/>
                </a:solidFill>
                <a:latin typeface="Arial"/>
              </a:rPr>
              <a:t>•  Frozen headline experiment untouched; extensions record package versions.</a:t>
            </a:r>
          </a:p>
          <a:p>
            <a:pPr algn="l">
              <a:spcAft>
                <a:spcPts val="600"/>
              </a:spcAft>
            </a:pPr>
            <a:r>
              <a:rPr sz="900" b="0" i="0">
                <a:solidFill>
                  <a:srgbClr val="000000"/>
                </a:solidFill>
                <a:latin typeface="Arial"/>
              </a:rPr>
              <a:t>•  Everything re-runs via documented commands (uv).</a:t>
            </a:r>
          </a:p>
        </p:txBody>
      </p:sp>
      <p:sp>
        <p:nvSpPr>
          <p:cNvPr id="11" name="TextBox 10"/>
          <p:cNvSpPr txBox="1"/>
          <p:nvPr/>
        </p:nvSpPr>
        <p:spPr>
          <a:xfrm>
            <a:off x="320040" y="4873752"/>
            <a:ext cx="6217920" cy="219456"/>
          </a:xfrm>
          <a:prstGeom prst="rect">
            <a:avLst/>
          </a:prstGeom>
          <a:noFill/>
        </p:spPr>
        <p:txBody>
          <a:bodyPr wrap="square" lIns="0" rIns="0" tIns="0" bIns="0">
            <a:spAutoFit/>
          </a:bodyPr>
          <a:lstStyle/>
          <a:p>
            <a:pPr algn="l">
              <a:spcAft>
                <a:spcPts val="0"/>
              </a:spcAft>
            </a:pPr>
            <a:r>
              <a:rPr sz="800" b="0" i="0">
                <a:solidFill>
                  <a:srgbClr val="595959"/>
                </a:solidFill>
                <a:latin typeface="Arial"/>
              </a:rPr>
              <a:t>Learning which VRP solver works best | Computational Logistics | 21. Juli 2026</a:t>
            </a:r>
          </a:p>
        </p:txBody>
      </p:sp>
      <p:sp>
        <p:nvSpPr>
          <p:cNvPr id="12" name="TextBox 11"/>
          <p:cNvSpPr txBox="1"/>
          <p:nvPr/>
        </p:nvSpPr>
        <p:spPr>
          <a:xfrm>
            <a:off x="8229600" y="4873752"/>
            <a:ext cx="566928" cy="219456"/>
          </a:xfrm>
          <a:prstGeom prst="rect">
            <a:avLst/>
          </a:prstGeom>
          <a:noFill/>
        </p:spPr>
        <p:txBody>
          <a:bodyPr wrap="square" lIns="0" rIns="0" tIns="0" bIns="0">
            <a:spAutoFit/>
          </a:bodyPr>
          <a:lstStyle/>
          <a:p>
            <a:pPr algn="r">
              <a:spcAft>
                <a:spcPts val="0"/>
              </a:spcAft>
            </a:pPr>
            <a:r>
              <a:rPr sz="800" b="0" i="0">
                <a:solidFill>
                  <a:srgbClr val="595959"/>
                </a:solidFill>
                <a:latin typeface="Arial"/>
              </a:rPr>
              <a:t>21</a:t>
            </a:r>
          </a:p>
        </p:txBody>
      </p:sp>
    </p:spTree>
  </p:cSld>
  <p:clrMapOvr>
    <a:masterClrMapping/>
  </p:clrMapOvr>
</p:sld>
</file>

<file path=ppt/theme/theme1.xml><?xml version="1.0" encoding="utf-8"?>
<a:theme xmlns:a="http://schemas.openxmlformats.org/drawingml/2006/main" name="Titel 1">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1E03A00F-5A34-475F-BA84-E2EBED434790}"/>
    </a:ext>
  </a:extLst>
</a:theme>
</file>

<file path=ppt/theme/theme2.xml><?xml version="1.0" encoding="utf-8"?>
<a:theme xmlns:a="http://schemas.openxmlformats.org/drawingml/2006/main" name="Titel 2">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008B5212-AD15-4DA8-AB6C-182350FFA4EA}"/>
    </a:ext>
  </a:extLst>
</a:theme>
</file>

<file path=ppt/theme/theme3.xml><?xml version="1.0" encoding="utf-8"?>
<a:theme xmlns:a="http://schemas.openxmlformats.org/drawingml/2006/main" name="Titel 3">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CFAC8027-78A3-4001-93FE-AE371D2D92B1}"/>
    </a:ext>
  </a:extLst>
</a:theme>
</file>

<file path=ppt/theme/theme4.xml><?xml version="1.0" encoding="utf-8"?>
<a:theme xmlns:a="http://schemas.openxmlformats.org/drawingml/2006/main" name="Inhalt">
  <a:themeElements>
    <a:clrScheme name="TUM">
      <a:dk1>
        <a:sysClr val="windowText" lastClr="000000"/>
      </a:dk1>
      <a:lt1>
        <a:sysClr val="window" lastClr="FFFFFF"/>
      </a:lt1>
      <a:dk2>
        <a:srgbClr val="003359"/>
      </a:dk2>
      <a:lt2>
        <a:srgbClr val="0065BD"/>
      </a:lt2>
      <a:accent1>
        <a:srgbClr val="005293"/>
      </a:accent1>
      <a:accent2>
        <a:srgbClr val="64A0C8"/>
      </a:accent2>
      <a:accent3>
        <a:srgbClr val="98C6EA"/>
      </a:accent3>
      <a:accent4>
        <a:srgbClr val="A2AD00"/>
      </a:accent4>
      <a:accent5>
        <a:srgbClr val="E37222"/>
      </a:accent5>
      <a:accent6>
        <a:srgbClr val="DAD7CB"/>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94C99F27-547F-408F-8FEB-51CB360826DB}"/>
    </a:ext>
  </a:extLst>
</a:theme>
</file>

<file path=ppt/theme/theme5.xml><?xml version="1.0" encoding="utf-8"?>
<a:theme xmlns:a="http://schemas.openxmlformats.org/drawingml/2006/main" name="Kapiteltrenner blau">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D62E0DEB-27C1-4887-9BB6-4AC5FC555B75}"/>
    </a:ext>
  </a:extLst>
</a:theme>
</file>

<file path=ppt/theme/theme6.xml><?xml version="1.0" encoding="utf-8"?>
<a:theme xmlns:a="http://schemas.openxmlformats.org/drawingml/2006/main" name="Kapiteltrenner schwarz">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1" id="{71F9E29F-9B65-4C06-A32E-848D689232B9}" vid="{D4175650-7EAE-421A-870A-005CB3789E30}"/>
    </a:ext>
  </a:extLst>
</a:theme>
</file>

<file path=ppt/theme/theme7.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1058</Words>
  <Application>Microsoft Office PowerPoint</Application>
  <PresentationFormat>Bildschirmpräsentation (16:9)</PresentationFormat>
  <Paragraphs>153</Paragraphs>
  <Slides>22</Slides>
  <Notes>3</Notes>
  <HiddenSlides>0</HiddenSlides>
  <MMClips>0</MMClips>
  <ScaleCrop>false</ScaleCrop>
  <HeadingPairs>
    <vt:vector size="6" baseType="variant">
      <vt:variant>
        <vt:lpstr>Verwendete Schriftarten</vt:lpstr>
      </vt:variant>
      <vt:variant>
        <vt:i4>5</vt:i4>
      </vt:variant>
      <vt:variant>
        <vt:lpstr>Design</vt:lpstr>
      </vt:variant>
      <vt:variant>
        <vt:i4>6</vt:i4>
      </vt:variant>
      <vt:variant>
        <vt:lpstr>Folientitel</vt:lpstr>
      </vt:variant>
      <vt:variant>
        <vt:i4>22</vt:i4>
      </vt:variant>
    </vt:vector>
  </HeadingPairs>
  <TitlesOfParts>
    <vt:vector size="33" baseType="lpstr">
      <vt:lpstr>Arial</vt:lpstr>
      <vt:lpstr>Calibri</vt:lpstr>
      <vt:lpstr>Courier New</vt:lpstr>
      <vt:lpstr>Symbol</vt:lpstr>
      <vt:lpstr>Wingdings</vt:lpstr>
      <vt:lpstr>Titel 1</vt:lpstr>
      <vt:lpstr>Titel 2</vt:lpstr>
      <vt:lpstr>Titel 3</vt:lpstr>
      <vt:lpstr>Inhalt</vt:lpstr>
      <vt:lpstr>Kapiteltrenner blau</vt:lpstr>
      <vt:lpstr>Kapiteltrenner schwarz</vt:lpstr>
      <vt:lpstr>PowerPoint-Präsentation</vt:lpstr>
      <vt:lpstr>PowerPoint-Präsentation</vt:lpstr>
      <vt:lpstr>PowerPoint-Präsentation</vt:lpstr>
      <vt:lpstr>Gültigkeit der Masterfolien</vt:lpstr>
      <vt:lpstr>Grundlage der Masterfolien</vt:lpstr>
      <vt:lpstr>Hier steht eine Überschrift max. 2-zeilig</vt:lpstr>
      <vt:lpstr>Schrift</vt:lpstr>
      <vt:lpstr>Farben</vt:lpstr>
      <vt:lpstr>Texte</vt:lpstr>
      <vt:lpstr>Bilder - Allgemein</vt:lpstr>
      <vt:lpstr>Aufzählung</vt:lpstr>
      <vt:lpstr>Bilder</vt:lpstr>
      <vt:lpstr>Bilder</vt:lpstr>
      <vt:lpstr>Bilder</vt:lpstr>
      <vt:lpstr>Bilder</vt:lpstr>
      <vt:lpstr>Nicht formatfüllende Bilder</vt:lpstr>
      <vt:lpstr>Bilder Format füllend - maximale Bildgröße</vt:lpstr>
      <vt:lpstr>Nicht Format füllende Bilder</vt:lpstr>
      <vt:lpstr>Tabelle – Beispiel 1</vt:lpstr>
      <vt:lpstr>Tabelle – Beispiel 2</vt:lpstr>
      <vt:lpstr>Diagramme – Beispiel 1</vt:lpstr>
      <vt:lpstr>Diagramme</vt:lpstr>
    </vt:vector>
  </TitlesOfParts>
  <Company>TUM ZIT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Bothe, Sonja</dc:creator>
  <cp:lastModifiedBy>Bothe, Sonja</cp:lastModifiedBy>
  <cp:revision>1</cp:revision>
  <cp:lastPrinted>2015-07-30T14:04:45Z</cp:lastPrinted>
  <dcterms:created xsi:type="dcterms:W3CDTF">2021-10-05T07:45:50Z</dcterms:created>
  <dcterms:modified xsi:type="dcterms:W3CDTF">2021-10-05T07:47:12Z</dcterms:modified>
</cp:coreProperties>
</file>