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29"/>
  </p:notesMasterIdLst>
  <p:handoutMasterIdLst>
    <p:handoutMasterId r:id="rId30"/>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12"/>
    <p:sldId id="273" r:id="rId11"/>
    <p:sldId id="274" r:id="rId10"/>
    <p:sldId id="275" r:id="rId9"/>
    <p:sldId id="276" r:id="rId8"/>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272" autoAdjust="0"/>
  </p:normalViewPr>
  <p:slideViewPr>
    <p:cSldViewPr snapToGrid="0">
      <p:cViewPr varScale="1">
        <p:scale>
          <a:sx n="114" d="100"/>
          <a:sy n="114" d="100"/>
        </p:scale>
        <p:origin x="762" y="102"/>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8" Type="http://schemas.openxmlformats.org/officeDocument/2006/relationships/slide" Target="slides/slide21.xml"/><Relationship Id="rId9" Type="http://schemas.openxmlformats.org/officeDocument/2006/relationships/slide" Target="slides/slide20.xml"/><Relationship Id="rId10" Type="http://schemas.openxmlformats.org/officeDocument/2006/relationships/slide" Target="slides/slide19.xml"/><Relationship Id="rId11" Type="http://schemas.openxmlformats.org/officeDocument/2006/relationships/slide" Target="slides/slide18.xml"/><Relationship Id="rId12" Type="http://schemas.openxmlformats.org/officeDocument/2006/relationships/slide" Target="slides/slide17.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c:v>
                </c:pt>
              </c:strCache>
            </c:strRef>
          </c:tx>
          <c:spPr>
            <a:solidFill>
              <a:srgbClr val="005293"/>
            </a:solidFill>
            <a:ln>
              <a:noFill/>
            </a:ln>
          </c:spPr>
          <c:cat>
            <c:strRef>
              <c:f>Sheet1!$A$2:$A$6</c:f>
              <c:strCache>
                <c:ptCount val="5"/>
                <c:pt idx="0">
                  <c:v>Route-first
cluster-2nd</c:v>
                </c:pt>
                <c:pt idx="1">
                  <c:v>Clarke-Wright
+ 2-opt</c:v>
                </c:pt>
                <c:pt idx="2">
                  <c:v>Mole-Jameson
insertion</c:v>
                </c:pt>
                <c:pt idx="3">
                  <c:v>Wren-Holliday
sweep</c:v>
                </c:pt>
                <c:pt idx="4">
                  <c:v>CMT
two-phase</c:v>
                </c:pt>
              </c:strCache>
            </c:strRef>
          </c:cat>
          <c:val>
            <c:numRef>
              <c:f>Sheet1!$B$2:$B$6</c:f>
              <c:numCache>
                <c:formatCode>General</c:formatCode>
                <c:ptCount val="5"/>
                <c:pt idx="0">
                  <c:v>0.256</c:v>
                </c:pt>
                <c:pt idx="1">
                  <c:v>0.249</c:v>
                </c:pt>
                <c:pt idx="2">
                  <c:v>0.211</c:v>
                </c:pt>
                <c:pt idx="3">
                  <c:v>0.189</c:v>
                </c:pt>
                <c:pt idx="4">
                  <c:v>0.094</c:v>
                </c:pt>
              </c:numCache>
            </c:numRef>
          </c:val>
        </c:ser>
        <c:dLbls>
          <c:numFmt formatCode="0%" sourceLinked="0"/>
          <c:txPr>
            <a:bodyPr/>
            <a:lstStyle/>
            <a:p>
              <a:pPr>
                <a:defRPr sz="850" b="1">
                  <a:solidFill>
                    <a:srgbClr val="000000"/>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D9D9D9"/>
            </a:solidFill>
          </a:ln>
        </c:spPr>
        <c:txPr>
          <a:bodyPr/>
          <a:lstStyle/>
          <a:p>
            <a:pPr>
              <a:defRPr sz="800">
                <a:solidFill>
                  <a:srgbClr val="595959"/>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within 1% of best possible</c:v>
                </c:pt>
              </c:strCache>
            </c:strRef>
          </c:tx>
          <c:spPr>
            <a:solidFill>
              <a:srgbClr val="005293"/>
            </a:solidFill>
            <a:ln>
              <a:noFill/>
            </a:ln>
          </c:spPr>
          <c:dPt>
            <c:idx val="4"/>
            <c:spPr>
              <a:solidFill>
                <a:srgbClr val="E37222"/>
              </a:solidFill>
            </c:spPr>
          </c:dPt>
          <c:cat>
            <c:strRef>
              <c:f>Sheet1!$A$2:$A$6</c:f>
              <c:strCache>
                <c:ptCount val="5"/>
                <c:pt idx="0">
                  <c:v>SBS
(no ML)</c:v>
                </c:pt>
                <c:pt idx="1">
                  <c:v>Decision
Tree</c:v>
                </c:pt>
                <c:pt idx="2">
                  <c:v>Gradient
Boosting</c:v>
                </c:pt>
                <c:pt idx="3">
                  <c:v>KNN</c:v>
                </c:pt>
                <c:pt idx="4">
                  <c:v>Random
Forest</c:v>
                </c:pt>
              </c:strCache>
            </c:strRef>
          </c:cat>
          <c:val>
            <c:numRef>
              <c:f>Sheet1!$B$2:$B$6</c:f>
              <c:numCache>
                <c:formatCode>General</c:formatCode>
                <c:ptCount val="5"/>
                <c:pt idx="0">
                  <c:v>0.452</c:v>
                </c:pt>
                <c:pt idx="1">
                  <c:v>0.552</c:v>
                </c:pt>
                <c:pt idx="2">
                  <c:v>0.587</c:v>
                </c:pt>
                <c:pt idx="3">
                  <c:v>0.607</c:v>
                </c:pt>
                <c:pt idx="4">
                  <c:v>0.631</c:v>
                </c:pt>
              </c:numCache>
            </c:numRef>
          </c:val>
        </c:ser>
        <c:dLbls>
          <c:numFmt formatCode="0%" sourceLinked="0"/>
          <c:txPr>
            <a:bodyPr/>
            <a:lstStyle/>
            <a:p>
              <a:pPr>
                <a:defRPr sz="850" b="1">
                  <a:solidFill>
                    <a:srgbClr val="000000"/>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D9D9D9"/>
            </a:solidFill>
          </a:ln>
        </c:spPr>
        <c:txPr>
          <a:bodyPr/>
          <a:lstStyle/>
          <a:p>
            <a:pPr>
              <a:defRPr sz="800">
                <a:solidFill>
                  <a:srgbClr val="595959"/>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importance</c:v>
                </c:pt>
              </c:strCache>
            </c:strRef>
          </c:tx>
          <c:spPr>
            <a:solidFill>
              <a:srgbClr val="005293"/>
            </a:solidFill>
            <a:ln>
              <a:noFill/>
            </a:ln>
          </c:spPr>
          <c:cat>
            <c:strRef>
              <c:f>Sheet1!$A$2:$A$6</c:f>
              <c:strCache>
                <c:ptCount val="5"/>
                <c:pt idx="0">
                  <c:v>Pairwise-distance spread</c:v>
                </c:pt>
                <c:pt idx="1">
                  <c:v>Ring 4 share</c:v>
                </c:pt>
                <c:pt idx="2">
                  <c:v>Depot distance spread</c:v>
                </c:pt>
                <c:pt idx="3">
                  <c:v>Ring 3 share</c:v>
                </c:pt>
                <c:pt idx="4">
                  <c:v>Depot centrality</c:v>
                </c:pt>
              </c:strCache>
            </c:strRef>
          </c:cat>
          <c:val>
            <c:numRef>
              <c:f>Sheet1!$B$2:$B$6</c:f>
              <c:numCache>
                <c:formatCode>General</c:formatCode>
                <c:ptCount val="5"/>
                <c:pt idx="0">
                  <c:v>0.0095</c:v>
                </c:pt>
                <c:pt idx="1">
                  <c:v>0.0103</c:v>
                </c:pt>
                <c:pt idx="2">
                  <c:v>0.0111</c:v>
                </c:pt>
                <c:pt idx="3">
                  <c:v>0.0119</c:v>
                </c:pt>
                <c:pt idx="4">
                  <c:v>0.0135</c:v>
                </c:pt>
              </c:numCache>
            </c:numRef>
          </c:val>
        </c:ser>
        <c:dLbls>
          <c:numFmt formatCode="0.000" sourceLinked="0"/>
          <c:txPr>
            <a:bodyPr/>
            <a:lstStyle/>
            <a:p>
              <a:pPr>
                <a:defRPr sz="800" b="1">
                  <a:solidFill>
                    <a:srgbClr val="000000"/>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delete val="0"/>
        <c:axPos val="b"/>
        <c:majorTickMark val="out"/>
        <c:minorTickMark val="none"/>
        <c:tickLblPos val="nextTo"/>
        <c:spPr>
          <a:ln>
            <a:solidFill>
              <a:srgbClr val="D9D9D9"/>
            </a:solidFill>
          </a:ln>
        </c:spPr>
        <c:txPr>
          <a:bodyPr/>
          <a:lstStyle/>
          <a:p>
            <a:pPr>
              <a:defRPr sz="800">
                <a:solidFill>
                  <a:srgbClr val="595959"/>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Random Forest</c:v>
                </c:pt>
              </c:strCache>
            </c:strRef>
          </c:tx>
          <c:spPr>
            <a:solidFill>
              <a:srgbClr val="E37222"/>
            </a:solidFill>
            <a:ln>
              <a:noFill/>
            </a:ln>
          </c:spPr>
          <c:cat>
            <c:strRef>
              <c:f>Sheet1!$A$2:$A$6</c:f>
              <c:strCache>
                <c:ptCount val="5"/>
                <c:pt idx="0">
                  <c:v>Set A</c:v>
                </c:pt>
                <c:pt idx="1">
                  <c:v>Set B</c:v>
                </c:pt>
                <c:pt idx="2">
                  <c:v>Set E</c:v>
                </c:pt>
                <c:pt idx="3">
                  <c:v>Set P</c:v>
                </c:pt>
                <c:pt idx="4">
                  <c:v>All 85</c:v>
                </c:pt>
              </c:strCache>
            </c:strRef>
          </c:cat>
          <c:val>
            <c:numRef>
              <c:f>Sheet1!$B$2:$B$6</c:f>
              <c:numCache>
                <c:formatCode>General</c:formatCode>
                <c:ptCount val="5"/>
                <c:pt idx="0">
                  <c:v>0.63</c:v>
                </c:pt>
                <c:pt idx="1">
                  <c:v>0.522</c:v>
                </c:pt>
                <c:pt idx="2">
                  <c:v>0.455</c:v>
                </c:pt>
                <c:pt idx="3">
                  <c:v>0.458</c:v>
                </c:pt>
                <c:pt idx="4">
                  <c:v>0.529</c:v>
                </c:pt>
              </c:numCache>
            </c:numRef>
          </c:val>
        </c:ser>
        <c:ser>
          <c:idx val="1"/>
          <c:order val="1"/>
          <c:tx>
            <c:strRef>
              <c:f>Sheet1!$C$1</c:f>
              <c:strCache>
                <c:ptCount val="1"/>
                <c:pt idx="0">
                  <c:v>SBS</c:v>
                </c:pt>
              </c:strCache>
            </c:strRef>
          </c:tx>
          <c:spPr>
            <a:solidFill>
              <a:srgbClr val="98C6EA"/>
            </a:solidFill>
            <a:ln>
              <a:noFill/>
            </a:ln>
          </c:spPr>
          <c:cat>
            <c:strRef>
              <c:f>Sheet1!$A$2:$A$6</c:f>
              <c:strCache>
                <c:ptCount val="5"/>
                <c:pt idx="0">
                  <c:v>Set A</c:v>
                </c:pt>
                <c:pt idx="1">
                  <c:v>Set B</c:v>
                </c:pt>
                <c:pt idx="2">
                  <c:v>Set E</c:v>
                </c:pt>
                <c:pt idx="3">
                  <c:v>Set P</c:v>
                </c:pt>
                <c:pt idx="4">
                  <c:v>All 85</c:v>
                </c:pt>
              </c:strCache>
            </c:strRef>
          </c:cat>
          <c:val>
            <c:numRef>
              <c:f>Sheet1!$C$2:$C$6</c:f>
              <c:numCache>
                <c:formatCode>General</c:formatCode>
                <c:ptCount val="5"/>
                <c:pt idx="0">
                  <c:v>0.593</c:v>
                </c:pt>
                <c:pt idx="1">
                  <c:v>0.435</c:v>
                </c:pt>
                <c:pt idx="2">
                  <c:v>0.273</c:v>
                </c:pt>
                <c:pt idx="3">
                  <c:v>0.333</c:v>
                </c:pt>
                <c:pt idx="4">
                  <c:v>0.435</c:v>
                </c:pt>
              </c:numCache>
            </c:numRef>
          </c:val>
        </c:ser>
        <c:dLbls>
          <c:numFmt formatCode="0%" sourceLinked="0"/>
          <c:txPr>
            <a:bodyPr/>
            <a:lstStyle/>
            <a:p>
              <a:pPr>
                <a:defRPr sz="750" b="1">
                  <a:solidFill>
                    <a:srgbClr val="000000"/>
                  </a:solidFill>
                  <a:latin typeface="Aria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D9D9D9"/>
            </a:solidFill>
          </a:ln>
        </c:spPr>
        <c:txPr>
          <a:bodyPr/>
          <a:lstStyle/>
          <a:p>
            <a:pPr>
              <a:defRPr sz="800">
                <a:solidFill>
                  <a:srgbClr val="595959"/>
                </a:solidFill>
                <a:latin typeface="Arial"/>
              </a:defRPr>
            </a:pPr>
          </a:p>
        </c:txPr>
        <c:crossAx val="-2068027336"/>
        <c:crosses val="autoZero"/>
      </c:valAx>
    </c:plotArea>
    <c:legend>
      <c:legendPos val="b"/>
      <c:overlay val="0"/>
      <c:txPr>
        <a:bodyPr/>
        <a:lstStyle/>
        <a:p>
          <a:pPr>
            <a:defRPr sz="850">
              <a:solidFill>
                <a:srgbClr val="00000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05/10/2021</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‹Nr.›</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05/10/2021</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‹Nr.›</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we're presenting our project “Learning which VRP solver works best”. The one-sentence summary: instead of picking one heuristic for the vehicle routing problem and hoping it's good, we trained a machine-learning model that looks at an instance first and then predicts which of five classical heuristics will solve it best within a fixed time budget. The methodology follows a 2024 paper by Asín-Achá, Espinoza, Goldschmidt, Hochbaum and Huerta in Networks, scaled to a student project. We'll walk from the problem, through the pipeline, to the results — with particular attention to the features we engineered and what they reveal about solver behavior — plus an honest out-of-distribution test on real benchmarks and a speed-versus-quality extension.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set up the problem. In the capacitated vehicle routing problem we have a depot with a fleet of identical vehicles, each with capacity Q. Every customer has a demand and must be visited exactly once. Each route starts and ends at the depot, and the customers on a route can't exceed the vehicle's capacity. We minimize total travelled distance. The picture on the right shows the shape of a solution: the square is the depot and each colored loop is one vehicle's route. The problem is NP-hard — you're deciding simultaneously how to group customers and in which order to visit them — and in logistics practice you often need an answer in seconds. That tension between hardness and speed drives everything in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requirement of the project: introduce the problem by solving instances exactly with gurobipy and heuristically. We modelled CVRP as a mixed-integer program — a two-index arc formulation with load variables that propagate along routes, which eliminates subtours and enforces capacity at the same time. The result is sobering. With six customers, Gurobi proves the optimum in a hundredth of a second and all five heuristics match it. At twenty customers, after five full minutes Gurobi still cannot prove optimality — up to a two percent gap remains open — while the heuristics match or nearly match its best solution in under four hundredths of a second. And at fifty-one customers, the model no longer even fits the free license. So exact solving gives us trustworthy reference points on small instances, but the real work has to be done by fast heuristics. The question becomes: which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empirical fact that motivates the whole project. We ran five classical heuristics on all 1,260 instances of our dataset and asked: which one is best, per instance? The answer: it depends. Route-first cluster-second wins about a quarter of the time, Clarke-Wright with 2-opt another quarter, Mole-Jameson a fifth — even the weakest, the CMT two-phase method, still wins nearly one instance in ten. No solver dominates, and picking wrongly can cost up to nineteen percent extra route length. Which solver wins depends on the geometry of the instance, where the depot sits, and how demands are structured. This is exactly the situation the algorithm-selection literature addresses: don't pick one solver for all instances — learn a model that predicts the winner for each instance. That is the approach of the paper this project follows.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proposed solution as a pipeline. A new instance comes in. We extract thirty-eight cheap features — statistics you can compute before any solving. A trained Random Forest looks at those features and predicts which portfolio heuristic will win. We run only that heuristic, and we get routes back in about a fifth of a second on average. Four design choices matter. First, every solver runs under the same fixed twenty-second budget, so the training label literally means best solution within the budget, with cost ties broken toward the faster solver. Second, strict leakage discipline: features are pre-solution only, enforced by an explicit blocklist in code. Third, algorithm configuration — the same heuristic with different settings — just becomes separate portfolio entries, which is the discretized version of what the paper does. And fourth, if the predicted solver ever fails, we fall back to the single best solver, so the meta-solver never returns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portfolio itself: five classical construction heuristics from the VeRyPy library, spanning the classic families — savings, sweep, insertion, two-phase clustering, and route-first-cluster-second. We use a pinned library commit, and every solution any solver returns is independently re-validated and re-costed by our own code, so no library quirk can leak into the labels. Two things are deliberately missing. Gaskell's savings variant was audited but won only three of 240 development instances — a class with three examples is not learnable, so it stayed out. And there is no genetic algorithm in the portfolio. That is not an oversight: a modern hybrid genetic search would win nearly every instance at this budget, the label distribution would collapse into one class, and there would be nothing left to learn. We benchmark it separately as a reference point, and we'll show you exactly what it buys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training data come from? Following the paper, we generate it synthetically, with the explicit goal of spanning as much instance variation as possible. It's a balanced factorial design: five spatial families — from uniform scatter to tight clusters to ring shapes — times three depot positions, times four demand regimes, times three sizes, times seven random seeds. That gives 1,260 instances and 6,300 timed solver runs; exactly one run ever exceeded the twenty-second budget. Each instance is labelled with the solver that produced the lowest feasible cost within the budget. We split them into 1,008 training and 252 test instances, stratified by label and disjoint by construction. And everything is reproducible — every instance can be regenerated from a stable ID, and the generation manifests are stored next to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the model actually see? Thirty-eight features in five groups, all computable from the raw instance in milliseconds. We engineered them around three hypotheses about what drives solver performance. First: demand structure — how large and how uneven the demands are, and how tightly they squeeze into the fleet; we capture that with capacity pressure and the demand distribution statistics. Second: depot geometry — how central the depot sits relative to the customers, plus the paper's signature feature, ring occupancy: the share of customers in five concentric rings around the depot. Third: overall customer geometry and instance size. Just as important is what the model does not see. Solver outcomes, labels, seeds, generator categories — all blocked by explicit checks; the pipeline throws an error if a prohibited column shows up. So the classifier learns instance characteristics, not leaked answers. Whether our three hypotheses were actually right is what the next two slides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thirty seconds on how selectors are measured, because the field has two standard baselines. The Single Best Solver, SBS, is the one solver that's best on average on the training set — here that's Mole-Jameson insertion. That's what you would deploy if you had no machine learning at all, so it's the baseline to beat. The Virtual Best Solver, VBS, is an oracle that picks the true winner on every single instance — perfect selection, the ceiling. The paper's normalized metric m-hat places a selector on the line between them: zero means you select like the oracle, one means you're no better than the no-ML baseline. Our selector lands at 0.741 — we'll unpack that on the next slide. We also report regret — how many percent the selected solver's route is above the per-instance best — and the share of instances landing within one percent of that best.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result. We trained four model families with dummy-classifier sanity baselines; Random Forest came out best, same as in the paper. The chart shows the share of test instances where the chosen solver lands within one percent of the best possible portfolio result. The no-ML baseline manages that on 45 percent of instances. Random Forest: 63 percent. Mean regret drops from 1.67 to 1.24 percent. On the m-hat scale, that's 0.741 — the selector closes about a quarter of the gap between the baseline and the oracle. Now, you might ask: only 40 percent classification accuracy? Yes — and that's fine. Several solvers are often nearly tied, so a misclassification is usually cheap. What matters is route quality, not label accuracy. One instructive detail: the plain Decision Tree has m-hat above one — a weak selector is actively worse than no selector. Learning has to earn its place.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of our engineered features actually carried the prediction — and did that match our expectations? Held-out permutation importance gives a clear answer, and it splits our three hypotheses three ways. Hypothesis one, demand structure: confirmed. Capacity pressure and demand spread rank at the very top of the tree-based importance ranking. Hypothesis two, depot geometry: not just confirmed but stronger than we anticipated — depot centrality is the single strongest held-out feature, with two of the ring-occupancy shares right behind it. And hypothesis three is the surprise: raw instance size, the most obvious feature of all, is nearly irrelevant — it never enters the top ten. In hindsight that makes sense: all five heuristics scale fine to a hundred customers, so what separates them is the shape of the instance, not its size. One caveat we keep attached to this slide: importances are predictive associations, not causal explanations. But we can go one level deeper and connect the characteristics to individual solvers —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make that concrete and connect instance characteristics to individual solvers — for us, the most interesting result of the project. The demand regime is the strongest signal. With even, low-variance demands, route-first-cluster-second wins forty-one percent of instances: when every customer needs about the same amount, cutting one giant tour into routes is clean. Flip to lumpy, high-variance demands and Clarke-Wright with 2-opt takes over at thirty-eight percent — greedy savings merges absorb uneven demands well. Under tight capacity, Mole-Jameson insertion leads: it checks feasibility at every insertion, which pays off when vehicles run full. Geometry tells the matching story: with a central depot or radial layouts, the Wren-Holliday sweep peaks — it partitions customers by angle around the depot, so it needs angular spread to work with. Put the depot in a corner and sweep fades while insertion takes the lead. Each heuristic's win region matches its construction principle — and this is exactly the signal the Random Forest exploits. The engineered features, not the model class, are the heart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the same analysis from the selector's side. By size, it is best on the hundred-customer instances — 71 percent within one percent of optimal selection — and weakest on the small ones; more geometric structure gives our features more to grab onto. By demand regime, high capacity pressure is clearly the hardest case — when vehicles are squeezed to the limit, solver behavior becomes hard to predict. And randomly placed depots are hardest by position, which fits the importance story we just saw: the model leans on depot geometry, and random placement is exactly where that signal is most variable.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every ML project must answer: does it generalize beyond its own data distribution? We evaluated the frozen selector — trained purely on synthetic instances — on 85 classic CVRPLIB benchmark instances from sets A, B, E and P, re-running the whole portfolio under the same budget and anchoring against the published proven optima. The honest answer: transfer is partial. The chart shows the within-one-percent rate per set — the selector beats the baseline everywhere, 53 versus 43 percent overall. But on mean regret the in-distribution edge largely fades: 1.84 versus 1.88 percent, m-hat essentially one. The paper reports the same phenomenon — stylized benchmark families are hard when you trained on randomized synthetic data. Two silver linings: the portfolio itself is strong on real data — its best solver averages under two percent above proven optima — and on the benchmark E-n51-k5 the selector picks exactly the right heuristic, landing 0.19 percent above the optimum in a sixth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piece: an extension beyond the course requirements that puts the whole project in perspective. If we're willing to spend the entire twenty-second budget on one solver, what does that buy? We benchmarked PyVRP's hybrid genetic search — a state-of-the-art metaheuristic — on a stratified sample of 45 test instances plus the CVRPLIB benchmark. Results: HGS wins or ties the portfolio oracle on every single sampled instance, delivering on average 3.5 percent shorter routes than the ML-selected heuristic — and it finds the proven optimum on E-n51-k5. But it consumes the full twenty seconds, while the ML-selected heuristic answers in a fifth of a second — roughly ninety times less compute. This is exactly why HGS is not in the portfolio: as a label it would swallow the dataset. As a reference, it prices the trade-off cleanly. If you need real-time answers, or initial solutions to warm-start a bigger optimizer, the selector is the right tool. If you can afford twenty seconds per instance, just run HGS. Both answers are useful — they serve different operational regimes.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state the limitations as plainly as the results. The selector is trained on synthetic data, and on real benchmarks its regret advantage largely disappears — we showed you that rather than hiding it. Labels are the portfolio's best, not true optima — though the portfolio's best sits only about two percent above proven optima on real instances. The fixed budget bounds runtime but doesn't reward speed. And the exact baseline is a deliberately simple MTZ formulation under a free license. Against that: per-instance selection genuinely beats the single-best-solver baseline in distribution; cheap pre-solution features — above all depot geometry — carry real signal, and their importance ranking matches solver construction principles; every number in this talk comes from frozen, integrity-checked artifacts anyone can re-run; and the speed-quality trade-off is now measured, not asserted.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in one sentence: look at the instance first, then pick the solver. Thirty-eight engineered features — above all depot geometry and demand structure, whose importance matched each heuristic's construction principle — turn five sixty-year-old heuristics into a meta-solver that beats the standard baseline, transfers — partially and honestly measured — to real benchmarks, and sits in a well-understood spot on the speed-quality spectrum: two hundred milliseconds for routes within about three and a half percent of what a modern genetic search buys with ninety times the compute. Exact where it proves, heuristic where it scales, learned where it chooses. Thank you —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divider — jump here only if a question calls for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paper tunes hyperparameters with a five-fold grid search; our headline experiment used fixed ones. We ran the paper-style search on the frozen training split as a supplement. All models' CV accuracies land within about one point of each other, and tuned test regrets straddle the frozen Random Forest's within noise — so the fixed choices were sound and the frozen results stand.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exact model. It's the classic two-index arc formulation. Binary arc variables, degree constraints, and continuous load variables that propagate along arcs — the load constraints kill subtours and enforce capacity in one stroke. Twenty customers give 440 binary variables; the free license caps at two thousand, which is why the 51-customer benchmark can't be solved exactly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protocol fine print — budget and tie-breaking rules, the integrity checks that guard the frozen artifacts, and the pinned environment. Useful for reproducibility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‹Nr.›</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‹Nr.›</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‹Nr.›</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‹Nr.›</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‹Nr.›</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‹Nr.›</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‹Nr.›</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‹Nr.›</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r>
              <a:rPr lang="de-DE" noProof="0" dirty="0"/>
              <a:t/>
            </a: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‹Nr.›</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r>
              <a:rPr lang="de-DE" noProof="0" dirty="0"/>
              <a:t/>
            </a: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‹Nr.›</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2.jpeg"/><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theme" Target="../theme/theme4.xml"/><Relationship Id="rId10"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5.xml"/><Relationship Id="rId3" Type="http://schemas.openxmlformats.org/officeDocument/2006/relationships/image" Target="../media/image3.e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6.xml"/><Relationship Id="rId3"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pic>
        <p:nvPicPr>
          <p:cNvPr id="5" name="Bild 8" descr="20150416 tum logo blau png final.png"/>
          <p:cNvPicPr>
            <a:picLocks noChangeAspect="1"/>
          </p:cNvPicPr>
          <p:nvPr userDrawn="1"/>
        </p:nvPicPr>
        <p:blipFill>
          <a:blip r:embed="rId3"/>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‹Nr.›</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smtClean="0">
                <a:solidFill>
                  <a:schemeClr val="tx2"/>
                </a:solidFill>
                <a:latin typeface="+mn-lt"/>
              </a:rPr>
              <a:t>TUM</a:t>
            </a:r>
            <a:r>
              <a:rPr lang="de-DE" sz="800" baseline="0" dirty="0" smtClean="0">
                <a:solidFill>
                  <a:schemeClr val="tx2"/>
                </a:solidFill>
                <a:latin typeface="+mn-lt"/>
              </a:rPr>
              <a:t> School </a:t>
            </a:r>
            <a:r>
              <a:rPr lang="de-DE" sz="800" baseline="0" dirty="0" err="1" smtClean="0">
                <a:solidFill>
                  <a:schemeClr val="tx2"/>
                </a:solidFill>
                <a:latin typeface="+mn-lt"/>
              </a:rPr>
              <a:t>of</a:t>
            </a:r>
            <a:r>
              <a:rPr lang="de-DE" sz="800" dirty="0" smtClean="0">
                <a:solidFill>
                  <a:schemeClr val="tx2"/>
                </a:solidFill>
                <a:latin typeface="+mn-lt"/>
              </a:rPr>
              <a:t> </a:t>
            </a:r>
            <a:r>
              <a:rPr lang="de-DE" sz="800" dirty="0">
                <a:solidFill>
                  <a:schemeClr val="tx2"/>
                </a:solidFill>
                <a:latin typeface="+mn-lt"/>
              </a:rPr>
              <a:t>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‹Nr.›</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‹Nr.›</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Learning Which VRP Solver Works Best</a:t>
            </a:r>
          </a:p>
        </p:txBody>
      </p:sp>
      <p:sp>
        <p:nvSpPr>
          <p:cNvPr id="3" name="Content Placeholder 2"/>
          <p:cNvSpPr>
            <a:spLocks noGrp="1"/>
          </p:cNvSpPr>
          <p:nvPr>
            <p:ph idx="10"/>
          </p:nvPr>
        </p:nvSpPr>
        <p:spPr/>
        <p:txBody>
          <a:bodyPr/>
          <a:lstStyle/>
          <a:p/>
        </p:txBody>
      </p:sp>
      <p:sp>
        <p:nvSpPr>
          <p:cNvPr id="4" name="Rectangle 3"/>
          <p:cNvSpPr/>
          <p:nvPr/>
        </p:nvSpPr>
        <p:spPr>
          <a:xfrm>
            <a:off x="320040" y="1463040"/>
            <a:ext cx="8513064"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517904"/>
            <a:ext cx="5852160" cy="914400"/>
          </a:xfrm>
          <a:prstGeom prst="rect">
            <a:avLst/>
          </a:prstGeom>
          <a:noFill/>
        </p:spPr>
        <p:txBody>
          <a:bodyPr wrap="square" lIns="0" rIns="0" tIns="0" bIns="0">
            <a:spAutoFit/>
          </a:bodyPr>
          <a:lstStyle/>
          <a:p>
            <a:pPr algn="l">
              <a:spcAft>
                <a:spcPts val="600"/>
              </a:spcAft>
            </a:pPr>
            <a:r>
              <a:rPr sz="1300" b="1" i="0">
                <a:solidFill>
                  <a:srgbClr val="005293"/>
                </a:solidFill>
                <a:latin typeface="Arial"/>
              </a:rPr>
              <a:t>Machine-learning algorithm selection for the Capacitated Vehicle Routing Problem</a:t>
            </a:r>
          </a:p>
          <a:p>
            <a:pPr algn="l">
              <a:spcAft>
                <a:spcPts val="300"/>
              </a:spcAft>
            </a:pPr>
            <a:r>
              <a:rPr sz="1100" b="0" i="0">
                <a:solidFill>
                  <a:srgbClr val="000000"/>
                </a:solidFill>
                <a:latin typeface="Arial"/>
              </a:rPr>
              <a:t>Computational Logistics — Final Project</a:t>
            </a:r>
          </a:p>
          <a:p>
            <a:pPr algn="l">
              <a:spcAft>
                <a:spcPts val="0"/>
              </a:spcAft>
            </a:pPr>
            <a:r>
              <a:rPr sz="950" b="0" i="0">
                <a:solidFill>
                  <a:srgbClr val="595959"/>
                </a:solidFill>
                <a:latin typeface="Arial"/>
              </a:rPr>
              <a:t>Methodology after Asín-Achá et al. (2024), Networks 84(4)  |  München, 21. Juli 2026</a:t>
            </a:r>
          </a:p>
        </p:txBody>
      </p:sp>
      <p:cxnSp>
        <p:nvCxnSpPr>
          <p:cNvPr id="6" name="Connector 5"/>
          <p:cNvCxnSpPr/>
          <p:nvPr/>
        </p:nvCxnSpPr>
        <p:spPr>
          <a:xfrm flipV="1">
            <a:off x="6903720" y="3340303"/>
            <a:ext cx="573328" cy="271577"/>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477048" y="3038551"/>
            <a:ext cx="482804" cy="301752"/>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959852" y="3038551"/>
            <a:ext cx="422452" cy="422453"/>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839151" y="3461004"/>
            <a:ext cx="543153" cy="319857"/>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6903720" y="3611880"/>
            <a:ext cx="935431" cy="168981"/>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423164" y="3286418"/>
            <a:ext cx="107768" cy="107768"/>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05967" y="2984666"/>
            <a:ext cx="107768" cy="107768"/>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8420" y="3407119"/>
            <a:ext cx="107768" cy="107768"/>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85266" y="3726976"/>
            <a:ext cx="107768" cy="107768"/>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H="1" flipV="1">
            <a:off x="6692493" y="2978200"/>
            <a:ext cx="211227" cy="633680"/>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6088989" y="2706624"/>
            <a:ext cx="603504" cy="271576"/>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606186" y="2706624"/>
            <a:ext cx="482803" cy="452628"/>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606186" y="3159252"/>
            <a:ext cx="603504" cy="319857"/>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09690" y="3479109"/>
            <a:ext cx="694030" cy="132771"/>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638609" y="2924316"/>
            <a:ext cx="107768" cy="107768"/>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035105" y="2652739"/>
            <a:ext cx="107768" cy="107768"/>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2302" y="3105367"/>
            <a:ext cx="107768" cy="107768"/>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155806" y="3425224"/>
            <a:ext cx="107768" cy="107768"/>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571792" y="3611880"/>
            <a:ext cx="331928" cy="452628"/>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149340" y="4064508"/>
            <a:ext cx="422452" cy="422452"/>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49340" y="4486960"/>
            <a:ext cx="663854" cy="181052"/>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813194" y="4245559"/>
            <a:ext cx="543154" cy="422453"/>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6903720" y="3611880"/>
            <a:ext cx="452628" cy="633679"/>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517908" y="4010623"/>
            <a:ext cx="107768" cy="107768"/>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95455" y="4433076"/>
            <a:ext cx="107768" cy="107768"/>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759310" y="4614127"/>
            <a:ext cx="107768" cy="107768"/>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02463" y="4191674"/>
            <a:ext cx="107768" cy="107768"/>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00262" y="3508422"/>
            <a:ext cx="206915" cy="206915"/>
          </a:xfrm>
          <a:prstGeom prst="rect">
            <a:avLst/>
          </a:prstGeom>
          <a:solidFill>
            <a:srgbClr val="00335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The Problem: Capacitated Vehicle Routing</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One depot, one fleet, every customer served — at minimum total distance</a:t>
            </a:r>
          </a:p>
        </p:txBody>
      </p:sp>
      <p:sp>
        <p:nvSpPr>
          <p:cNvPr id="5" name="TextBox 4"/>
          <p:cNvSpPr txBox="1"/>
          <p:nvPr/>
        </p:nvSpPr>
        <p:spPr>
          <a:xfrm>
            <a:off x="320040" y="1783080"/>
            <a:ext cx="4343400" cy="3017520"/>
          </a:xfrm>
          <a:prstGeom prst="rect">
            <a:avLst/>
          </a:prstGeom>
          <a:noFill/>
        </p:spPr>
        <p:txBody>
          <a:bodyPr wrap="square" lIns="0" rIns="0" tIns="0" bIns="0">
            <a:spAutoFit/>
          </a:bodyPr>
          <a:lstStyle/>
          <a:p>
            <a:pPr algn="l">
              <a:spcAft>
                <a:spcPts val="500"/>
              </a:spcAft>
            </a:pPr>
            <a:r>
              <a:rPr sz="1300" b="1" i="0">
                <a:solidFill>
                  <a:srgbClr val="003359"/>
                </a:solidFill>
                <a:latin typeface="Arial"/>
              </a:rPr>
              <a:t>The setting</a:t>
            </a:r>
          </a:p>
          <a:p>
            <a:pPr algn="l">
              <a:spcAft>
                <a:spcPts val="400"/>
              </a:spcAft>
            </a:pPr>
            <a:r>
              <a:rPr sz="1100" b="0" i="0">
                <a:solidFill>
                  <a:srgbClr val="000000"/>
                </a:solidFill>
                <a:latin typeface="Arial"/>
              </a:rPr>
              <a:t>•  A depot with identical vehicles of capacity Q.</a:t>
            </a:r>
          </a:p>
          <a:p>
            <a:pPr algn="l">
              <a:spcAft>
                <a:spcPts val="400"/>
              </a:spcAft>
            </a:pPr>
            <a:r>
              <a:rPr sz="1100" b="0" i="0">
                <a:solidFill>
                  <a:srgbClr val="000000"/>
                </a:solidFill>
                <a:latin typeface="Arial"/>
              </a:rPr>
              <a:t>•  Each customer has a demand and must be visited exactly once.</a:t>
            </a:r>
          </a:p>
          <a:p>
            <a:pPr algn="l">
              <a:spcAft>
                <a:spcPts val="400"/>
              </a:spcAft>
            </a:pPr>
            <a:r>
              <a:rPr sz="1100" b="0" i="0">
                <a:solidFill>
                  <a:srgbClr val="000000"/>
                </a:solidFill>
                <a:latin typeface="Arial"/>
              </a:rPr>
              <a:t>•  Routes start and end at the depot; load may not exceed Q.</a:t>
            </a:r>
          </a:p>
          <a:p>
            <a:pPr algn="l">
              <a:spcAft>
                <a:spcPts val="400"/>
              </a:spcAft>
            </a:pPr>
            <a:r>
              <a:rPr sz="1100" b="0" i="0">
                <a:solidFill>
                  <a:srgbClr val="000000"/>
                </a:solidFill>
                <a:latin typeface="Arial"/>
              </a:rPr>
              <a:t>•  Objective: minimize total distance travelled.</a:t>
            </a:r>
          </a:p>
          <a:p>
            <a:pPr algn="l">
              <a:spcAft>
                <a:spcPts val="500"/>
              </a:spcAft>
            </a:pPr>
            <a:r>
              <a:rPr sz="1300" b="1" i="0">
                <a:solidFill>
                  <a:srgbClr val="003359"/>
                </a:solidFill>
                <a:latin typeface="Arial"/>
              </a:rPr>
              <a:t>Why it is hard</a:t>
            </a:r>
          </a:p>
          <a:p>
            <a:pPr algn="l">
              <a:spcAft>
                <a:spcPts val="400"/>
              </a:spcAft>
            </a:pPr>
            <a:r>
              <a:rPr sz="1100" b="0" i="0">
                <a:solidFill>
                  <a:srgbClr val="000000"/>
                </a:solidFill>
                <a:latin typeface="Arial"/>
              </a:rPr>
              <a:t>•  NP-hard: clustering + routing decisions explode combinatorially.</a:t>
            </a:r>
          </a:p>
          <a:p>
            <a:pPr algn="l">
              <a:spcAft>
                <a:spcPts val="400"/>
              </a:spcAft>
            </a:pPr>
            <a:r>
              <a:rPr sz="1100" b="0" i="0">
                <a:solidFill>
                  <a:srgbClr val="000000"/>
                </a:solidFill>
                <a:latin typeface="Arial"/>
              </a:rPr>
              <a:t>•  Logistics practice needs answers in seconds, not hours.</a:t>
            </a:r>
          </a:p>
        </p:txBody>
      </p:sp>
      <p:cxnSp>
        <p:nvCxnSpPr>
          <p:cNvPr id="6" name="Connector 5"/>
          <p:cNvCxnSpPr/>
          <p:nvPr/>
        </p:nvCxnSpPr>
        <p:spPr>
          <a:xfrm flipV="1">
            <a:off x="6858000" y="2820924"/>
            <a:ext cx="608075" cy="288036"/>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466075" y="2500884"/>
            <a:ext cx="512065" cy="320040"/>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978140" y="2500884"/>
            <a:ext cx="448056" cy="448056"/>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850124" y="2948940"/>
            <a:ext cx="576072" cy="339242"/>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6858000" y="3108960"/>
            <a:ext cx="992124" cy="179222"/>
          </a:xfrm>
          <a:prstGeom prst="line">
            <a:avLst/>
          </a:prstGeom>
          <a:ln w="22860">
            <a:solidFill>
              <a:srgbClr val="E37222"/>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408925" y="2763774"/>
            <a:ext cx="114300" cy="114300"/>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20990" y="2443734"/>
            <a:ext cx="114300" cy="114300"/>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69046" y="2891790"/>
            <a:ext cx="114300" cy="114300"/>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92974" y="3231032"/>
            <a:ext cx="114300" cy="114300"/>
          </a:xfrm>
          <a:prstGeom prst="ellipse">
            <a:avLst/>
          </a:prstGeom>
          <a:solidFill>
            <a:srgbClr val="FFFFFF"/>
          </a:solidFill>
          <a:ln w="12700">
            <a:solidFill>
              <a:srgbClr val="E37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H="1" flipV="1">
            <a:off x="6633972" y="2436876"/>
            <a:ext cx="224028" cy="672084"/>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5993892" y="2148840"/>
            <a:ext cx="640080" cy="288036"/>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481828" y="2148840"/>
            <a:ext cx="512064" cy="480060"/>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481828" y="2628900"/>
            <a:ext cx="640080" cy="339242"/>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21908" y="2968142"/>
            <a:ext cx="736092" cy="140818"/>
          </a:xfrm>
          <a:prstGeom prst="line">
            <a:avLst/>
          </a:prstGeom>
          <a:ln w="22860">
            <a:solidFill>
              <a:srgbClr val="005293"/>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576822" y="2379726"/>
            <a:ext cx="114300" cy="114300"/>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36742" y="2091690"/>
            <a:ext cx="114300" cy="114300"/>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24678" y="2571750"/>
            <a:ext cx="114300" cy="114300"/>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64758" y="2910992"/>
            <a:ext cx="114300" cy="114300"/>
          </a:xfrm>
          <a:prstGeom prst="ellipse">
            <a:avLst/>
          </a:prstGeom>
          <a:solidFill>
            <a:srgbClr val="FFFFFF"/>
          </a:solidFill>
          <a:ln w="12700">
            <a:solidFill>
              <a:srgbClr val="005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505956" y="3108960"/>
            <a:ext cx="352044" cy="480060"/>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057900" y="3589020"/>
            <a:ext cx="448056" cy="448056"/>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57900" y="4037076"/>
            <a:ext cx="704088" cy="192024"/>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761988" y="3781044"/>
            <a:ext cx="576072" cy="448056"/>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6858000" y="3108960"/>
            <a:ext cx="480060" cy="672084"/>
          </a:xfrm>
          <a:prstGeom prst="line">
            <a:avLst/>
          </a:prstGeom>
          <a:ln w="22860">
            <a:solidFill>
              <a:srgbClr val="64A0C8"/>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448806" y="3531870"/>
            <a:ext cx="114300" cy="114300"/>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00750" y="3979926"/>
            <a:ext cx="114300" cy="114300"/>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704838" y="4171950"/>
            <a:ext cx="114300" cy="114300"/>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80910" y="3723894"/>
            <a:ext cx="114300" cy="114300"/>
          </a:xfrm>
          <a:prstGeom prst="ellipse">
            <a:avLst/>
          </a:prstGeom>
          <a:solidFill>
            <a:srgbClr val="FFFFFF"/>
          </a:solidFill>
          <a:ln w="12700">
            <a:solidFill>
              <a:srgbClr val="64A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48272" y="2999232"/>
            <a:ext cx="219456" cy="219456"/>
          </a:xfrm>
          <a:prstGeom prst="rect">
            <a:avLst/>
          </a:prstGeom>
          <a:solidFill>
            <a:srgbClr val="00335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4526280"/>
            <a:ext cx="3474720" cy="274320"/>
          </a:xfrm>
          <a:prstGeom prst="rect">
            <a:avLst/>
          </a:prstGeom>
          <a:noFill/>
        </p:spPr>
        <p:txBody>
          <a:bodyPr wrap="square" lIns="0" rIns="0" tIns="0" bIns="0">
            <a:spAutoFit/>
          </a:bodyPr>
          <a:lstStyle/>
          <a:p>
            <a:pPr algn="ctr">
              <a:spcAft>
                <a:spcPts val="0"/>
              </a:spcAft>
            </a:pPr>
            <a:r>
              <a:rPr sz="850" b="0" i="0">
                <a:solidFill>
                  <a:srgbClr val="595959"/>
                </a:solidFill>
                <a:latin typeface="Arial"/>
              </a:rPr>
              <a:t>One depot (square), three capacity-limited routes</a:t>
            </a:r>
          </a:p>
        </p:txBody>
      </p:sp>
      <p:sp>
        <p:nvSpPr>
          <p:cNvPr id="35" name="TextBox 34"/>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36" name="TextBox 35"/>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Exact Solving Hits a Wall Almost Immediately</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Gurobi MIP (two-index formulation with load propagation) as the reference point</a:t>
            </a:r>
          </a:p>
        </p:txBody>
      </p:sp>
      <p:sp>
        <p:nvSpPr>
          <p:cNvPr id="5" name="Rounded Rectangle 4"/>
          <p:cNvSpPr/>
          <p:nvPr/>
        </p:nvSpPr>
        <p:spPr>
          <a:xfrm>
            <a:off x="320040" y="1783080"/>
            <a:ext cx="8503920" cy="80467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25780" y="2144268"/>
            <a:ext cx="82296" cy="82296"/>
          </a:xfrm>
          <a:prstGeom prst="ellipse">
            <a:avLst/>
          </a:prstGeom>
          <a:solidFill>
            <a:srgbClr val="A2A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920240"/>
            <a:ext cx="1417320" cy="548640"/>
          </a:xfrm>
          <a:prstGeom prst="rect">
            <a:avLst/>
          </a:prstGeom>
          <a:noFill/>
        </p:spPr>
        <p:txBody>
          <a:bodyPr wrap="square" lIns="0" rIns="0" tIns="0" bIns="0">
            <a:spAutoFit/>
          </a:bodyPr>
          <a:lstStyle/>
          <a:p>
            <a:pPr algn="l">
              <a:spcAft>
                <a:spcPts val="0"/>
              </a:spcAft>
            </a:pPr>
            <a:r>
              <a:rPr sz="1300" b="1" i="0">
                <a:solidFill>
                  <a:srgbClr val="003359"/>
                </a:solidFill>
                <a:latin typeface="Arial"/>
              </a:rPr>
              <a:t>6 customers</a:t>
            </a:r>
          </a:p>
        </p:txBody>
      </p:sp>
      <p:sp>
        <p:nvSpPr>
          <p:cNvPr id="8" name="TextBox 7"/>
          <p:cNvSpPr txBox="1"/>
          <p:nvPr/>
        </p:nvSpPr>
        <p:spPr>
          <a:xfrm>
            <a:off x="2331720" y="1874519"/>
            <a:ext cx="338328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Exact (gurobipy)</a:t>
            </a:r>
          </a:p>
          <a:p>
            <a:pPr algn="l">
              <a:spcAft>
                <a:spcPts val="0"/>
              </a:spcAft>
            </a:pPr>
            <a:r>
              <a:rPr sz="1000" b="0" i="0">
                <a:solidFill>
                  <a:srgbClr val="000000"/>
                </a:solidFill>
                <a:latin typeface="Arial"/>
              </a:rPr>
              <a:t>Proven optimum 50.83 in 0.01 s</a:t>
            </a:r>
          </a:p>
        </p:txBody>
      </p:sp>
      <p:sp>
        <p:nvSpPr>
          <p:cNvPr id="9" name="TextBox 8"/>
          <p:cNvSpPr txBox="1"/>
          <p:nvPr/>
        </p:nvSpPr>
        <p:spPr>
          <a:xfrm>
            <a:off x="5897880" y="1874519"/>
            <a:ext cx="278892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Heuristics</a:t>
            </a:r>
          </a:p>
          <a:p>
            <a:pPr algn="l">
              <a:spcAft>
                <a:spcPts val="0"/>
              </a:spcAft>
            </a:pPr>
            <a:r>
              <a:rPr sz="1000" b="0" i="0">
                <a:solidFill>
                  <a:srgbClr val="000000"/>
                </a:solidFill>
                <a:latin typeface="Arial"/>
              </a:rPr>
              <a:t>All five heuristics match it exactly</a:t>
            </a:r>
          </a:p>
        </p:txBody>
      </p:sp>
      <p:sp>
        <p:nvSpPr>
          <p:cNvPr id="10" name="Rounded Rectangle 9"/>
          <p:cNvSpPr/>
          <p:nvPr/>
        </p:nvSpPr>
        <p:spPr>
          <a:xfrm>
            <a:off x="320040" y="2697480"/>
            <a:ext cx="8503920" cy="80467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5780" y="3058668"/>
            <a:ext cx="82296" cy="82296"/>
          </a:xfrm>
          <a:prstGeom prst="ellipse">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834640"/>
            <a:ext cx="1417320" cy="548640"/>
          </a:xfrm>
          <a:prstGeom prst="rect">
            <a:avLst/>
          </a:prstGeom>
          <a:noFill/>
        </p:spPr>
        <p:txBody>
          <a:bodyPr wrap="square" lIns="0" rIns="0" tIns="0" bIns="0">
            <a:spAutoFit/>
          </a:bodyPr>
          <a:lstStyle/>
          <a:p>
            <a:pPr algn="l">
              <a:spcAft>
                <a:spcPts val="0"/>
              </a:spcAft>
            </a:pPr>
            <a:r>
              <a:rPr sz="1300" b="1" i="0">
                <a:solidFill>
                  <a:srgbClr val="003359"/>
                </a:solidFill>
                <a:latin typeface="Arial"/>
              </a:rPr>
              <a:t>20 customers</a:t>
            </a:r>
          </a:p>
        </p:txBody>
      </p:sp>
      <p:sp>
        <p:nvSpPr>
          <p:cNvPr id="13" name="TextBox 12"/>
          <p:cNvSpPr txBox="1"/>
          <p:nvPr/>
        </p:nvSpPr>
        <p:spPr>
          <a:xfrm>
            <a:off x="2331720" y="2788920"/>
            <a:ext cx="338328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Exact (gurobipy)</a:t>
            </a:r>
          </a:p>
          <a:p>
            <a:pPr algn="l">
              <a:spcAft>
                <a:spcPts val="0"/>
              </a:spcAft>
            </a:pPr>
            <a:r>
              <a:rPr sz="1000" b="0" i="0">
                <a:solidFill>
                  <a:srgbClr val="000000"/>
                </a:solidFill>
                <a:latin typeface="Arial"/>
              </a:rPr>
              <a:t>300 s → incumbent, 0.7–2.1% gap unproven</a:t>
            </a:r>
          </a:p>
        </p:txBody>
      </p:sp>
      <p:sp>
        <p:nvSpPr>
          <p:cNvPr id="14" name="TextBox 13"/>
          <p:cNvSpPr txBox="1"/>
          <p:nvPr/>
        </p:nvSpPr>
        <p:spPr>
          <a:xfrm>
            <a:off x="5897880" y="2788920"/>
            <a:ext cx="278892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Heuristics</a:t>
            </a:r>
          </a:p>
          <a:p>
            <a:pPr algn="l">
              <a:spcAft>
                <a:spcPts val="0"/>
              </a:spcAft>
            </a:pPr>
            <a:r>
              <a:rPr sz="1000" b="0" i="0">
                <a:solidFill>
                  <a:srgbClr val="000000"/>
                </a:solidFill>
                <a:latin typeface="Arial"/>
              </a:rPr>
              <a:t>Heuristics match or come within 0.5% in ≤ 0.04 s</a:t>
            </a:r>
          </a:p>
        </p:txBody>
      </p:sp>
      <p:sp>
        <p:nvSpPr>
          <p:cNvPr id="15" name="Rounded Rectangle 14"/>
          <p:cNvSpPr/>
          <p:nvPr/>
        </p:nvSpPr>
        <p:spPr>
          <a:xfrm>
            <a:off x="320040" y="3611880"/>
            <a:ext cx="8503920" cy="80467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780" y="3973068"/>
            <a:ext cx="82296" cy="82296"/>
          </a:xfrm>
          <a:prstGeom prst="ellipse">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749040"/>
            <a:ext cx="1417320" cy="548640"/>
          </a:xfrm>
          <a:prstGeom prst="rect">
            <a:avLst/>
          </a:prstGeom>
          <a:noFill/>
        </p:spPr>
        <p:txBody>
          <a:bodyPr wrap="square" lIns="0" rIns="0" tIns="0" bIns="0">
            <a:spAutoFit/>
          </a:bodyPr>
          <a:lstStyle/>
          <a:p>
            <a:pPr algn="l">
              <a:spcAft>
                <a:spcPts val="0"/>
              </a:spcAft>
            </a:pPr>
            <a:r>
              <a:rPr sz="1300" b="1" i="0">
                <a:solidFill>
                  <a:srgbClr val="003359"/>
                </a:solidFill>
                <a:latin typeface="Arial"/>
              </a:rPr>
              <a:t>51 customers</a:t>
            </a:r>
          </a:p>
        </p:txBody>
      </p:sp>
      <p:sp>
        <p:nvSpPr>
          <p:cNvPr id="18" name="TextBox 17"/>
          <p:cNvSpPr txBox="1"/>
          <p:nvPr/>
        </p:nvSpPr>
        <p:spPr>
          <a:xfrm>
            <a:off x="2331720" y="3703320"/>
            <a:ext cx="338328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Exact (gurobipy)</a:t>
            </a:r>
          </a:p>
          <a:p>
            <a:pPr algn="l">
              <a:spcAft>
                <a:spcPts val="0"/>
              </a:spcAft>
            </a:pPr>
            <a:r>
              <a:rPr sz="1000" b="0" i="0">
                <a:solidFill>
                  <a:srgbClr val="000000"/>
                </a:solidFill>
                <a:latin typeface="Arial"/>
              </a:rPr>
              <a:t>Model too large for the free license (2,550 binary vars)</a:t>
            </a:r>
          </a:p>
        </p:txBody>
      </p:sp>
      <p:sp>
        <p:nvSpPr>
          <p:cNvPr id="19" name="TextBox 18"/>
          <p:cNvSpPr txBox="1"/>
          <p:nvPr/>
        </p:nvSpPr>
        <p:spPr>
          <a:xfrm>
            <a:off x="5897880" y="3703320"/>
            <a:ext cx="2788920" cy="640080"/>
          </a:xfrm>
          <a:prstGeom prst="rect">
            <a:avLst/>
          </a:prstGeom>
          <a:noFill/>
        </p:spPr>
        <p:txBody>
          <a:bodyPr wrap="square" lIns="0" rIns="0" tIns="0" bIns="0">
            <a:spAutoFit/>
          </a:bodyPr>
          <a:lstStyle/>
          <a:p>
            <a:pPr algn="l">
              <a:spcAft>
                <a:spcPts val="100"/>
              </a:spcAft>
            </a:pPr>
            <a:r>
              <a:rPr sz="800" b="1" i="0">
                <a:solidFill>
                  <a:srgbClr val="595959"/>
                </a:solidFill>
                <a:latin typeface="Arial"/>
              </a:rPr>
              <a:t>Heuristics</a:t>
            </a:r>
          </a:p>
          <a:p>
            <a:pPr algn="l">
              <a:spcAft>
                <a:spcPts val="0"/>
              </a:spcAft>
            </a:pPr>
            <a:r>
              <a:rPr sz="1000" b="0" i="0">
                <a:solidFill>
                  <a:srgbClr val="000000"/>
                </a:solidFill>
                <a:latin typeface="Arial"/>
              </a:rPr>
              <a:t>Best heuristic: 0.19% above the proven optimum, 0.16 s</a:t>
            </a:r>
          </a:p>
        </p:txBody>
      </p:sp>
      <p:sp>
        <p:nvSpPr>
          <p:cNvPr id="20" name="TextBox 19"/>
          <p:cNvSpPr txBox="1"/>
          <p:nvPr/>
        </p:nvSpPr>
        <p:spPr>
          <a:xfrm>
            <a:off x="320040" y="4553712"/>
            <a:ext cx="8503920" cy="320040"/>
          </a:xfrm>
          <a:prstGeom prst="rect">
            <a:avLst/>
          </a:prstGeom>
          <a:noFill/>
        </p:spPr>
        <p:txBody>
          <a:bodyPr wrap="square" lIns="0" rIns="0" tIns="0" bIns="0">
            <a:spAutoFit/>
          </a:bodyPr>
          <a:lstStyle/>
          <a:p>
            <a:pPr algn="l">
              <a:spcAft>
                <a:spcPts val="0"/>
              </a:spcAft>
            </a:pPr>
            <a:r>
              <a:rPr sz="1150" b="1" i="0">
                <a:solidFill>
                  <a:srgbClr val="003359"/>
                </a:solidFill>
                <a:latin typeface="Arial"/>
              </a:rPr>
              <a:t>Exact = the reference, not the workhorse — fast heuristics must carry the load.</a:t>
            </a:r>
          </a:p>
        </p:txBody>
      </p:sp>
      <p:sp>
        <p:nvSpPr>
          <p:cNvPr id="21" name="TextBox 20"/>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22" name="TextBox 21"/>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No Single Heuristic Wins</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Share of 1,260 instances on which each solver is the best in the portfolio</a:t>
            </a:r>
          </a:p>
        </p:txBody>
      </p:sp>
      <p:graphicFrame>
        <p:nvGraphicFramePr>
          <p:cNvPr id="5" name="Chart 4"/>
          <p:cNvGraphicFramePr>
            <a:graphicFrameLocks noGrp="1"/>
          </p:cNvGraphicFramePr>
          <p:nvPr/>
        </p:nvGraphicFramePr>
        <p:xfrm>
          <a:off x="320040" y="1737360"/>
          <a:ext cx="5074920" cy="3063240"/>
        </p:xfrm>
        <a:graphic>
          <a:graphicData uri="http://schemas.openxmlformats.org/drawingml/2006/chart">
            <c:chart xmlns:c="http://schemas.openxmlformats.org/drawingml/2006/chart" r:id="rId2"/>
          </a:graphicData>
        </a:graphic>
      </p:graphicFrame>
      <p:sp>
        <p:nvSpPr>
          <p:cNvPr id="6" name="TextBox 5"/>
          <p:cNvSpPr txBox="1"/>
          <p:nvPr/>
        </p:nvSpPr>
        <p:spPr>
          <a:xfrm>
            <a:off x="5715000" y="1874519"/>
            <a:ext cx="3108960" cy="2926080"/>
          </a:xfrm>
          <a:prstGeom prst="rect">
            <a:avLst/>
          </a:prstGeom>
          <a:noFill/>
        </p:spPr>
        <p:txBody>
          <a:bodyPr wrap="square" lIns="0" rIns="0" tIns="0" bIns="0">
            <a:spAutoFit/>
          </a:bodyPr>
          <a:lstStyle/>
          <a:p>
            <a:pPr algn="l">
              <a:spcAft>
                <a:spcPts val="600"/>
              </a:spcAft>
            </a:pPr>
            <a:r>
              <a:rPr sz="1300" b="1" i="0">
                <a:solidFill>
                  <a:srgbClr val="003359"/>
                </a:solidFill>
                <a:latin typeface="Arial"/>
              </a:rPr>
              <a:t>Every solver has its territory</a:t>
            </a:r>
          </a:p>
          <a:p>
            <a:pPr algn="l">
              <a:spcAft>
                <a:spcPts val="600"/>
              </a:spcAft>
            </a:pPr>
            <a:r>
              <a:rPr sz="1050" b="0" i="0">
                <a:solidFill>
                  <a:srgbClr val="000000"/>
                </a:solidFill>
                <a:latin typeface="Arial"/>
              </a:rPr>
              <a:t>•  Largest share is only 25.6% — no solver dominates.</a:t>
            </a:r>
          </a:p>
          <a:p>
            <a:pPr algn="l">
              <a:spcAft>
                <a:spcPts val="600"/>
              </a:spcAft>
            </a:pPr>
            <a:r>
              <a:rPr sz="1050" b="0" i="0">
                <a:solidFill>
                  <a:srgbClr val="000000"/>
                </a:solidFill>
                <a:latin typeface="Arial"/>
              </a:rPr>
              <a:t>•  A wrong pick costs up to +19% route length.</a:t>
            </a:r>
          </a:p>
          <a:p>
            <a:pPr algn="l">
              <a:spcAft>
                <a:spcPts val="600"/>
              </a:spcAft>
            </a:pPr>
            <a:r>
              <a:rPr sz="1050" b="0" i="0">
                <a:solidFill>
                  <a:srgbClr val="000000"/>
                </a:solidFill>
                <a:latin typeface="Arial"/>
              </a:rPr>
              <a:t>•  The winner depends on geometry, depot position, and demand structure.</a:t>
            </a:r>
          </a:p>
          <a:p>
            <a:pPr algn="l">
              <a:spcAft>
                <a:spcPts val="0"/>
              </a:spcAft>
            </a:pPr>
            <a:r>
              <a:rPr sz="1050" b="1" i="0">
                <a:solidFill>
                  <a:srgbClr val="E37222"/>
                </a:solidFill>
                <a:latin typeface="Arial"/>
              </a:rPr>
              <a:t>Algorithm selection: learn to predict the winner per instance (Asín-Achá et al. 2024).</a:t>
            </a:r>
          </a:p>
        </p:txBody>
      </p:sp>
      <p:sp>
        <p:nvSpPr>
          <p:cNvPr id="7" name="TextBox 6"/>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8" name="TextBox 7"/>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The Solution: A Learned Meta-Solver</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Look at the instance first — then commit the time budget to the predicted best heuristic</a:t>
            </a:r>
          </a:p>
        </p:txBody>
      </p:sp>
      <p:sp>
        <p:nvSpPr>
          <p:cNvPr id="5" name="Chevron 4"/>
          <p:cNvSpPr/>
          <p:nvPr/>
        </p:nvSpPr>
        <p:spPr>
          <a:xfrm>
            <a:off x="320040" y="1783080"/>
            <a:ext cx="1572768" cy="868680"/>
          </a:xfrm>
          <a:prstGeom prst="chevron">
            <a:avLst>
              <a:gd name="adj" fmla="val 28000"/>
            </a:avLst>
          </a:prstGeom>
          <a:solidFill>
            <a:srgbClr val="98C6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000" b="1">
                <a:solidFill>
                  <a:srgbClr val="003359"/>
                </a:solidFill>
                <a:latin typeface="Arial"/>
              </a:rPr>
              <a:t>New CVRP
instance</a:t>
            </a:r>
          </a:p>
        </p:txBody>
      </p:sp>
      <p:sp>
        <p:nvSpPr>
          <p:cNvPr id="6" name="Chevron 5"/>
          <p:cNvSpPr/>
          <p:nvPr/>
        </p:nvSpPr>
        <p:spPr>
          <a:xfrm>
            <a:off x="2020824" y="1783080"/>
            <a:ext cx="1572768" cy="868680"/>
          </a:xfrm>
          <a:prstGeom prst="chevron">
            <a:avLst>
              <a:gd name="adj" fmla="val 28000"/>
            </a:avLst>
          </a:prstGeom>
          <a:solidFill>
            <a:srgbClr val="64A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000" b="1">
                <a:solidFill>
                  <a:srgbClr val="FFFFFF"/>
                </a:solidFill>
                <a:latin typeface="Arial"/>
              </a:rPr>
              <a:t>Extract 38
features</a:t>
            </a:r>
          </a:p>
        </p:txBody>
      </p:sp>
      <p:sp>
        <p:nvSpPr>
          <p:cNvPr id="7" name="Chevron 6"/>
          <p:cNvSpPr/>
          <p:nvPr/>
        </p:nvSpPr>
        <p:spPr>
          <a:xfrm>
            <a:off x="3721608" y="1783080"/>
            <a:ext cx="1572768" cy="868680"/>
          </a:xfrm>
          <a:prstGeom prst="chevron">
            <a:avLst>
              <a:gd name="adj" fmla="val 28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000" b="1">
                <a:solidFill>
                  <a:srgbClr val="FFFFFF"/>
                </a:solidFill>
                <a:latin typeface="Arial"/>
              </a:rPr>
              <a:t>Random Forest
predicts winner</a:t>
            </a:r>
          </a:p>
        </p:txBody>
      </p:sp>
      <p:sp>
        <p:nvSpPr>
          <p:cNvPr id="8" name="Chevron 7"/>
          <p:cNvSpPr/>
          <p:nvPr/>
        </p:nvSpPr>
        <p:spPr>
          <a:xfrm>
            <a:off x="5422392" y="1783080"/>
            <a:ext cx="1572768" cy="868680"/>
          </a:xfrm>
          <a:prstGeom prst="chevron">
            <a:avLst>
              <a:gd name="adj" fmla="val 28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000" b="1">
                <a:solidFill>
                  <a:srgbClr val="FFFFFF"/>
                </a:solidFill>
                <a:latin typeface="Arial"/>
              </a:rPr>
              <a:t>Run predicted
heuristic</a:t>
            </a:r>
          </a:p>
        </p:txBody>
      </p:sp>
      <p:sp>
        <p:nvSpPr>
          <p:cNvPr id="9" name="Chevron 8"/>
          <p:cNvSpPr/>
          <p:nvPr/>
        </p:nvSpPr>
        <p:spPr>
          <a:xfrm>
            <a:off x="7123175" y="1783080"/>
            <a:ext cx="1572768" cy="868680"/>
          </a:xfrm>
          <a:prstGeom prst="chevron">
            <a:avLst>
              <a:gd name="adj" fmla="val 28000"/>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000" b="1">
                <a:solidFill>
                  <a:srgbClr val="FFFFFF"/>
                </a:solidFill>
                <a:latin typeface="Arial"/>
              </a:rPr>
              <a:t>Routes in
~0.2 s</a:t>
            </a:r>
          </a:p>
        </p:txBody>
      </p:sp>
      <p:sp>
        <p:nvSpPr>
          <p:cNvPr id="10" name="TextBox 9"/>
          <p:cNvSpPr txBox="1"/>
          <p:nvPr/>
        </p:nvSpPr>
        <p:spPr>
          <a:xfrm>
            <a:off x="320040" y="2880360"/>
            <a:ext cx="8503920" cy="1920240"/>
          </a:xfrm>
          <a:prstGeom prst="rect">
            <a:avLst/>
          </a:prstGeom>
          <a:noFill/>
        </p:spPr>
        <p:txBody>
          <a:bodyPr wrap="square" lIns="0" rIns="0" tIns="0" bIns="0">
            <a:spAutoFit/>
          </a:bodyPr>
          <a:lstStyle/>
          <a:p>
            <a:pPr algn="l">
              <a:spcAft>
                <a:spcPts val="500"/>
              </a:spcAft>
            </a:pPr>
            <a:r>
              <a:rPr sz="1300" b="1" i="0">
                <a:solidFill>
                  <a:srgbClr val="003359"/>
                </a:solidFill>
                <a:latin typeface="Arial"/>
              </a:rPr>
              <a:t>Design choices (following the paper)</a:t>
            </a:r>
          </a:p>
          <a:p>
            <a:pPr algn="l">
              <a:spcAft>
                <a:spcPts val="500"/>
              </a:spcAft>
            </a:pPr>
            <a:r>
              <a:rPr sz="1050" b="0" i="0">
                <a:solidFill>
                  <a:srgbClr val="000000"/>
                </a:solidFill>
                <a:latin typeface="Arial"/>
              </a:rPr>
              <a:t>•  Fixed 20-second budget per solver run — the label is “best solution within the budget”; cost ties break toward the faster solver.</a:t>
            </a:r>
          </a:p>
          <a:p>
            <a:pPr algn="l">
              <a:spcAft>
                <a:spcPts val="500"/>
              </a:spcAft>
            </a:pPr>
            <a:r>
              <a:rPr sz="1050" b="0" i="0">
                <a:solidFill>
                  <a:srgbClr val="000000"/>
                </a:solidFill>
                <a:latin typeface="Arial"/>
              </a:rPr>
              <a:t>•  Features are computable before solving — no solver output enters the model (enforced by an explicit blocklist).</a:t>
            </a:r>
          </a:p>
          <a:p>
            <a:pPr algn="l">
              <a:spcAft>
                <a:spcPts val="500"/>
              </a:spcAft>
            </a:pPr>
            <a:r>
              <a:rPr sz="1050" b="0" i="0">
                <a:solidFill>
                  <a:srgbClr val="000000"/>
                </a:solidFill>
                <a:latin typeface="Arial"/>
              </a:rPr>
              <a:t>•  Algorithm configuration enters as discrete portfolio entries (e.g. Clarke-Wright ± 2-opt) — the paper's discretized form.</a:t>
            </a:r>
          </a:p>
          <a:p>
            <a:pPr algn="l">
              <a:spcAft>
                <a:spcPts val="500"/>
              </a:spcAft>
            </a:pPr>
            <a:r>
              <a:rPr sz="1050" b="0" i="0">
                <a:solidFill>
                  <a:srgbClr val="000000"/>
                </a:solidFill>
                <a:latin typeface="Arial"/>
              </a:rPr>
              <a:t>•  If the predicted solver fails, fall back to the single best solver — never return empty-handed.</a:t>
            </a:r>
          </a:p>
        </p:txBody>
      </p:sp>
      <p:sp>
        <p:nvSpPr>
          <p:cNvPr id="11" name="TextBox 10"/>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2" name="TextBox 11"/>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The Portfolio: Five Classical Heuristics</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VeRyPy implementations, pinned commit; every solution independently re-validated and re-costed</a:t>
            </a:r>
          </a:p>
        </p:txBody>
      </p:sp>
      <p:sp>
        <p:nvSpPr>
          <p:cNvPr id="5" name="Rounded Rectangle 4"/>
          <p:cNvSpPr/>
          <p:nvPr/>
        </p:nvSpPr>
        <p:spPr>
          <a:xfrm>
            <a:off x="320040" y="1737360"/>
            <a:ext cx="2697480" cy="117043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1847088"/>
            <a:ext cx="2386584" cy="950976"/>
          </a:xfrm>
          <a:prstGeom prst="rect">
            <a:avLst/>
          </a:prstGeom>
          <a:noFill/>
        </p:spPr>
        <p:txBody>
          <a:bodyPr wrap="square" lIns="0" rIns="0" tIns="0" bIns="0">
            <a:spAutoFit/>
          </a:bodyPr>
          <a:lstStyle/>
          <a:p>
            <a:pPr algn="l">
              <a:spcAft>
                <a:spcPts val="200"/>
              </a:spcAft>
            </a:pPr>
            <a:r>
              <a:rPr sz="1150" b="1" i="0">
                <a:solidFill>
                  <a:srgbClr val="003359"/>
                </a:solidFill>
                <a:latin typeface="Arial"/>
              </a:rPr>
              <a:t>Clarke–Wright + 2-opt  </a:t>
            </a:r>
            <a:r>
              <a:rPr sz="850">
                <a:solidFill>
                  <a:srgbClr val="595959"/>
                </a:solidFill>
                <a:latin typeface="Arial"/>
              </a:rPr>
              <a:t>1964</a:t>
            </a:r>
          </a:p>
          <a:p>
            <a:pPr algn="l">
              <a:spcAft>
                <a:spcPts val="0"/>
              </a:spcAft>
            </a:pPr>
            <a:r>
              <a:rPr sz="950" b="0" i="0">
                <a:solidFill>
                  <a:srgbClr val="000000"/>
                </a:solidFill>
                <a:latin typeface="Arial"/>
              </a:rPr>
              <a:t>Merge routes by largest saving, then polish each tour.</a:t>
            </a:r>
          </a:p>
        </p:txBody>
      </p:sp>
      <p:sp>
        <p:nvSpPr>
          <p:cNvPr id="7" name="Rounded Rectangle 6"/>
          <p:cNvSpPr/>
          <p:nvPr/>
        </p:nvSpPr>
        <p:spPr>
          <a:xfrm>
            <a:off x="3218688" y="1737360"/>
            <a:ext cx="2697480" cy="117043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47088"/>
            <a:ext cx="2386584" cy="950976"/>
          </a:xfrm>
          <a:prstGeom prst="rect">
            <a:avLst/>
          </a:prstGeom>
          <a:noFill/>
        </p:spPr>
        <p:txBody>
          <a:bodyPr wrap="square" lIns="0" rIns="0" tIns="0" bIns="0">
            <a:spAutoFit/>
          </a:bodyPr>
          <a:lstStyle/>
          <a:p>
            <a:pPr algn="l">
              <a:spcAft>
                <a:spcPts val="200"/>
              </a:spcAft>
            </a:pPr>
            <a:r>
              <a:rPr sz="1150" b="1" i="0">
                <a:solidFill>
                  <a:srgbClr val="003359"/>
                </a:solidFill>
                <a:latin typeface="Arial"/>
              </a:rPr>
              <a:t>Wren–Holliday sweep  </a:t>
            </a:r>
            <a:r>
              <a:rPr sz="850">
                <a:solidFill>
                  <a:srgbClr val="595959"/>
                </a:solidFill>
                <a:latin typeface="Arial"/>
              </a:rPr>
              <a:t>1972</a:t>
            </a:r>
          </a:p>
          <a:p>
            <a:pPr algn="l">
              <a:spcAft>
                <a:spcPts val="0"/>
              </a:spcAft>
            </a:pPr>
            <a:r>
              <a:rPr sz="950" b="0" i="0">
                <a:solidFill>
                  <a:srgbClr val="000000"/>
                </a:solidFill>
                <a:latin typeface="Arial"/>
              </a:rPr>
              <a:t>Rotate a ray around the depot; cut routes at capacity.</a:t>
            </a:r>
          </a:p>
        </p:txBody>
      </p:sp>
      <p:sp>
        <p:nvSpPr>
          <p:cNvPr id="9" name="Rounded Rectangle 8"/>
          <p:cNvSpPr/>
          <p:nvPr/>
        </p:nvSpPr>
        <p:spPr>
          <a:xfrm>
            <a:off x="6117336" y="1737360"/>
            <a:ext cx="2697480" cy="117043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2784" y="1847088"/>
            <a:ext cx="2386584" cy="950976"/>
          </a:xfrm>
          <a:prstGeom prst="rect">
            <a:avLst/>
          </a:prstGeom>
          <a:noFill/>
        </p:spPr>
        <p:txBody>
          <a:bodyPr wrap="square" lIns="0" rIns="0" tIns="0" bIns="0">
            <a:spAutoFit/>
          </a:bodyPr>
          <a:lstStyle/>
          <a:p>
            <a:pPr algn="l">
              <a:spcAft>
                <a:spcPts val="200"/>
              </a:spcAft>
            </a:pPr>
            <a:r>
              <a:rPr sz="1150" b="1" i="0">
                <a:solidFill>
                  <a:srgbClr val="003359"/>
                </a:solidFill>
                <a:latin typeface="Arial"/>
              </a:rPr>
              <a:t>Mole–Jameson insertion  </a:t>
            </a:r>
            <a:r>
              <a:rPr sz="850">
                <a:solidFill>
                  <a:srgbClr val="595959"/>
                </a:solidFill>
                <a:latin typeface="Arial"/>
              </a:rPr>
              <a:t>1976</a:t>
            </a:r>
          </a:p>
          <a:p>
            <a:pPr algn="l">
              <a:spcAft>
                <a:spcPts val="0"/>
              </a:spcAft>
            </a:pPr>
            <a:r>
              <a:rPr sz="950" b="0" i="0">
                <a:solidFill>
                  <a:srgbClr val="000000"/>
                </a:solidFill>
                <a:latin typeface="Arial"/>
              </a:rPr>
              <a:t>Insert each customer where it strains the route least.</a:t>
            </a:r>
          </a:p>
        </p:txBody>
      </p:sp>
      <p:sp>
        <p:nvSpPr>
          <p:cNvPr id="11" name="Rounded Rectangle 10"/>
          <p:cNvSpPr/>
          <p:nvPr/>
        </p:nvSpPr>
        <p:spPr>
          <a:xfrm>
            <a:off x="1764792" y="3017520"/>
            <a:ext cx="2697480" cy="117043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20240" y="3127248"/>
            <a:ext cx="2386584" cy="950976"/>
          </a:xfrm>
          <a:prstGeom prst="rect">
            <a:avLst/>
          </a:prstGeom>
          <a:noFill/>
        </p:spPr>
        <p:txBody>
          <a:bodyPr wrap="square" lIns="0" rIns="0" tIns="0" bIns="0">
            <a:spAutoFit/>
          </a:bodyPr>
          <a:lstStyle/>
          <a:p>
            <a:pPr algn="l">
              <a:spcAft>
                <a:spcPts val="200"/>
              </a:spcAft>
            </a:pPr>
            <a:r>
              <a:rPr sz="1150" b="1" i="0">
                <a:solidFill>
                  <a:srgbClr val="003359"/>
                </a:solidFill>
                <a:latin typeface="Arial"/>
              </a:rPr>
              <a:t>CMT two-phase  </a:t>
            </a:r>
            <a:r>
              <a:rPr sz="850">
                <a:solidFill>
                  <a:srgbClr val="595959"/>
                </a:solidFill>
                <a:latin typeface="Arial"/>
              </a:rPr>
              <a:t>1979</a:t>
            </a:r>
          </a:p>
          <a:p>
            <a:pPr algn="l">
              <a:spcAft>
                <a:spcPts val="0"/>
              </a:spcAft>
            </a:pPr>
            <a:r>
              <a:rPr sz="950" b="0" i="0">
                <a:solidFill>
                  <a:srgbClr val="000000"/>
                </a:solidFill>
                <a:latin typeface="Arial"/>
              </a:rPr>
              <a:t>Cluster customers first, then route each cluster.</a:t>
            </a:r>
          </a:p>
        </p:txBody>
      </p:sp>
      <p:sp>
        <p:nvSpPr>
          <p:cNvPr id="13" name="Rounded Rectangle 12"/>
          <p:cNvSpPr/>
          <p:nvPr/>
        </p:nvSpPr>
        <p:spPr>
          <a:xfrm>
            <a:off x="4663440" y="3017520"/>
            <a:ext cx="2697480" cy="117043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18888" y="3127248"/>
            <a:ext cx="2386584" cy="950976"/>
          </a:xfrm>
          <a:prstGeom prst="rect">
            <a:avLst/>
          </a:prstGeom>
          <a:noFill/>
        </p:spPr>
        <p:txBody>
          <a:bodyPr wrap="square" lIns="0" rIns="0" tIns="0" bIns="0">
            <a:spAutoFit/>
          </a:bodyPr>
          <a:lstStyle/>
          <a:p>
            <a:pPr algn="l">
              <a:spcAft>
                <a:spcPts val="200"/>
              </a:spcAft>
            </a:pPr>
            <a:r>
              <a:rPr sz="1150" b="1" i="0">
                <a:solidFill>
                  <a:srgbClr val="003359"/>
                </a:solidFill>
                <a:latin typeface="Arial"/>
              </a:rPr>
              <a:t>Route-first cluster-second  </a:t>
            </a:r>
            <a:r>
              <a:rPr sz="850">
                <a:solidFill>
                  <a:srgbClr val="595959"/>
                </a:solidFill>
                <a:latin typeface="Arial"/>
              </a:rPr>
              <a:t>1983</a:t>
            </a:r>
          </a:p>
          <a:p>
            <a:pPr algn="l">
              <a:spcAft>
                <a:spcPts val="0"/>
              </a:spcAft>
            </a:pPr>
            <a:r>
              <a:rPr sz="950" b="0" i="0">
                <a:solidFill>
                  <a:srgbClr val="000000"/>
                </a:solidFill>
                <a:latin typeface="Arial"/>
              </a:rPr>
              <a:t>Build one giant tour, then split it into feasible routes.</a:t>
            </a:r>
          </a:p>
        </p:txBody>
      </p:sp>
      <p:sp>
        <p:nvSpPr>
          <p:cNvPr id="15" name="TextBox 14"/>
          <p:cNvSpPr txBox="1"/>
          <p:nvPr/>
        </p:nvSpPr>
        <p:spPr>
          <a:xfrm>
            <a:off x="320040" y="4343400"/>
            <a:ext cx="8503920" cy="548640"/>
          </a:xfrm>
          <a:prstGeom prst="rect">
            <a:avLst/>
          </a:prstGeom>
          <a:noFill/>
        </p:spPr>
        <p:txBody>
          <a:bodyPr wrap="square" lIns="0" rIns="0" tIns="0" bIns="0">
            <a:spAutoFit/>
          </a:bodyPr>
          <a:lstStyle/>
          <a:p>
            <a:pPr algn="l">
              <a:spcAft>
                <a:spcPts val="0"/>
              </a:spcAft>
            </a:pPr>
            <a:r>
              <a:rPr sz="1050" b="1" i="0">
                <a:solidFill>
                  <a:srgbClr val="003359"/>
                </a:solidFill>
                <a:latin typeface="Arial"/>
              </a:rPr>
              <a:t>Deliberately left out:  </a:t>
            </a:r>
            <a:r>
              <a:rPr sz="950">
                <a:solidFill>
                  <a:srgbClr val="000000"/>
                </a:solidFill>
                <a:latin typeface="Arial"/>
              </a:rPr>
              <a:t>Gaskell savings (won only 3 of 240 audit instances — not learnable) and hybrid genetic search (would win almost every label and collapse the learning problem — kept as an external reference, see later).</a:t>
            </a:r>
          </a:p>
        </p:txBody>
      </p:sp>
      <p:sp>
        <p:nvSpPr>
          <p:cNvPr id="16" name="TextBox 15"/>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7" name="TextBox 16"/>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1,260 Synthetic Instances by Design</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A balanced factorial grid — built to span instance variation, as the paper prescribes</a:t>
            </a:r>
          </a:p>
        </p:txBody>
      </p:sp>
      <p:sp>
        <p:nvSpPr>
          <p:cNvPr id="5" name="Rounded Rectangle 4"/>
          <p:cNvSpPr/>
          <p:nvPr/>
        </p:nvSpPr>
        <p:spPr>
          <a:xfrm>
            <a:off x="320040" y="1737360"/>
            <a:ext cx="1481328" cy="1298448"/>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828800"/>
            <a:ext cx="1298448" cy="1143000"/>
          </a:xfrm>
          <a:prstGeom prst="rect">
            <a:avLst/>
          </a:prstGeom>
          <a:noFill/>
        </p:spPr>
        <p:txBody>
          <a:bodyPr wrap="square" lIns="0" rIns="0" tIns="0" bIns="0">
            <a:spAutoFit/>
          </a:bodyPr>
          <a:lstStyle/>
          <a:p>
            <a:pPr algn="ctr">
              <a:spcAft>
                <a:spcPts val="100"/>
              </a:spcAft>
            </a:pPr>
            <a:r>
              <a:rPr sz="2800" b="1" i="0">
                <a:solidFill>
                  <a:srgbClr val="0065BD"/>
                </a:solidFill>
                <a:latin typeface="Arial"/>
              </a:rPr>
              <a:t>5</a:t>
            </a:r>
          </a:p>
          <a:p>
            <a:pPr algn="ctr">
              <a:spcAft>
                <a:spcPts val="200"/>
              </a:spcAft>
            </a:pPr>
            <a:r>
              <a:rPr sz="950" b="1" i="0">
                <a:solidFill>
                  <a:srgbClr val="000000"/>
                </a:solidFill>
                <a:latin typeface="Arial"/>
              </a:rPr>
              <a:t>spatial families</a:t>
            </a:r>
          </a:p>
          <a:p>
            <a:pPr algn="ctr">
              <a:spcAft>
                <a:spcPts val="0"/>
              </a:spcAft>
            </a:pPr>
            <a:r>
              <a:rPr sz="750" b="0" i="0">
                <a:solidFill>
                  <a:srgbClr val="595959"/>
                </a:solidFill>
                <a:latin typeface="Arial"/>
              </a:rPr>
              <a:t>uniform / clustered / two-cluster / radial / mixed</a:t>
            </a:r>
          </a:p>
        </p:txBody>
      </p:sp>
      <p:sp>
        <p:nvSpPr>
          <p:cNvPr id="7" name="TextBox 6"/>
          <p:cNvSpPr txBox="1"/>
          <p:nvPr/>
        </p:nvSpPr>
        <p:spPr>
          <a:xfrm>
            <a:off x="1801368" y="2194560"/>
            <a:ext cx="274320" cy="365760"/>
          </a:xfrm>
          <a:prstGeom prst="rect">
            <a:avLst/>
          </a:prstGeom>
          <a:noFill/>
        </p:spPr>
        <p:txBody>
          <a:bodyPr wrap="square" lIns="0" rIns="0" tIns="0" bIns="0">
            <a:spAutoFit/>
          </a:bodyPr>
          <a:lstStyle/>
          <a:p>
            <a:pPr algn="ctr">
              <a:spcAft>
                <a:spcPts val="0"/>
              </a:spcAft>
            </a:pPr>
            <a:r>
              <a:rPr sz="1500" b="0" i="0">
                <a:solidFill>
                  <a:srgbClr val="595959"/>
                </a:solidFill>
                <a:latin typeface="Arial"/>
              </a:rPr>
              <a:t>×</a:t>
            </a:r>
          </a:p>
        </p:txBody>
      </p:sp>
      <p:sp>
        <p:nvSpPr>
          <p:cNvPr id="8" name="Rounded Rectangle 7"/>
          <p:cNvSpPr/>
          <p:nvPr/>
        </p:nvSpPr>
        <p:spPr>
          <a:xfrm>
            <a:off x="2075688" y="1737360"/>
            <a:ext cx="1481328" cy="1298448"/>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67128" y="1828800"/>
            <a:ext cx="1298448" cy="1143000"/>
          </a:xfrm>
          <a:prstGeom prst="rect">
            <a:avLst/>
          </a:prstGeom>
          <a:noFill/>
        </p:spPr>
        <p:txBody>
          <a:bodyPr wrap="square" lIns="0" rIns="0" tIns="0" bIns="0">
            <a:spAutoFit/>
          </a:bodyPr>
          <a:lstStyle/>
          <a:p>
            <a:pPr algn="ctr">
              <a:spcAft>
                <a:spcPts val="100"/>
              </a:spcAft>
            </a:pPr>
            <a:r>
              <a:rPr sz="2800" b="1" i="0">
                <a:solidFill>
                  <a:srgbClr val="0065BD"/>
                </a:solidFill>
                <a:latin typeface="Arial"/>
              </a:rPr>
              <a:t>3</a:t>
            </a:r>
          </a:p>
          <a:p>
            <a:pPr algn="ctr">
              <a:spcAft>
                <a:spcPts val="200"/>
              </a:spcAft>
            </a:pPr>
            <a:r>
              <a:rPr sz="950" b="1" i="0">
                <a:solidFill>
                  <a:srgbClr val="000000"/>
                </a:solidFill>
                <a:latin typeface="Arial"/>
              </a:rPr>
              <a:t>depot positions</a:t>
            </a:r>
          </a:p>
          <a:p>
            <a:pPr algn="ctr">
              <a:spcAft>
                <a:spcPts val="0"/>
              </a:spcAft>
            </a:pPr>
            <a:r>
              <a:rPr sz="750" b="0" i="0">
                <a:solidFill>
                  <a:srgbClr val="595959"/>
                </a:solidFill>
                <a:latin typeface="Arial"/>
              </a:rPr>
              <a:t>center / corner / random</a:t>
            </a:r>
          </a:p>
        </p:txBody>
      </p:sp>
      <p:sp>
        <p:nvSpPr>
          <p:cNvPr id="10" name="TextBox 9"/>
          <p:cNvSpPr txBox="1"/>
          <p:nvPr/>
        </p:nvSpPr>
        <p:spPr>
          <a:xfrm>
            <a:off x="3557016" y="2194560"/>
            <a:ext cx="274320" cy="365760"/>
          </a:xfrm>
          <a:prstGeom prst="rect">
            <a:avLst/>
          </a:prstGeom>
          <a:noFill/>
        </p:spPr>
        <p:txBody>
          <a:bodyPr wrap="square" lIns="0" rIns="0" tIns="0" bIns="0">
            <a:spAutoFit/>
          </a:bodyPr>
          <a:lstStyle/>
          <a:p>
            <a:pPr algn="ctr">
              <a:spcAft>
                <a:spcPts val="0"/>
              </a:spcAft>
            </a:pPr>
            <a:r>
              <a:rPr sz="1500" b="0" i="0">
                <a:solidFill>
                  <a:srgbClr val="595959"/>
                </a:solidFill>
                <a:latin typeface="Arial"/>
              </a:rPr>
              <a:t>×</a:t>
            </a:r>
          </a:p>
        </p:txBody>
      </p:sp>
      <p:sp>
        <p:nvSpPr>
          <p:cNvPr id="11" name="Rounded Rectangle 10"/>
          <p:cNvSpPr/>
          <p:nvPr/>
        </p:nvSpPr>
        <p:spPr>
          <a:xfrm>
            <a:off x="3831336" y="1737360"/>
            <a:ext cx="1481328" cy="1298448"/>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22776" y="1828800"/>
            <a:ext cx="1298448" cy="1143000"/>
          </a:xfrm>
          <a:prstGeom prst="rect">
            <a:avLst/>
          </a:prstGeom>
          <a:noFill/>
        </p:spPr>
        <p:txBody>
          <a:bodyPr wrap="square" lIns="0" rIns="0" tIns="0" bIns="0">
            <a:spAutoFit/>
          </a:bodyPr>
          <a:lstStyle/>
          <a:p>
            <a:pPr algn="ctr">
              <a:spcAft>
                <a:spcPts val="100"/>
              </a:spcAft>
            </a:pPr>
            <a:r>
              <a:rPr sz="2800" b="1" i="0">
                <a:solidFill>
                  <a:srgbClr val="0065BD"/>
                </a:solidFill>
                <a:latin typeface="Arial"/>
              </a:rPr>
              <a:t>4</a:t>
            </a:r>
          </a:p>
          <a:p>
            <a:pPr algn="ctr">
              <a:spcAft>
                <a:spcPts val="200"/>
              </a:spcAft>
            </a:pPr>
            <a:r>
              <a:rPr sz="950" b="1" i="0">
                <a:solidFill>
                  <a:srgbClr val="000000"/>
                </a:solidFill>
                <a:latin typeface="Arial"/>
              </a:rPr>
              <a:t>demand regimes</a:t>
            </a:r>
          </a:p>
          <a:p>
            <a:pPr algn="ctr">
              <a:spcAft>
                <a:spcPts val="0"/>
              </a:spcAft>
            </a:pPr>
            <a:r>
              <a:rPr sz="750" b="0" i="0">
                <a:solidFill>
                  <a:srgbClr val="595959"/>
                </a:solidFill>
                <a:latin typeface="Arial"/>
              </a:rPr>
              <a:t>low &amp; high variance, low &amp; high pressure</a:t>
            </a:r>
          </a:p>
        </p:txBody>
      </p:sp>
      <p:sp>
        <p:nvSpPr>
          <p:cNvPr id="13" name="TextBox 12"/>
          <p:cNvSpPr txBox="1"/>
          <p:nvPr/>
        </p:nvSpPr>
        <p:spPr>
          <a:xfrm>
            <a:off x="5312664" y="2194560"/>
            <a:ext cx="274320" cy="365760"/>
          </a:xfrm>
          <a:prstGeom prst="rect">
            <a:avLst/>
          </a:prstGeom>
          <a:noFill/>
        </p:spPr>
        <p:txBody>
          <a:bodyPr wrap="square" lIns="0" rIns="0" tIns="0" bIns="0">
            <a:spAutoFit/>
          </a:bodyPr>
          <a:lstStyle/>
          <a:p>
            <a:pPr algn="ctr">
              <a:spcAft>
                <a:spcPts val="0"/>
              </a:spcAft>
            </a:pPr>
            <a:r>
              <a:rPr sz="1500" b="0" i="0">
                <a:solidFill>
                  <a:srgbClr val="595959"/>
                </a:solidFill>
                <a:latin typeface="Arial"/>
              </a:rPr>
              <a:t>×</a:t>
            </a:r>
          </a:p>
        </p:txBody>
      </p:sp>
      <p:sp>
        <p:nvSpPr>
          <p:cNvPr id="14" name="Rounded Rectangle 13"/>
          <p:cNvSpPr/>
          <p:nvPr/>
        </p:nvSpPr>
        <p:spPr>
          <a:xfrm>
            <a:off x="5586984" y="1737360"/>
            <a:ext cx="1481328" cy="1298448"/>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8424" y="1828800"/>
            <a:ext cx="1298448" cy="1143000"/>
          </a:xfrm>
          <a:prstGeom prst="rect">
            <a:avLst/>
          </a:prstGeom>
          <a:noFill/>
        </p:spPr>
        <p:txBody>
          <a:bodyPr wrap="square" lIns="0" rIns="0" tIns="0" bIns="0">
            <a:spAutoFit/>
          </a:bodyPr>
          <a:lstStyle/>
          <a:p>
            <a:pPr algn="ctr">
              <a:spcAft>
                <a:spcPts val="100"/>
              </a:spcAft>
            </a:pPr>
            <a:r>
              <a:rPr sz="2800" b="1" i="0">
                <a:solidFill>
                  <a:srgbClr val="0065BD"/>
                </a:solidFill>
                <a:latin typeface="Arial"/>
              </a:rPr>
              <a:t>3</a:t>
            </a:r>
          </a:p>
          <a:p>
            <a:pPr algn="ctr">
              <a:spcAft>
                <a:spcPts val="200"/>
              </a:spcAft>
            </a:pPr>
            <a:r>
              <a:rPr sz="950" b="1" i="0">
                <a:solidFill>
                  <a:srgbClr val="000000"/>
                </a:solidFill>
                <a:latin typeface="Arial"/>
              </a:rPr>
              <a:t>sizes</a:t>
            </a:r>
          </a:p>
          <a:p>
            <a:pPr algn="ctr">
              <a:spcAft>
                <a:spcPts val="0"/>
              </a:spcAft>
            </a:pPr>
            <a:r>
              <a:rPr sz="750" b="0" i="0">
                <a:solidFill>
                  <a:srgbClr val="595959"/>
                </a:solidFill>
                <a:latin typeface="Arial"/>
              </a:rPr>
              <a:t>20 / 50 / 100 customers</a:t>
            </a:r>
          </a:p>
        </p:txBody>
      </p:sp>
      <p:sp>
        <p:nvSpPr>
          <p:cNvPr id="16" name="TextBox 15"/>
          <p:cNvSpPr txBox="1"/>
          <p:nvPr/>
        </p:nvSpPr>
        <p:spPr>
          <a:xfrm>
            <a:off x="7068312" y="2194560"/>
            <a:ext cx="274320" cy="365760"/>
          </a:xfrm>
          <a:prstGeom prst="rect">
            <a:avLst/>
          </a:prstGeom>
          <a:noFill/>
        </p:spPr>
        <p:txBody>
          <a:bodyPr wrap="square" lIns="0" rIns="0" tIns="0" bIns="0">
            <a:spAutoFit/>
          </a:bodyPr>
          <a:lstStyle/>
          <a:p>
            <a:pPr algn="ctr">
              <a:spcAft>
                <a:spcPts val="0"/>
              </a:spcAft>
            </a:pPr>
            <a:r>
              <a:rPr sz="1500" b="0" i="0">
                <a:solidFill>
                  <a:srgbClr val="595959"/>
                </a:solidFill>
                <a:latin typeface="Arial"/>
              </a:rPr>
              <a:t>×</a:t>
            </a:r>
          </a:p>
        </p:txBody>
      </p:sp>
      <p:sp>
        <p:nvSpPr>
          <p:cNvPr id="17" name="Rounded Rectangle 16"/>
          <p:cNvSpPr/>
          <p:nvPr/>
        </p:nvSpPr>
        <p:spPr>
          <a:xfrm>
            <a:off x="7342632" y="1737360"/>
            <a:ext cx="1481328" cy="1298448"/>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34072" y="1828800"/>
            <a:ext cx="1298448" cy="1143000"/>
          </a:xfrm>
          <a:prstGeom prst="rect">
            <a:avLst/>
          </a:prstGeom>
          <a:noFill/>
        </p:spPr>
        <p:txBody>
          <a:bodyPr wrap="square" lIns="0" rIns="0" tIns="0" bIns="0">
            <a:spAutoFit/>
          </a:bodyPr>
          <a:lstStyle/>
          <a:p>
            <a:pPr algn="ctr">
              <a:spcAft>
                <a:spcPts val="100"/>
              </a:spcAft>
            </a:pPr>
            <a:r>
              <a:rPr sz="2800" b="1" i="0">
                <a:solidFill>
                  <a:srgbClr val="0065BD"/>
                </a:solidFill>
                <a:latin typeface="Arial"/>
              </a:rPr>
              <a:t>7</a:t>
            </a:r>
          </a:p>
          <a:p>
            <a:pPr algn="ctr">
              <a:spcAft>
                <a:spcPts val="200"/>
              </a:spcAft>
            </a:pPr>
            <a:r>
              <a:rPr sz="950" b="1" i="0">
                <a:solidFill>
                  <a:srgbClr val="000000"/>
                </a:solidFill>
                <a:latin typeface="Arial"/>
              </a:rPr>
              <a:t>seeds</a:t>
            </a:r>
          </a:p>
          <a:p>
            <a:pPr algn="ctr">
              <a:spcAft>
                <a:spcPts val="0"/>
              </a:spcAft>
            </a:pPr>
            <a:r>
              <a:rPr sz="750" b="0" i="0">
                <a:solidFill>
                  <a:srgbClr val="595959"/>
                </a:solidFill>
                <a:latin typeface="Arial"/>
              </a:rPr>
              <a:t>per configuration</a:t>
            </a:r>
          </a:p>
        </p:txBody>
      </p:sp>
      <p:sp>
        <p:nvSpPr>
          <p:cNvPr id="19" name="TextBox 18"/>
          <p:cNvSpPr txBox="1"/>
          <p:nvPr/>
        </p:nvSpPr>
        <p:spPr>
          <a:xfrm>
            <a:off x="320040" y="3310128"/>
            <a:ext cx="8503920" cy="1554480"/>
          </a:xfrm>
          <a:prstGeom prst="rect">
            <a:avLst/>
          </a:prstGeom>
          <a:noFill/>
        </p:spPr>
        <p:txBody>
          <a:bodyPr wrap="square" lIns="0" rIns="0" tIns="0" bIns="0">
            <a:spAutoFit/>
          </a:bodyPr>
          <a:lstStyle/>
          <a:p>
            <a:pPr algn="l">
              <a:spcAft>
                <a:spcPts val="600"/>
              </a:spcAft>
            </a:pPr>
            <a:r>
              <a:rPr sz="1250" b="1" i="0">
                <a:solidFill>
                  <a:srgbClr val="003359"/>
                </a:solidFill>
                <a:latin typeface="Arial"/>
              </a:rPr>
              <a:t>= 1,260 instances · 6,300 timed solver runs · CVRPLIB rounded-distance convention</a:t>
            </a:r>
          </a:p>
          <a:p>
            <a:pPr algn="l">
              <a:spcAft>
                <a:spcPts val="400"/>
              </a:spcAft>
            </a:pPr>
            <a:r>
              <a:rPr sz="1050" b="0" i="0">
                <a:solidFill>
                  <a:srgbClr val="000000"/>
                </a:solidFill>
                <a:latin typeface="Arial"/>
              </a:rPr>
              <a:t>•  Label = solver with the lowest feasible cost within 20 s (exactly one run ever timed out).</a:t>
            </a:r>
          </a:p>
          <a:p>
            <a:pPr algn="l">
              <a:spcAft>
                <a:spcPts val="400"/>
              </a:spcAft>
            </a:pPr>
            <a:r>
              <a:rPr sz="1050" b="0" i="0">
                <a:solidFill>
                  <a:srgbClr val="000000"/>
                </a:solidFill>
                <a:latin typeface="Arial"/>
              </a:rPr>
              <a:t>•  Stratified 80/20 split: 1,008 training / 252 test instances, disjoint by construction.</a:t>
            </a:r>
          </a:p>
          <a:p>
            <a:pPr algn="l">
              <a:spcAft>
                <a:spcPts val="400"/>
              </a:spcAft>
            </a:pPr>
            <a:r>
              <a:rPr sz="1050" b="0" i="0">
                <a:solidFill>
                  <a:srgbClr val="000000"/>
                </a:solidFill>
                <a:latin typeface="Arial"/>
              </a:rPr>
              <a:t>•  Every instance regenerable from a stable ID; full generation manifests saved with the results.</a:t>
            </a:r>
          </a:p>
        </p:txBody>
      </p:sp>
      <p:sp>
        <p:nvSpPr>
          <p:cNvPr id="20" name="TextBox 19"/>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21" name="TextBox 20"/>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38 Features the Model Sees Before Solving</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Cheap descriptive statistics — in the spirit of the paper's instance characterization</a:t>
            </a:r>
          </a:p>
        </p:txBody>
      </p:sp>
      <p:sp>
        <p:nvSpPr>
          <p:cNvPr id="5" name="Oval 4"/>
          <p:cNvSpPr/>
          <p:nvPr/>
        </p:nvSpPr>
        <p:spPr>
          <a:xfrm>
            <a:off x="384048" y="1810511"/>
            <a:ext cx="365760" cy="365760"/>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200" b="1">
                <a:solidFill>
                  <a:srgbClr val="FFFFFF"/>
                </a:solidFill>
                <a:latin typeface="Arial"/>
              </a:rPr>
              <a:t>1</a:t>
            </a:r>
          </a:p>
        </p:txBody>
      </p:sp>
      <p:sp>
        <p:nvSpPr>
          <p:cNvPr id="6" name="TextBox 5"/>
          <p:cNvSpPr txBox="1"/>
          <p:nvPr/>
        </p:nvSpPr>
        <p:spPr>
          <a:xfrm>
            <a:off x="914400" y="1755648"/>
            <a:ext cx="5074920" cy="548640"/>
          </a:xfrm>
          <a:prstGeom prst="rect">
            <a:avLst/>
          </a:prstGeom>
          <a:noFill/>
        </p:spPr>
        <p:txBody>
          <a:bodyPr wrap="square" lIns="0" rIns="0" tIns="0" bIns="0">
            <a:spAutoFit/>
          </a:bodyPr>
          <a:lstStyle/>
          <a:p>
            <a:pPr algn="l">
              <a:spcAft>
                <a:spcPts val="100"/>
              </a:spcAft>
            </a:pPr>
            <a:r>
              <a:rPr sz="1100" b="1" i="0">
                <a:solidFill>
                  <a:srgbClr val="003359"/>
                </a:solidFill>
                <a:latin typeface="Arial"/>
              </a:rPr>
              <a:t>Size &amp; capacity</a:t>
            </a:r>
          </a:p>
          <a:p>
            <a:pPr algn="l">
              <a:spcAft>
                <a:spcPts val="0"/>
              </a:spcAft>
            </a:pPr>
            <a:r>
              <a:rPr sz="900" b="0" i="0">
                <a:solidFill>
                  <a:srgbClr val="000000"/>
                </a:solidFill>
                <a:latin typeface="Arial"/>
              </a:rPr>
              <a:t>n, Q, total demand, capacity pressure, minimum-fleet bound</a:t>
            </a:r>
          </a:p>
        </p:txBody>
      </p:sp>
      <p:sp>
        <p:nvSpPr>
          <p:cNvPr id="7" name="Oval 6"/>
          <p:cNvSpPr/>
          <p:nvPr/>
        </p:nvSpPr>
        <p:spPr>
          <a:xfrm>
            <a:off x="384048" y="2386583"/>
            <a:ext cx="365760" cy="365760"/>
          </a:xfrm>
          <a:prstGeom prst="ellipse">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200" b="1">
                <a:solidFill>
                  <a:srgbClr val="FFFFFF"/>
                </a:solidFill>
                <a:latin typeface="Arial"/>
              </a:rPr>
              <a:t>2</a:t>
            </a:r>
          </a:p>
        </p:txBody>
      </p:sp>
      <p:sp>
        <p:nvSpPr>
          <p:cNvPr id="8" name="TextBox 7"/>
          <p:cNvSpPr txBox="1"/>
          <p:nvPr/>
        </p:nvSpPr>
        <p:spPr>
          <a:xfrm>
            <a:off x="914400" y="2331720"/>
            <a:ext cx="5074920" cy="548640"/>
          </a:xfrm>
          <a:prstGeom prst="rect">
            <a:avLst/>
          </a:prstGeom>
          <a:noFill/>
        </p:spPr>
        <p:txBody>
          <a:bodyPr wrap="square" lIns="0" rIns="0" tIns="0" bIns="0">
            <a:spAutoFit/>
          </a:bodyPr>
          <a:lstStyle/>
          <a:p>
            <a:pPr algn="l">
              <a:spcAft>
                <a:spcPts val="100"/>
              </a:spcAft>
            </a:pPr>
            <a:r>
              <a:rPr sz="1100" b="1" i="0">
                <a:solidFill>
                  <a:srgbClr val="003359"/>
                </a:solidFill>
                <a:latin typeface="Arial"/>
              </a:rPr>
              <a:t>Demand shape</a:t>
            </a:r>
          </a:p>
          <a:p>
            <a:pPr algn="l">
              <a:spcAft>
                <a:spcPts val="0"/>
              </a:spcAft>
            </a:pPr>
            <a:r>
              <a:rPr sz="900" b="0" i="0">
                <a:solidFill>
                  <a:srgbClr val="000000"/>
                </a:solidFill>
                <a:latin typeface="Arial"/>
              </a:rPr>
              <a:t>mean, spread, coefficient of variation, quantiles</a:t>
            </a:r>
          </a:p>
        </p:txBody>
      </p:sp>
      <p:sp>
        <p:nvSpPr>
          <p:cNvPr id="9" name="Oval 8"/>
          <p:cNvSpPr/>
          <p:nvPr/>
        </p:nvSpPr>
        <p:spPr>
          <a:xfrm>
            <a:off x="384048" y="2962655"/>
            <a:ext cx="365760" cy="365760"/>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200" b="1">
                <a:solidFill>
                  <a:srgbClr val="FFFFFF"/>
                </a:solidFill>
                <a:latin typeface="Arial"/>
              </a:rPr>
              <a:t>3</a:t>
            </a:r>
          </a:p>
        </p:txBody>
      </p:sp>
      <p:sp>
        <p:nvSpPr>
          <p:cNvPr id="10" name="TextBox 9"/>
          <p:cNvSpPr txBox="1"/>
          <p:nvPr/>
        </p:nvSpPr>
        <p:spPr>
          <a:xfrm>
            <a:off x="914400" y="2907791"/>
            <a:ext cx="5074920" cy="548640"/>
          </a:xfrm>
          <a:prstGeom prst="rect">
            <a:avLst/>
          </a:prstGeom>
          <a:noFill/>
        </p:spPr>
        <p:txBody>
          <a:bodyPr wrap="square" lIns="0" rIns="0" tIns="0" bIns="0">
            <a:spAutoFit/>
          </a:bodyPr>
          <a:lstStyle/>
          <a:p>
            <a:pPr algn="l">
              <a:spcAft>
                <a:spcPts val="100"/>
              </a:spcAft>
            </a:pPr>
            <a:r>
              <a:rPr sz="1100" b="1" i="0">
                <a:solidFill>
                  <a:srgbClr val="003359"/>
                </a:solidFill>
                <a:latin typeface="Arial"/>
              </a:rPr>
              <a:t>Depot geometry</a:t>
            </a:r>
          </a:p>
          <a:p>
            <a:pPr algn="l">
              <a:spcAft>
                <a:spcPts val="0"/>
              </a:spcAft>
            </a:pPr>
            <a:r>
              <a:rPr sz="900" b="0" i="0">
                <a:solidFill>
                  <a:srgbClr val="000000"/>
                </a:solidFill>
                <a:latin typeface="Arial"/>
              </a:rPr>
              <a:t>depot centrality, distance-to-customer statistics</a:t>
            </a:r>
          </a:p>
        </p:txBody>
      </p:sp>
      <p:sp>
        <p:nvSpPr>
          <p:cNvPr id="11" name="Oval 10"/>
          <p:cNvSpPr/>
          <p:nvPr/>
        </p:nvSpPr>
        <p:spPr>
          <a:xfrm>
            <a:off x="384048" y="3538727"/>
            <a:ext cx="365760" cy="365760"/>
          </a:xfrm>
          <a:prstGeom prst="ellipse">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200" b="1">
                <a:solidFill>
                  <a:srgbClr val="FFFFFF"/>
                </a:solidFill>
                <a:latin typeface="Arial"/>
              </a:rPr>
              <a:t>4</a:t>
            </a:r>
          </a:p>
        </p:txBody>
      </p:sp>
      <p:sp>
        <p:nvSpPr>
          <p:cNvPr id="12" name="TextBox 11"/>
          <p:cNvSpPr txBox="1"/>
          <p:nvPr/>
        </p:nvSpPr>
        <p:spPr>
          <a:xfrm>
            <a:off x="914400" y="3483863"/>
            <a:ext cx="5074920" cy="548640"/>
          </a:xfrm>
          <a:prstGeom prst="rect">
            <a:avLst/>
          </a:prstGeom>
          <a:noFill/>
        </p:spPr>
        <p:txBody>
          <a:bodyPr wrap="square" lIns="0" rIns="0" tIns="0" bIns="0">
            <a:spAutoFit/>
          </a:bodyPr>
          <a:lstStyle/>
          <a:p>
            <a:pPr algn="l">
              <a:spcAft>
                <a:spcPts val="100"/>
              </a:spcAft>
            </a:pPr>
            <a:r>
              <a:rPr sz="1100" b="1" i="0">
                <a:solidFill>
                  <a:srgbClr val="003359"/>
                </a:solidFill>
                <a:latin typeface="Arial"/>
              </a:rPr>
              <a:t>Customer geometry</a:t>
            </a:r>
          </a:p>
          <a:p>
            <a:pPr algn="l">
              <a:spcAft>
                <a:spcPts val="0"/>
              </a:spcAft>
            </a:pPr>
            <a:r>
              <a:rPr sz="900" b="0" i="0">
                <a:solidFill>
                  <a:srgbClr val="000000"/>
                </a:solidFill>
                <a:latin typeface="Arial"/>
              </a:rPr>
              <a:t>nearest-neighbor &amp; pairwise spread, cluster separation</a:t>
            </a:r>
          </a:p>
        </p:txBody>
      </p:sp>
      <p:sp>
        <p:nvSpPr>
          <p:cNvPr id="13" name="Oval 12"/>
          <p:cNvSpPr/>
          <p:nvPr/>
        </p:nvSpPr>
        <p:spPr>
          <a:xfrm>
            <a:off x="384048" y="4114800"/>
            <a:ext cx="365760" cy="365760"/>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r>
              <a:rPr sz="1200" b="1">
                <a:solidFill>
                  <a:srgbClr val="FFFFFF"/>
                </a:solidFill>
                <a:latin typeface="Arial"/>
              </a:rPr>
              <a:t>5</a:t>
            </a:r>
          </a:p>
        </p:txBody>
      </p:sp>
      <p:sp>
        <p:nvSpPr>
          <p:cNvPr id="14" name="TextBox 13"/>
          <p:cNvSpPr txBox="1"/>
          <p:nvPr/>
        </p:nvSpPr>
        <p:spPr>
          <a:xfrm>
            <a:off x="914400" y="4059935"/>
            <a:ext cx="5074920" cy="548640"/>
          </a:xfrm>
          <a:prstGeom prst="rect">
            <a:avLst/>
          </a:prstGeom>
          <a:noFill/>
        </p:spPr>
        <p:txBody>
          <a:bodyPr wrap="square" lIns="0" rIns="0" tIns="0" bIns="0">
            <a:spAutoFit/>
          </a:bodyPr>
          <a:lstStyle/>
          <a:p>
            <a:pPr algn="l">
              <a:spcAft>
                <a:spcPts val="100"/>
              </a:spcAft>
            </a:pPr>
            <a:r>
              <a:rPr sz="1100" b="1" i="0">
                <a:solidFill>
                  <a:srgbClr val="003359"/>
                </a:solidFill>
                <a:latin typeface="Arial"/>
              </a:rPr>
              <a:t>Ring occupancy</a:t>
            </a:r>
          </a:p>
          <a:p>
            <a:pPr algn="l">
              <a:spcAft>
                <a:spcPts val="0"/>
              </a:spcAft>
            </a:pPr>
            <a:r>
              <a:rPr sz="900" b="0" i="0">
                <a:solidFill>
                  <a:srgbClr val="000000"/>
                </a:solidFill>
                <a:latin typeface="Arial"/>
              </a:rPr>
              <a:t>customer share in 5 concentric rings — the paper's “circular convolution”</a:t>
            </a:r>
          </a:p>
        </p:txBody>
      </p:sp>
      <p:sp>
        <p:nvSpPr>
          <p:cNvPr id="15" name="Rounded Rectangle 14"/>
          <p:cNvSpPr/>
          <p:nvPr/>
        </p:nvSpPr>
        <p:spPr>
          <a:xfrm>
            <a:off x="6263640" y="1737360"/>
            <a:ext cx="2560320" cy="237744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01952"/>
            <a:ext cx="2194560" cy="2103120"/>
          </a:xfrm>
          <a:prstGeom prst="rect">
            <a:avLst/>
          </a:prstGeom>
          <a:noFill/>
        </p:spPr>
        <p:txBody>
          <a:bodyPr wrap="square" lIns="0" rIns="0" tIns="0" bIns="0">
            <a:spAutoFit/>
          </a:bodyPr>
          <a:lstStyle/>
          <a:p>
            <a:pPr algn="l">
              <a:spcAft>
                <a:spcPts val="500"/>
              </a:spcAft>
            </a:pPr>
            <a:r>
              <a:rPr sz="1200" b="1" i="0">
                <a:solidFill>
                  <a:srgbClr val="003359"/>
                </a:solidFill>
                <a:latin typeface="Arial"/>
              </a:rPr>
              <a:t>Leakage guard</a:t>
            </a:r>
          </a:p>
          <a:p>
            <a:pPr algn="l">
              <a:spcAft>
                <a:spcPts val="500"/>
              </a:spcAft>
            </a:pPr>
            <a:r>
              <a:rPr sz="900" b="0" i="0">
                <a:solidFill>
                  <a:srgbClr val="000000"/>
                </a:solidFill>
                <a:latin typeface="Arial"/>
              </a:rPr>
              <a:t>•  Solver costs, runtimes, labels, seeds, generator categories: blocked from the feature matrix.</a:t>
            </a:r>
          </a:p>
          <a:p>
            <a:pPr algn="l">
              <a:spcAft>
                <a:spcPts val="500"/>
              </a:spcAft>
            </a:pPr>
            <a:r>
              <a:rPr sz="900" b="0" i="0">
                <a:solidFill>
                  <a:srgbClr val="000000"/>
                </a:solidFill>
                <a:latin typeface="Arial"/>
              </a:rPr>
              <a:t>•  Enforced by explicit checks — the pipeline rejects prohibited columns.</a:t>
            </a:r>
          </a:p>
        </p:txBody>
      </p:sp>
      <p:sp>
        <p:nvSpPr>
          <p:cNvPr id="17" name="TextBox 16"/>
          <p:cNvSpPr txBox="1"/>
          <p:nvPr/>
        </p:nvSpPr>
        <p:spPr>
          <a:xfrm>
            <a:off x="320040" y="4590288"/>
            <a:ext cx="8503920" cy="274320"/>
          </a:xfrm>
          <a:prstGeom prst="rect">
            <a:avLst/>
          </a:prstGeom>
          <a:noFill/>
        </p:spPr>
        <p:txBody>
          <a:bodyPr wrap="square" lIns="0" rIns="0" tIns="0" bIns="0">
            <a:spAutoFit/>
          </a:bodyPr>
          <a:lstStyle/>
          <a:p>
            <a:pPr algn="l">
              <a:spcAft>
                <a:spcPts val="0"/>
              </a:spcAft>
            </a:pPr>
            <a:r>
              <a:rPr sz="1000" b="0" i="1">
                <a:solidFill>
                  <a:srgbClr val="595959"/>
                </a:solidFill>
                <a:latin typeface="Arial"/>
              </a:rPr>
              <a:t>Engineered around three hypotheses: demand structure, depot geometry, instance size — tested on the next two slides.</a:t>
            </a:r>
          </a:p>
        </p:txBody>
      </p:sp>
      <p:sp>
        <p:nvSpPr>
          <p:cNvPr id="18" name="TextBox 17"/>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9" name="TextBox 18"/>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How We Measure a Selector</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Two standard baselines from the algorithm-selection literature — and the yardstick between them</a:t>
            </a:r>
          </a:p>
        </p:txBody>
      </p:sp>
      <p:sp>
        <p:nvSpPr>
          <p:cNvPr id="5" name="Rounded Rectangle 4"/>
          <p:cNvSpPr/>
          <p:nvPr/>
        </p:nvSpPr>
        <p:spPr>
          <a:xfrm>
            <a:off x="320040" y="1737360"/>
            <a:ext cx="4114800" cy="109728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47088"/>
            <a:ext cx="3749039" cy="914400"/>
          </a:xfrm>
          <a:prstGeom prst="rect">
            <a:avLst/>
          </a:prstGeom>
          <a:noFill/>
        </p:spPr>
        <p:txBody>
          <a:bodyPr wrap="square" lIns="0" rIns="0" tIns="0" bIns="0">
            <a:spAutoFit/>
          </a:bodyPr>
          <a:lstStyle/>
          <a:p>
            <a:pPr algn="l">
              <a:spcAft>
                <a:spcPts val="300"/>
              </a:spcAft>
            </a:pPr>
            <a:r>
              <a:rPr sz="1200" b="1" i="0">
                <a:solidFill>
                  <a:srgbClr val="003359"/>
                </a:solidFill>
                <a:latin typeface="Arial"/>
              </a:rPr>
              <a:t>SBS — Single Best Solver</a:t>
            </a:r>
          </a:p>
          <a:p>
            <a:pPr algn="l">
              <a:spcAft>
                <a:spcPts val="0"/>
              </a:spcAft>
            </a:pPr>
            <a:r>
              <a:rPr sz="950" b="0" i="0">
                <a:solidFill>
                  <a:srgbClr val="000000"/>
                </a:solidFill>
                <a:latin typeface="Arial"/>
              </a:rPr>
              <a:t>Best on average on training data (here: Mole–Jameson). What you'd deploy without ML — the baseline to beat.</a:t>
            </a:r>
          </a:p>
        </p:txBody>
      </p:sp>
      <p:sp>
        <p:nvSpPr>
          <p:cNvPr id="7" name="Rounded Rectangle 6"/>
          <p:cNvSpPr/>
          <p:nvPr/>
        </p:nvSpPr>
        <p:spPr>
          <a:xfrm>
            <a:off x="4709160" y="1737360"/>
            <a:ext cx="4114800" cy="109728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847088"/>
            <a:ext cx="3749039" cy="914400"/>
          </a:xfrm>
          <a:prstGeom prst="rect">
            <a:avLst/>
          </a:prstGeom>
          <a:noFill/>
        </p:spPr>
        <p:txBody>
          <a:bodyPr wrap="square" lIns="0" rIns="0" tIns="0" bIns="0">
            <a:spAutoFit/>
          </a:bodyPr>
          <a:lstStyle/>
          <a:p>
            <a:pPr algn="l">
              <a:spcAft>
                <a:spcPts val="300"/>
              </a:spcAft>
            </a:pPr>
            <a:r>
              <a:rPr sz="1200" b="1" i="0">
                <a:solidFill>
                  <a:srgbClr val="003359"/>
                </a:solidFill>
                <a:latin typeface="Arial"/>
              </a:rPr>
              <a:t>VBS — Virtual Best Solver</a:t>
            </a:r>
          </a:p>
          <a:p>
            <a:pPr algn="l">
              <a:spcAft>
                <a:spcPts val="0"/>
              </a:spcAft>
            </a:pPr>
            <a:r>
              <a:rPr sz="950" b="0" i="0">
                <a:solidFill>
                  <a:srgbClr val="000000"/>
                </a:solidFill>
                <a:latin typeface="Arial"/>
              </a:rPr>
              <a:t>An oracle that picks the true winner on every instance. Perfect selection — the ceiling.</a:t>
            </a:r>
          </a:p>
        </p:txBody>
      </p:sp>
      <p:sp>
        <p:nvSpPr>
          <p:cNvPr id="9" name="TextBox 8"/>
          <p:cNvSpPr txBox="1"/>
          <p:nvPr/>
        </p:nvSpPr>
        <p:spPr>
          <a:xfrm>
            <a:off x="320040" y="3108960"/>
            <a:ext cx="8503920" cy="320040"/>
          </a:xfrm>
          <a:prstGeom prst="rect">
            <a:avLst/>
          </a:prstGeom>
          <a:noFill/>
        </p:spPr>
        <p:txBody>
          <a:bodyPr wrap="square" lIns="0" rIns="0" tIns="0" bIns="0">
            <a:spAutoFit/>
          </a:bodyPr>
          <a:lstStyle/>
          <a:p>
            <a:pPr algn="l">
              <a:spcAft>
                <a:spcPts val="0"/>
              </a:spcAft>
            </a:pPr>
            <a:r>
              <a:rPr sz="1250" b="1" i="0">
                <a:solidFill>
                  <a:srgbClr val="003359"/>
                </a:solidFill>
                <a:latin typeface="Arial"/>
              </a:rPr>
              <a:t>m̂ — where does a selector land between oracle and no-ML baseline?</a:t>
            </a:r>
          </a:p>
        </p:txBody>
      </p:sp>
      <p:cxnSp>
        <p:nvCxnSpPr>
          <p:cNvPr id="10" name="Connector 9"/>
          <p:cNvCxnSpPr/>
          <p:nvPr/>
        </p:nvCxnSpPr>
        <p:spPr>
          <a:xfrm>
            <a:off x="914400" y="3977639"/>
            <a:ext cx="7315200" cy="0"/>
          </a:xfrm>
          <a:prstGeom prst="line">
            <a:avLst/>
          </a:prstGeom>
          <a:ln w="50800">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41248" y="3904487"/>
            <a:ext cx="146304" cy="146304"/>
          </a:xfrm>
          <a:prstGeom prst="ellipse">
            <a:avLst/>
          </a:prstGeom>
          <a:solidFill>
            <a:srgbClr val="A2A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56448" y="3904487"/>
            <a:ext cx="146304" cy="146304"/>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142231"/>
            <a:ext cx="3108960" cy="274320"/>
          </a:xfrm>
          <a:prstGeom prst="rect">
            <a:avLst/>
          </a:prstGeom>
          <a:noFill/>
        </p:spPr>
        <p:txBody>
          <a:bodyPr wrap="square" lIns="0" rIns="0" tIns="0" bIns="0">
            <a:spAutoFit/>
          </a:bodyPr>
          <a:lstStyle/>
          <a:p>
            <a:pPr algn="l">
              <a:spcAft>
                <a:spcPts val="0"/>
              </a:spcAft>
            </a:pPr>
            <a:r>
              <a:rPr sz="950" b="1" i="0">
                <a:solidFill>
                  <a:srgbClr val="A2AD00"/>
                </a:solidFill>
                <a:latin typeface="Arial"/>
              </a:rPr>
              <a:t>0 = selects like the oracle (VBS)</a:t>
            </a:r>
          </a:p>
        </p:txBody>
      </p:sp>
      <p:sp>
        <p:nvSpPr>
          <p:cNvPr id="14" name="TextBox 13"/>
          <p:cNvSpPr txBox="1"/>
          <p:nvPr/>
        </p:nvSpPr>
        <p:spPr>
          <a:xfrm>
            <a:off x="5577840" y="4142231"/>
            <a:ext cx="3108960" cy="274320"/>
          </a:xfrm>
          <a:prstGeom prst="rect">
            <a:avLst/>
          </a:prstGeom>
          <a:noFill/>
        </p:spPr>
        <p:txBody>
          <a:bodyPr wrap="square" lIns="0" rIns="0" tIns="0" bIns="0">
            <a:spAutoFit/>
          </a:bodyPr>
          <a:lstStyle/>
          <a:p>
            <a:pPr algn="r">
              <a:spcAft>
                <a:spcPts val="0"/>
              </a:spcAft>
            </a:pPr>
            <a:r>
              <a:rPr sz="950" b="1" i="0">
                <a:solidFill>
                  <a:srgbClr val="595959"/>
                </a:solidFill>
                <a:latin typeface="Arial"/>
              </a:rPr>
              <a:t>1 = no better than SBS</a:t>
            </a:r>
          </a:p>
        </p:txBody>
      </p:sp>
      <p:sp>
        <p:nvSpPr>
          <p:cNvPr id="15" name="Oval 14"/>
          <p:cNvSpPr/>
          <p:nvPr/>
        </p:nvSpPr>
        <p:spPr>
          <a:xfrm>
            <a:off x="6243523" y="3886200"/>
            <a:ext cx="182880" cy="182880"/>
          </a:xfrm>
          <a:prstGeom prst="ellipse">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7683" y="3474720"/>
            <a:ext cx="2194560" cy="292608"/>
          </a:xfrm>
          <a:prstGeom prst="rect">
            <a:avLst/>
          </a:prstGeom>
          <a:noFill/>
        </p:spPr>
        <p:txBody>
          <a:bodyPr wrap="square" lIns="0" rIns="0" tIns="0" bIns="0">
            <a:spAutoFit/>
          </a:bodyPr>
          <a:lstStyle/>
          <a:p>
            <a:pPr algn="ctr">
              <a:spcAft>
                <a:spcPts val="0"/>
              </a:spcAft>
            </a:pPr>
            <a:r>
              <a:rPr sz="1000" b="1" i="0">
                <a:solidFill>
                  <a:srgbClr val="E37222"/>
                </a:solidFill>
                <a:latin typeface="Arial"/>
              </a:rPr>
              <a:t>this project: 0.741</a:t>
            </a:r>
          </a:p>
        </p:txBody>
      </p:sp>
      <p:sp>
        <p:nvSpPr>
          <p:cNvPr id="17" name="TextBox 16"/>
          <p:cNvSpPr txBox="1"/>
          <p:nvPr/>
        </p:nvSpPr>
        <p:spPr>
          <a:xfrm>
            <a:off x="320040" y="4572000"/>
            <a:ext cx="8503920" cy="274320"/>
          </a:xfrm>
          <a:prstGeom prst="rect">
            <a:avLst/>
          </a:prstGeom>
          <a:noFill/>
        </p:spPr>
        <p:txBody>
          <a:bodyPr wrap="square" lIns="0" rIns="0" tIns="0" bIns="0">
            <a:spAutoFit/>
          </a:bodyPr>
          <a:lstStyle/>
          <a:p>
            <a:pPr algn="l">
              <a:spcAft>
                <a:spcPts val="0"/>
              </a:spcAft>
            </a:pPr>
            <a:r>
              <a:rPr sz="950" b="0" i="0">
                <a:solidFill>
                  <a:srgbClr val="595959"/>
                </a:solidFill>
                <a:latin typeface="Arial"/>
              </a:rPr>
              <a:t>Also reported: regret (cost above the per-instance best) and the share of instances within 1% of it.</a:t>
            </a:r>
          </a:p>
        </p:txBody>
      </p:sp>
      <p:sp>
        <p:nvSpPr>
          <p:cNvPr id="18" name="TextBox 17"/>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9" name="TextBox 18"/>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Main Result: The Selector Beats the Baseline</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Held-out test set, 252 instances — Random Forest is the best of four ML models</a:t>
            </a:r>
          </a:p>
        </p:txBody>
      </p:sp>
      <p:graphicFrame>
        <p:nvGraphicFramePr>
          <p:cNvPr id="5" name="Chart 4"/>
          <p:cNvGraphicFramePr>
            <a:graphicFrameLocks noGrp="1"/>
          </p:cNvGraphicFramePr>
          <p:nvPr/>
        </p:nvGraphicFramePr>
        <p:xfrm>
          <a:off x="320040" y="1737360"/>
          <a:ext cx="4754880" cy="3063240"/>
        </p:xfrm>
        <a:graphic>
          <a:graphicData uri="http://schemas.openxmlformats.org/drawingml/2006/chart">
            <c:chart xmlns:c="http://schemas.openxmlformats.org/drawingml/2006/chart" r:id="rId2"/>
          </a:graphicData>
        </a:graphic>
      </p:graphicFrame>
      <p:sp>
        <p:nvSpPr>
          <p:cNvPr id="6" name="TextBox 5"/>
          <p:cNvSpPr txBox="1"/>
          <p:nvPr/>
        </p:nvSpPr>
        <p:spPr>
          <a:xfrm>
            <a:off x="5440680" y="1783080"/>
            <a:ext cx="3383280" cy="914400"/>
          </a:xfrm>
          <a:prstGeom prst="rect">
            <a:avLst/>
          </a:prstGeom>
          <a:noFill/>
        </p:spPr>
        <p:txBody>
          <a:bodyPr wrap="square" lIns="0" rIns="0" tIns="0" bIns="0">
            <a:spAutoFit/>
          </a:bodyPr>
          <a:lstStyle/>
          <a:p>
            <a:pPr algn="l">
              <a:spcAft>
                <a:spcPts val="100"/>
              </a:spcAft>
            </a:pPr>
            <a:r>
              <a:rPr sz="1900" b="1" i="0">
                <a:solidFill>
                  <a:srgbClr val="003359"/>
                </a:solidFill>
                <a:latin typeface="Arial"/>
              </a:rPr>
              <a:t>63.1%  vs  45.2%</a:t>
            </a:r>
          </a:p>
          <a:p>
            <a:pPr algn="l">
              <a:spcAft>
                <a:spcPts val="400"/>
              </a:spcAft>
            </a:pPr>
            <a:r>
              <a:rPr sz="950" b="0" i="0">
                <a:solidFill>
                  <a:srgbClr val="595959"/>
                </a:solidFill>
                <a:latin typeface="Arial"/>
              </a:rPr>
              <a:t>instances within 1% of best possible — Random Forest vs SBS</a:t>
            </a:r>
          </a:p>
        </p:txBody>
      </p:sp>
      <p:sp>
        <p:nvSpPr>
          <p:cNvPr id="7" name="TextBox 6"/>
          <p:cNvSpPr txBox="1"/>
          <p:nvPr/>
        </p:nvSpPr>
        <p:spPr>
          <a:xfrm>
            <a:off x="5440680" y="2606040"/>
            <a:ext cx="3383280" cy="914400"/>
          </a:xfrm>
          <a:prstGeom prst="rect">
            <a:avLst/>
          </a:prstGeom>
          <a:noFill/>
        </p:spPr>
        <p:txBody>
          <a:bodyPr wrap="square" lIns="0" rIns="0" tIns="0" bIns="0">
            <a:spAutoFit/>
          </a:bodyPr>
          <a:lstStyle/>
          <a:p>
            <a:pPr algn="l">
              <a:spcAft>
                <a:spcPts val="100"/>
              </a:spcAft>
            </a:pPr>
            <a:r>
              <a:rPr sz="1900" b="1" i="0">
                <a:solidFill>
                  <a:srgbClr val="003359"/>
                </a:solidFill>
                <a:latin typeface="Arial"/>
              </a:rPr>
              <a:t>1.24%  vs  1.67%</a:t>
            </a:r>
          </a:p>
          <a:p>
            <a:pPr algn="l">
              <a:spcAft>
                <a:spcPts val="400"/>
              </a:spcAft>
            </a:pPr>
            <a:r>
              <a:rPr sz="950" b="0" i="0">
                <a:solidFill>
                  <a:srgbClr val="595959"/>
                </a:solidFill>
                <a:latin typeface="Arial"/>
              </a:rPr>
              <a:t>mean regret (extra route length over per-instance best)</a:t>
            </a:r>
          </a:p>
        </p:txBody>
      </p:sp>
      <p:sp>
        <p:nvSpPr>
          <p:cNvPr id="8" name="TextBox 7"/>
          <p:cNvSpPr txBox="1"/>
          <p:nvPr/>
        </p:nvSpPr>
        <p:spPr>
          <a:xfrm>
            <a:off x="5440680" y="3429000"/>
            <a:ext cx="3383280" cy="914400"/>
          </a:xfrm>
          <a:prstGeom prst="rect">
            <a:avLst/>
          </a:prstGeom>
          <a:noFill/>
        </p:spPr>
        <p:txBody>
          <a:bodyPr wrap="square" lIns="0" rIns="0" tIns="0" bIns="0">
            <a:spAutoFit/>
          </a:bodyPr>
          <a:lstStyle/>
          <a:p>
            <a:pPr algn="l">
              <a:spcAft>
                <a:spcPts val="100"/>
              </a:spcAft>
            </a:pPr>
            <a:r>
              <a:rPr sz="1900" b="1" i="0">
                <a:solidFill>
                  <a:srgbClr val="E37222"/>
                </a:solidFill>
                <a:latin typeface="Arial"/>
              </a:rPr>
              <a:t>m̂ = 0.741</a:t>
            </a:r>
          </a:p>
          <a:p>
            <a:pPr algn="l">
              <a:spcAft>
                <a:spcPts val="400"/>
              </a:spcAft>
            </a:pPr>
            <a:r>
              <a:rPr sz="950" b="0" i="0">
                <a:solidFill>
                  <a:srgbClr val="595959"/>
                </a:solidFill>
                <a:latin typeface="Arial"/>
              </a:rPr>
              <a:t>closes ~26% of the SBS → oracle gap</a:t>
            </a:r>
          </a:p>
        </p:txBody>
      </p:sp>
      <p:sp>
        <p:nvSpPr>
          <p:cNvPr id="9" name="TextBox 8"/>
          <p:cNvSpPr txBox="1"/>
          <p:nvPr/>
        </p:nvSpPr>
        <p:spPr>
          <a:xfrm>
            <a:off x="5440680" y="4160520"/>
            <a:ext cx="3383280" cy="685800"/>
          </a:xfrm>
          <a:prstGeom prst="rect">
            <a:avLst/>
          </a:prstGeom>
          <a:noFill/>
        </p:spPr>
        <p:txBody>
          <a:bodyPr wrap="square" lIns="0" rIns="0" tIns="0" bIns="0">
            <a:spAutoFit/>
          </a:bodyPr>
          <a:lstStyle/>
          <a:p>
            <a:pPr algn="l">
              <a:spcAft>
                <a:spcPts val="0"/>
              </a:spcAft>
            </a:pPr>
            <a:r>
              <a:rPr sz="900" b="0" i="0">
                <a:solidFill>
                  <a:srgbClr val="595959"/>
                </a:solidFill>
                <a:latin typeface="Arial"/>
              </a:rPr>
              <a:t>Accuracy is 40% over five classes — but wrong picks are usually cheap; a weak selector (Decision Tree, m̂ &gt; 1) is worse than no ML at all.</a:t>
            </a:r>
          </a:p>
        </p:txBody>
      </p:sp>
      <p:sp>
        <p:nvSpPr>
          <p:cNvPr id="10" name="TextBox 9"/>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1" name="TextBox 10"/>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Feature Importance: Expected vs Observed</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Permutation importance on held-out data — did our three engineering hypotheses hold?</a:t>
            </a:r>
          </a:p>
        </p:txBody>
      </p:sp>
      <p:graphicFrame>
        <p:nvGraphicFramePr>
          <p:cNvPr id="5" name="Chart 4"/>
          <p:cNvGraphicFramePr>
            <a:graphicFrameLocks noGrp="1"/>
          </p:cNvGraphicFramePr>
          <p:nvPr/>
        </p:nvGraphicFramePr>
        <p:xfrm>
          <a:off x="320040" y="1737360"/>
          <a:ext cx="4892040" cy="2926080"/>
        </p:xfrm>
        <a:graphic>
          <a:graphicData uri="http://schemas.openxmlformats.org/drawingml/2006/chart">
            <c:chart xmlns:c="http://schemas.openxmlformats.org/drawingml/2006/chart" r:id="rId2"/>
          </a:graphicData>
        </a:graphic>
      </p:graphicFrame>
      <p:sp>
        <p:nvSpPr>
          <p:cNvPr id="6" name="Rounded Rectangle 5"/>
          <p:cNvSpPr/>
          <p:nvPr/>
        </p:nvSpPr>
        <p:spPr>
          <a:xfrm>
            <a:off x="5532120" y="1783080"/>
            <a:ext cx="3291840" cy="89611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87568" y="1874519"/>
            <a:ext cx="2980944" cy="731520"/>
          </a:xfrm>
          <a:prstGeom prst="rect">
            <a:avLst/>
          </a:prstGeom>
          <a:noFill/>
        </p:spPr>
        <p:txBody>
          <a:bodyPr wrap="square" lIns="0" rIns="0" tIns="0" bIns="0">
            <a:spAutoFit/>
          </a:bodyPr>
          <a:lstStyle/>
          <a:p>
            <a:pPr algn="l">
              <a:spcAft>
                <a:spcPts val="200"/>
              </a:spcAft>
            </a:pPr>
            <a:r>
              <a:rPr sz="1050" b="1" i="0">
                <a:solidFill>
                  <a:srgbClr val="A2AD00"/>
                </a:solidFill>
                <a:latin typeface="Arial"/>
              </a:rPr>
              <a:t>Confirmed</a:t>
            </a:r>
          </a:p>
          <a:p>
            <a:pPr algn="l">
              <a:spcAft>
                <a:spcPts val="0"/>
              </a:spcAft>
            </a:pPr>
            <a:r>
              <a:rPr sz="900" b="0" i="0">
                <a:solidFill>
                  <a:srgbClr val="000000"/>
                </a:solidFill>
                <a:latin typeface="Arial"/>
              </a:rPr>
              <a:t>Demand structure matters: capacity pressure &amp; demand spread top the impurity ranking.</a:t>
            </a:r>
          </a:p>
        </p:txBody>
      </p:sp>
      <p:sp>
        <p:nvSpPr>
          <p:cNvPr id="8" name="Rounded Rectangle 7"/>
          <p:cNvSpPr/>
          <p:nvPr/>
        </p:nvSpPr>
        <p:spPr>
          <a:xfrm>
            <a:off x="5532120" y="2807208"/>
            <a:ext cx="3291840" cy="89611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87568" y="2898648"/>
            <a:ext cx="2980944" cy="731520"/>
          </a:xfrm>
          <a:prstGeom prst="rect">
            <a:avLst/>
          </a:prstGeom>
          <a:noFill/>
        </p:spPr>
        <p:txBody>
          <a:bodyPr wrap="square" lIns="0" rIns="0" tIns="0" bIns="0">
            <a:spAutoFit/>
          </a:bodyPr>
          <a:lstStyle/>
          <a:p>
            <a:pPr algn="l">
              <a:spcAft>
                <a:spcPts val="200"/>
              </a:spcAft>
            </a:pPr>
            <a:r>
              <a:rPr sz="1050" b="1" i="0">
                <a:solidFill>
                  <a:srgbClr val="0065BD"/>
                </a:solidFill>
                <a:latin typeface="Arial"/>
              </a:rPr>
              <a:t>Stronger than expected</a:t>
            </a:r>
          </a:p>
          <a:p>
            <a:pPr algn="l">
              <a:spcAft>
                <a:spcPts val="0"/>
              </a:spcAft>
            </a:pPr>
            <a:r>
              <a:rPr sz="900" b="0" i="0">
                <a:solidFill>
                  <a:srgbClr val="000000"/>
                </a:solidFill>
                <a:latin typeface="Arial"/>
              </a:rPr>
              <a:t>Depot centrality &amp; the ring profile are the top held-out predictors.</a:t>
            </a:r>
          </a:p>
        </p:txBody>
      </p:sp>
      <p:sp>
        <p:nvSpPr>
          <p:cNvPr id="10" name="Rounded Rectangle 9"/>
          <p:cNvSpPr/>
          <p:nvPr/>
        </p:nvSpPr>
        <p:spPr>
          <a:xfrm>
            <a:off x="5532120" y="3831336"/>
            <a:ext cx="3291840" cy="896112"/>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87568" y="3922776"/>
            <a:ext cx="2980944" cy="731520"/>
          </a:xfrm>
          <a:prstGeom prst="rect">
            <a:avLst/>
          </a:prstGeom>
          <a:noFill/>
        </p:spPr>
        <p:txBody>
          <a:bodyPr wrap="square" lIns="0" rIns="0" tIns="0" bIns="0">
            <a:spAutoFit/>
          </a:bodyPr>
          <a:lstStyle/>
          <a:p>
            <a:pPr algn="l">
              <a:spcAft>
                <a:spcPts val="200"/>
              </a:spcAft>
            </a:pPr>
            <a:r>
              <a:rPr sz="1050" b="1" i="0">
                <a:solidFill>
                  <a:srgbClr val="E37222"/>
                </a:solidFill>
                <a:latin typeface="Arial"/>
              </a:rPr>
              <a:t>Surprise</a:t>
            </a:r>
          </a:p>
          <a:p>
            <a:pPr algn="l">
              <a:spcAft>
                <a:spcPts val="0"/>
              </a:spcAft>
            </a:pPr>
            <a:r>
              <a:rPr sz="900" b="0" i="0">
                <a:solidFill>
                  <a:srgbClr val="000000"/>
                </a:solidFill>
                <a:latin typeface="Arial"/>
              </a:rPr>
              <a:t>Raw size (n) barely matters — never in the top 10. Shape beats scale.</a:t>
            </a:r>
          </a:p>
        </p:txBody>
      </p:sp>
      <p:sp>
        <p:nvSpPr>
          <p:cNvPr id="12" name="TextBox 11"/>
          <p:cNvSpPr txBox="1"/>
          <p:nvPr/>
        </p:nvSpPr>
        <p:spPr>
          <a:xfrm>
            <a:off x="320040" y="4590288"/>
            <a:ext cx="8503920" cy="274320"/>
          </a:xfrm>
          <a:prstGeom prst="rect">
            <a:avLst/>
          </a:prstGeom>
          <a:noFill/>
        </p:spPr>
        <p:txBody>
          <a:bodyPr wrap="square" lIns="0" rIns="0" tIns="0" bIns="0">
            <a:spAutoFit/>
          </a:bodyPr>
          <a:lstStyle/>
          <a:p>
            <a:pPr algn="l">
              <a:spcAft>
                <a:spcPts val="0"/>
              </a:spcAft>
            </a:pPr>
            <a:r>
              <a:rPr sz="950" b="0" i="1">
                <a:solidFill>
                  <a:srgbClr val="595959"/>
                </a:solidFill>
                <a:latin typeface="Arial"/>
              </a:rPr>
              <a:t>Importances are predictive associations, not causal claims.</a:t>
            </a:r>
          </a:p>
        </p:txBody>
      </p:sp>
      <p:sp>
        <p:nvSpPr>
          <p:cNvPr id="13" name="TextBox 12"/>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4" name="TextBox 13"/>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Which Characteristics Favor Which Solver?</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Solver win rates across 1,260 instances — the engineered characteristics visibly reshuffle the winner</a:t>
            </a:r>
          </a:p>
        </p:txBody>
      </p:sp>
      <p:sp>
        <p:nvSpPr>
          <p:cNvPr id="5" name="Rounded Rectangle 4"/>
          <p:cNvSpPr/>
          <p:nvPr/>
        </p:nvSpPr>
        <p:spPr>
          <a:xfrm>
            <a:off x="320040" y="1737360"/>
            <a:ext cx="4114800" cy="269748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83664"/>
            <a:ext cx="3749039" cy="2468880"/>
          </a:xfrm>
          <a:prstGeom prst="rect">
            <a:avLst/>
          </a:prstGeom>
          <a:noFill/>
        </p:spPr>
        <p:txBody>
          <a:bodyPr wrap="square" lIns="0" rIns="0" tIns="0" bIns="0">
            <a:spAutoFit/>
          </a:bodyPr>
          <a:lstStyle/>
          <a:p>
            <a:pPr algn="l">
              <a:spcAft>
                <a:spcPts val="500"/>
              </a:spcAft>
            </a:pPr>
            <a:r>
              <a:rPr sz="1150" b="1" i="0">
                <a:solidFill>
                  <a:srgbClr val="003359"/>
                </a:solidFill>
                <a:latin typeface="Arial"/>
              </a:rPr>
              <a:t>Demand structure — the strongest signal</a:t>
            </a:r>
          </a:p>
          <a:p>
            <a:pPr algn="l">
              <a:spcAft>
                <a:spcPts val="500"/>
              </a:spcAft>
            </a:pPr>
            <a:r>
              <a:rPr sz="950" b="1" i="0">
                <a:solidFill>
                  <a:srgbClr val="005293"/>
                </a:solidFill>
                <a:latin typeface="Arial"/>
              </a:rPr>
              <a:t>•  Even demands → route-first cluster-second (41%). </a:t>
            </a:r>
            <a:r>
              <a:rPr sz="900" b="0">
                <a:solidFill>
                  <a:srgbClr val="000000"/>
                </a:solidFill>
                <a:latin typeface="Arial"/>
              </a:rPr>
              <a:t>Cutting one giant tour is clean when demands are uniform.</a:t>
            </a:r>
          </a:p>
          <a:p>
            <a:pPr algn="l">
              <a:spcAft>
                <a:spcPts val="500"/>
              </a:spcAft>
            </a:pPr>
            <a:r>
              <a:rPr sz="950" b="1" i="0">
                <a:solidFill>
                  <a:srgbClr val="005293"/>
                </a:solidFill>
                <a:latin typeface="Arial"/>
              </a:rPr>
              <a:t>•  Lumpy demands → Clarke-Wright + 2-opt (38%). </a:t>
            </a:r>
            <a:r>
              <a:rPr sz="900" b="0">
                <a:solidFill>
                  <a:srgbClr val="000000"/>
                </a:solidFill>
                <a:latin typeface="Arial"/>
              </a:rPr>
              <a:t>Greedy savings merges absorb high variance.</a:t>
            </a:r>
          </a:p>
          <a:p>
            <a:pPr algn="l">
              <a:spcAft>
                <a:spcPts val="500"/>
              </a:spcAft>
            </a:pPr>
            <a:r>
              <a:rPr sz="950" b="1" i="0">
                <a:solidFill>
                  <a:srgbClr val="005293"/>
                </a:solidFill>
                <a:latin typeface="Arial"/>
              </a:rPr>
              <a:t>•  Tight capacity → Mole-Jameson (34%). </a:t>
            </a:r>
            <a:r>
              <a:rPr sz="900" b="0">
                <a:solidFill>
                  <a:srgbClr val="000000"/>
                </a:solidFill>
                <a:latin typeface="Arial"/>
              </a:rPr>
              <a:t>Feasibility-aware insertion pays off when vehicles run full.</a:t>
            </a:r>
          </a:p>
        </p:txBody>
      </p:sp>
      <p:sp>
        <p:nvSpPr>
          <p:cNvPr id="7" name="Rounded Rectangle 6"/>
          <p:cNvSpPr/>
          <p:nvPr/>
        </p:nvSpPr>
        <p:spPr>
          <a:xfrm>
            <a:off x="4709160" y="1737360"/>
            <a:ext cx="4114800" cy="269748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883664"/>
            <a:ext cx="3749039" cy="2468880"/>
          </a:xfrm>
          <a:prstGeom prst="rect">
            <a:avLst/>
          </a:prstGeom>
          <a:noFill/>
        </p:spPr>
        <p:txBody>
          <a:bodyPr wrap="square" lIns="0" rIns="0" tIns="0" bIns="0">
            <a:spAutoFit/>
          </a:bodyPr>
          <a:lstStyle/>
          <a:p>
            <a:pPr algn="l">
              <a:spcAft>
                <a:spcPts val="500"/>
              </a:spcAft>
            </a:pPr>
            <a:r>
              <a:rPr sz="1150" b="1" i="0">
                <a:solidFill>
                  <a:srgbClr val="003359"/>
                </a:solidFill>
                <a:latin typeface="Arial"/>
              </a:rPr>
              <a:t>Depot position &amp; spatial layout</a:t>
            </a:r>
          </a:p>
          <a:p>
            <a:pPr algn="l">
              <a:spcAft>
                <a:spcPts val="500"/>
              </a:spcAft>
            </a:pPr>
            <a:r>
              <a:rPr sz="950" b="1" i="0">
                <a:solidFill>
                  <a:srgbClr val="005293"/>
                </a:solidFill>
                <a:latin typeface="Arial"/>
              </a:rPr>
              <a:t>•  Central depot, radial layouts → sweep peaks (25–27%). </a:t>
            </a:r>
            <a:r>
              <a:rPr sz="900" b="0">
                <a:solidFill>
                  <a:srgbClr val="000000"/>
                </a:solidFill>
                <a:latin typeface="Arial"/>
              </a:rPr>
              <a:t>Wren-Holliday partitions by angle — it needs angular spread.</a:t>
            </a:r>
          </a:p>
          <a:p>
            <a:pPr algn="l">
              <a:spcAft>
                <a:spcPts val="500"/>
              </a:spcAft>
            </a:pPr>
            <a:r>
              <a:rPr sz="950" b="1" i="0">
                <a:solidFill>
                  <a:srgbClr val="005293"/>
                </a:solidFill>
                <a:latin typeface="Arial"/>
              </a:rPr>
              <a:t>•  Corner depot → sweep fades; Mole-Jameson leads (28%). </a:t>
            </a:r>
            <a:r>
              <a:rPr sz="900" b="0">
                <a:solidFill>
                  <a:srgbClr val="000000"/>
                </a:solidFill>
                <a:latin typeface="Arial"/>
              </a:rPr>
              <a:t>No angular spread left to sweep.</a:t>
            </a:r>
          </a:p>
          <a:p>
            <a:pPr algn="l">
              <a:spcAft>
                <a:spcPts val="500"/>
              </a:spcAft>
            </a:pPr>
            <a:r>
              <a:rPr sz="950" b="1" i="0">
                <a:solidFill>
                  <a:srgbClr val="005293"/>
                </a:solidFill>
                <a:latin typeface="Arial"/>
              </a:rPr>
              <a:t>•  Uniform / mixed scatter → Clarke-Wright leads (29%). </a:t>
            </a:r>
            <a:r>
              <a:rPr sz="900" b="0">
                <a:solidFill>
                  <a:srgbClr val="000000"/>
                </a:solidFill>
                <a:latin typeface="Arial"/>
              </a:rPr>
              <a:t>Savings thrives without exploitable structure.</a:t>
            </a:r>
          </a:p>
        </p:txBody>
      </p:sp>
      <p:sp>
        <p:nvSpPr>
          <p:cNvPr id="9" name="TextBox 8"/>
          <p:cNvSpPr txBox="1"/>
          <p:nvPr/>
        </p:nvSpPr>
        <p:spPr>
          <a:xfrm>
            <a:off x="320040" y="4572000"/>
            <a:ext cx="8503920" cy="320040"/>
          </a:xfrm>
          <a:prstGeom prst="rect">
            <a:avLst/>
          </a:prstGeom>
          <a:noFill/>
        </p:spPr>
        <p:txBody>
          <a:bodyPr wrap="square" lIns="0" rIns="0" tIns="0" bIns="0">
            <a:spAutoFit/>
          </a:bodyPr>
          <a:lstStyle/>
          <a:p>
            <a:pPr algn="l">
              <a:spcAft>
                <a:spcPts val="0"/>
              </a:spcAft>
            </a:pPr>
            <a:r>
              <a:rPr sz="1050" b="1" i="0">
                <a:solidFill>
                  <a:srgbClr val="003359"/>
                </a:solidFill>
                <a:latin typeface="Arial"/>
              </a:rPr>
              <a:t>This is the signal the Random Forest exploits — the features, not the model class, are the heart of the project.</a:t>
            </a:r>
          </a:p>
        </p:txBody>
      </p:sp>
      <p:sp>
        <p:nvSpPr>
          <p:cNvPr id="10" name="TextBox 9"/>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1" name="TextBox 10"/>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Where It Works — and Where It Struggles</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Random Forest on the test split, share of instances within 1% of best possible</a:t>
            </a:r>
          </a:p>
        </p:txBody>
      </p:sp>
      <p:sp>
        <p:nvSpPr>
          <p:cNvPr id="5" name="Rounded Rectangle 4"/>
          <p:cNvSpPr/>
          <p:nvPr/>
        </p:nvSpPr>
        <p:spPr>
          <a:xfrm>
            <a:off x="320040"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83664"/>
            <a:ext cx="2331720" cy="2743200"/>
          </a:xfrm>
          <a:prstGeom prst="rect">
            <a:avLst/>
          </a:prstGeom>
          <a:noFill/>
        </p:spPr>
        <p:txBody>
          <a:bodyPr wrap="square" lIns="0" rIns="0" tIns="0" bIns="0">
            <a:spAutoFit/>
          </a:bodyPr>
          <a:lstStyle/>
          <a:p>
            <a:pPr algn="l">
              <a:spcAft>
                <a:spcPts val="500"/>
              </a:spcAft>
            </a:pPr>
            <a:r>
              <a:rPr sz="1200" b="1" i="0">
                <a:solidFill>
                  <a:srgbClr val="003359"/>
                </a:solidFill>
                <a:latin typeface="Arial"/>
              </a:rPr>
              <a:t>By instance size</a:t>
            </a:r>
          </a:p>
          <a:p>
            <a:pPr algn="l">
              <a:spcAft>
                <a:spcPts val="100"/>
              </a:spcAft>
            </a:pPr>
            <a:r>
              <a:rPr sz="1500" b="1" i="0">
                <a:solidFill>
                  <a:srgbClr val="005293"/>
                </a:solidFill>
                <a:latin typeface="Arial"/>
              </a:rPr>
              <a:t>58%  </a:t>
            </a:r>
            <a:r>
              <a:rPr sz="950">
                <a:solidFill>
                  <a:srgbClr val="000000"/>
                </a:solidFill>
                <a:latin typeface="Arial"/>
              </a:rPr>
              <a:t>20 customers</a:t>
            </a:r>
          </a:p>
          <a:p>
            <a:pPr algn="l">
              <a:spcAft>
                <a:spcPts val="100"/>
              </a:spcAft>
            </a:pPr>
            <a:r>
              <a:rPr sz="1500" b="1" i="0">
                <a:solidFill>
                  <a:srgbClr val="005293"/>
                </a:solidFill>
                <a:latin typeface="Arial"/>
              </a:rPr>
              <a:t>60%  </a:t>
            </a:r>
            <a:r>
              <a:rPr sz="950">
                <a:solidFill>
                  <a:srgbClr val="000000"/>
                </a:solidFill>
                <a:latin typeface="Arial"/>
              </a:rPr>
              <a:t>50 customers</a:t>
            </a:r>
          </a:p>
          <a:p>
            <a:pPr algn="l">
              <a:spcAft>
                <a:spcPts val="100"/>
              </a:spcAft>
            </a:pPr>
            <a:r>
              <a:rPr sz="1500" b="1" i="0">
                <a:solidFill>
                  <a:srgbClr val="005293"/>
                </a:solidFill>
                <a:latin typeface="Arial"/>
              </a:rPr>
              <a:t>71%  </a:t>
            </a:r>
            <a:r>
              <a:rPr sz="950">
                <a:solidFill>
                  <a:srgbClr val="000000"/>
                </a:solidFill>
                <a:latin typeface="Arial"/>
              </a:rPr>
              <a:t>100 customers</a:t>
            </a:r>
          </a:p>
          <a:p>
            <a:pPr algn="l">
              <a:spcAft>
                <a:spcPts val="0"/>
              </a:spcAft>
            </a:pPr>
            <a:r>
              <a:rPr sz="900" b="0" i="1">
                <a:solidFill>
                  <a:srgbClr val="595959"/>
                </a:solidFill>
                <a:latin typeface="Arial"/>
              </a:rPr>
              <a:t>More geometric structure → easier selection.</a:t>
            </a:r>
          </a:p>
        </p:txBody>
      </p:sp>
      <p:sp>
        <p:nvSpPr>
          <p:cNvPr id="7" name="Rounded Rectangle 6"/>
          <p:cNvSpPr/>
          <p:nvPr/>
        </p:nvSpPr>
        <p:spPr>
          <a:xfrm>
            <a:off x="3218688"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01568" y="1883664"/>
            <a:ext cx="2331720" cy="2743200"/>
          </a:xfrm>
          <a:prstGeom prst="rect">
            <a:avLst/>
          </a:prstGeom>
          <a:noFill/>
        </p:spPr>
        <p:txBody>
          <a:bodyPr wrap="square" lIns="0" rIns="0" tIns="0" bIns="0">
            <a:spAutoFit/>
          </a:bodyPr>
          <a:lstStyle/>
          <a:p>
            <a:pPr algn="l">
              <a:spcAft>
                <a:spcPts val="500"/>
              </a:spcAft>
            </a:pPr>
            <a:r>
              <a:rPr sz="1200" b="1" i="0">
                <a:solidFill>
                  <a:srgbClr val="003359"/>
                </a:solidFill>
                <a:latin typeface="Arial"/>
              </a:rPr>
              <a:t>By demand regime</a:t>
            </a:r>
          </a:p>
          <a:p>
            <a:pPr algn="l">
              <a:spcAft>
                <a:spcPts val="100"/>
              </a:spcAft>
            </a:pPr>
            <a:r>
              <a:rPr sz="1500" b="1" i="0">
                <a:solidFill>
                  <a:srgbClr val="005293"/>
                </a:solidFill>
                <a:latin typeface="Arial"/>
              </a:rPr>
              <a:t>47%  </a:t>
            </a:r>
            <a:r>
              <a:rPr sz="950">
                <a:solidFill>
                  <a:srgbClr val="000000"/>
                </a:solidFill>
                <a:latin typeface="Arial"/>
              </a:rPr>
              <a:t>high pressure</a:t>
            </a:r>
          </a:p>
          <a:p>
            <a:pPr algn="l">
              <a:spcAft>
                <a:spcPts val="100"/>
              </a:spcAft>
            </a:pPr>
            <a:r>
              <a:rPr sz="1500" b="1" i="0">
                <a:solidFill>
                  <a:srgbClr val="005293"/>
                </a:solidFill>
                <a:latin typeface="Arial"/>
              </a:rPr>
              <a:t>67%  </a:t>
            </a:r>
            <a:r>
              <a:rPr sz="950">
                <a:solidFill>
                  <a:srgbClr val="000000"/>
                </a:solidFill>
                <a:latin typeface="Arial"/>
              </a:rPr>
              <a:t>low variance</a:t>
            </a:r>
          </a:p>
          <a:p>
            <a:pPr algn="l">
              <a:spcAft>
                <a:spcPts val="100"/>
              </a:spcAft>
            </a:pPr>
            <a:r>
              <a:rPr sz="1500" b="1" i="0">
                <a:solidFill>
                  <a:srgbClr val="005293"/>
                </a:solidFill>
                <a:latin typeface="Arial"/>
              </a:rPr>
              <a:t>69%  </a:t>
            </a:r>
            <a:r>
              <a:rPr sz="950">
                <a:solidFill>
                  <a:srgbClr val="000000"/>
                </a:solidFill>
                <a:latin typeface="Arial"/>
              </a:rPr>
              <a:t>high var. / low pressure</a:t>
            </a:r>
          </a:p>
          <a:p>
            <a:pPr algn="l">
              <a:spcAft>
                <a:spcPts val="0"/>
              </a:spcAft>
            </a:pPr>
            <a:r>
              <a:rPr sz="900" b="0" i="1">
                <a:solidFill>
                  <a:srgbClr val="595959"/>
                </a:solidFill>
                <a:latin typeface="Arial"/>
              </a:rPr>
              <a:t>Tightly constrained instances are intrinsically harder.</a:t>
            </a:r>
          </a:p>
        </p:txBody>
      </p:sp>
      <p:sp>
        <p:nvSpPr>
          <p:cNvPr id="9" name="Rounded Rectangle 8"/>
          <p:cNvSpPr/>
          <p:nvPr/>
        </p:nvSpPr>
        <p:spPr>
          <a:xfrm>
            <a:off x="6117336"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0216" y="1883664"/>
            <a:ext cx="2331720" cy="2743200"/>
          </a:xfrm>
          <a:prstGeom prst="rect">
            <a:avLst/>
          </a:prstGeom>
          <a:noFill/>
        </p:spPr>
        <p:txBody>
          <a:bodyPr wrap="square" lIns="0" rIns="0" tIns="0" bIns="0">
            <a:spAutoFit/>
          </a:bodyPr>
          <a:lstStyle/>
          <a:p>
            <a:pPr algn="l">
              <a:spcAft>
                <a:spcPts val="500"/>
              </a:spcAft>
            </a:pPr>
            <a:r>
              <a:rPr sz="1200" b="1" i="0">
                <a:solidFill>
                  <a:srgbClr val="003359"/>
                </a:solidFill>
                <a:latin typeface="Arial"/>
              </a:rPr>
              <a:t>By depot position</a:t>
            </a:r>
          </a:p>
          <a:p>
            <a:pPr algn="l">
              <a:spcAft>
                <a:spcPts val="100"/>
              </a:spcAft>
            </a:pPr>
            <a:r>
              <a:rPr sz="1500" b="1" i="0">
                <a:solidFill>
                  <a:srgbClr val="005293"/>
                </a:solidFill>
                <a:latin typeface="Arial"/>
              </a:rPr>
              <a:t>60%  </a:t>
            </a:r>
            <a:r>
              <a:rPr sz="950">
                <a:solidFill>
                  <a:srgbClr val="000000"/>
                </a:solidFill>
                <a:latin typeface="Arial"/>
              </a:rPr>
              <a:t>random</a:t>
            </a:r>
          </a:p>
          <a:p>
            <a:pPr algn="l">
              <a:spcAft>
                <a:spcPts val="100"/>
              </a:spcAft>
            </a:pPr>
            <a:r>
              <a:rPr sz="1500" b="1" i="0">
                <a:solidFill>
                  <a:srgbClr val="005293"/>
                </a:solidFill>
                <a:latin typeface="Arial"/>
              </a:rPr>
              <a:t>61%  </a:t>
            </a:r>
            <a:r>
              <a:rPr sz="950">
                <a:solidFill>
                  <a:srgbClr val="000000"/>
                </a:solidFill>
                <a:latin typeface="Arial"/>
              </a:rPr>
              <a:t>center</a:t>
            </a:r>
          </a:p>
          <a:p>
            <a:pPr algn="l">
              <a:spcAft>
                <a:spcPts val="100"/>
              </a:spcAft>
            </a:pPr>
            <a:r>
              <a:rPr sz="1500" b="1" i="0">
                <a:solidFill>
                  <a:srgbClr val="005293"/>
                </a:solidFill>
                <a:latin typeface="Arial"/>
              </a:rPr>
              <a:t>70%  </a:t>
            </a:r>
            <a:r>
              <a:rPr sz="950">
                <a:solidFill>
                  <a:srgbClr val="000000"/>
                </a:solidFill>
                <a:latin typeface="Arial"/>
              </a:rPr>
              <a:t>corner</a:t>
            </a:r>
          </a:p>
          <a:p>
            <a:pPr algn="l">
              <a:spcAft>
                <a:spcPts val="0"/>
              </a:spcAft>
            </a:pPr>
            <a:r>
              <a:rPr sz="900" b="0" i="1">
                <a:solidFill>
                  <a:srgbClr val="595959"/>
                </a:solidFill>
                <a:latin typeface="Arial"/>
              </a:rPr>
              <a:t>Random depots also have the lowest accuracy (33%).</a:t>
            </a:r>
          </a:p>
        </p:txBody>
      </p:sp>
      <p:sp>
        <p:nvSpPr>
          <p:cNvPr id="11" name="TextBox 10"/>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2" name="TextBox 11"/>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Does It Transfer to Real Benchmarks?</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Trained only on synthetic data — tested on 85 classic CVRPLIB instances (sets A, B, E, P)</a:t>
            </a:r>
          </a:p>
        </p:txBody>
      </p:sp>
      <p:graphicFrame>
        <p:nvGraphicFramePr>
          <p:cNvPr id="5" name="Chart 4"/>
          <p:cNvGraphicFramePr>
            <a:graphicFrameLocks noGrp="1"/>
          </p:cNvGraphicFramePr>
          <p:nvPr/>
        </p:nvGraphicFramePr>
        <p:xfrm>
          <a:off x="320040" y="1691640"/>
          <a:ext cx="4937760" cy="3154680"/>
        </p:xfrm>
        <a:graphic>
          <a:graphicData uri="http://schemas.openxmlformats.org/drawingml/2006/chart">
            <c:chart xmlns:c="http://schemas.openxmlformats.org/drawingml/2006/chart" r:id="rId2"/>
          </a:graphicData>
        </a:graphic>
      </p:graphicFrame>
      <p:sp>
        <p:nvSpPr>
          <p:cNvPr id="6" name="TextBox 5"/>
          <p:cNvSpPr txBox="1"/>
          <p:nvPr/>
        </p:nvSpPr>
        <p:spPr>
          <a:xfrm>
            <a:off x="5532120" y="1783080"/>
            <a:ext cx="3291840" cy="3017520"/>
          </a:xfrm>
          <a:prstGeom prst="rect">
            <a:avLst/>
          </a:prstGeom>
          <a:noFill/>
        </p:spPr>
        <p:txBody>
          <a:bodyPr wrap="square" lIns="0" rIns="0" tIns="0" bIns="0">
            <a:spAutoFit/>
          </a:bodyPr>
          <a:lstStyle/>
          <a:p>
            <a:pPr algn="l">
              <a:spcAft>
                <a:spcPts val="500"/>
              </a:spcAft>
            </a:pPr>
            <a:r>
              <a:rPr sz="1300" b="1" i="0">
                <a:solidFill>
                  <a:srgbClr val="003359"/>
                </a:solidFill>
                <a:latin typeface="Arial"/>
              </a:rPr>
              <a:t>The honest read</a:t>
            </a:r>
          </a:p>
          <a:p>
            <a:pPr algn="l">
              <a:spcAft>
                <a:spcPts val="500"/>
              </a:spcAft>
            </a:pPr>
            <a:r>
              <a:rPr sz="950" b="0" i="0">
                <a:solidFill>
                  <a:srgbClr val="000000"/>
                </a:solidFill>
                <a:latin typeface="Arial"/>
              </a:rPr>
              <a:t>•  Within-1% rate still clearly better: 52.9% vs 43.5%.</a:t>
            </a:r>
          </a:p>
          <a:p>
            <a:pPr algn="l">
              <a:spcAft>
                <a:spcPts val="500"/>
              </a:spcAft>
            </a:pPr>
            <a:r>
              <a:rPr sz="950" b="0" i="0">
                <a:solidFill>
                  <a:srgbClr val="000000"/>
                </a:solidFill>
                <a:latin typeface="Arial"/>
              </a:rPr>
              <a:t>•  But mean regret is essentially tied (1.84% vs 1.88%, m̂ = 0.98) — the in-distribution edge largely fades.</a:t>
            </a:r>
          </a:p>
          <a:p>
            <a:pPr algn="l">
              <a:spcAft>
                <a:spcPts val="500"/>
              </a:spcAft>
            </a:pPr>
            <a:r>
              <a:rPr sz="950" b="0" i="0">
                <a:solidFill>
                  <a:srgbClr val="000000"/>
                </a:solidFill>
                <a:latin typeface="Arial"/>
              </a:rPr>
              <a:t>•  Mirrors the paper: stylized benchmark families are hard for synthetically trained selectors.</a:t>
            </a:r>
          </a:p>
          <a:p>
            <a:pPr algn="l">
              <a:spcAft>
                <a:spcPts val="500"/>
              </a:spcAft>
            </a:pPr>
            <a:r>
              <a:rPr sz="950" b="0" i="0">
                <a:solidFill>
                  <a:srgbClr val="000000"/>
                </a:solidFill>
                <a:latin typeface="Arial"/>
              </a:rPr>
              <a:t>•  Portfolio quality holds: best solver +1.98% vs proven optima; on E-n51-k5 the selector picks the winner (+0.19%, 0.16 s).</a:t>
            </a:r>
          </a:p>
        </p:txBody>
      </p:sp>
      <p:sp>
        <p:nvSpPr>
          <p:cNvPr id="7" name="TextBox 6"/>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8" name="TextBox 7"/>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Extension: What Does 20 s of Compute Buy?</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PyVRP hybrid genetic search at the same 20 s budget — 45 test instances + E-n51-k5</a:t>
            </a:r>
          </a:p>
        </p:txBody>
      </p:sp>
      <p:sp>
        <p:nvSpPr>
          <p:cNvPr id="5" name="TextBox 4"/>
          <p:cNvSpPr txBox="1"/>
          <p:nvPr/>
        </p:nvSpPr>
        <p:spPr>
          <a:xfrm>
            <a:off x="502920" y="1737360"/>
            <a:ext cx="4389120" cy="274320"/>
          </a:xfrm>
          <a:prstGeom prst="rect">
            <a:avLst/>
          </a:prstGeom>
          <a:noFill/>
        </p:spPr>
        <p:txBody>
          <a:bodyPr wrap="square" lIns="0" rIns="0" tIns="0" bIns="0">
            <a:spAutoFit/>
          </a:bodyPr>
          <a:lstStyle/>
          <a:p>
            <a:pPr algn="l">
              <a:spcAft>
                <a:spcPts val="0"/>
              </a:spcAft>
            </a:pPr>
            <a:r>
              <a:rPr sz="1150" b="1" i="0">
                <a:solidFill>
                  <a:srgbClr val="003359"/>
                </a:solidFill>
                <a:latin typeface="Arial"/>
              </a:rPr>
              <a:t>Time to answer (mean)</a:t>
            </a:r>
          </a:p>
        </p:txBody>
      </p:sp>
      <p:sp>
        <p:nvSpPr>
          <p:cNvPr id="6" name="Rectangle 5"/>
          <p:cNvSpPr/>
          <p:nvPr/>
        </p:nvSpPr>
        <p:spPr>
          <a:xfrm>
            <a:off x="502920" y="2103120"/>
            <a:ext cx="73152" cy="310896"/>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30552"/>
            <a:ext cx="3931920" cy="274320"/>
          </a:xfrm>
          <a:prstGeom prst="rect">
            <a:avLst/>
          </a:prstGeom>
          <a:noFill/>
        </p:spPr>
        <p:txBody>
          <a:bodyPr wrap="square" lIns="0" rIns="0" tIns="0" bIns="0">
            <a:spAutoFit/>
          </a:bodyPr>
          <a:lstStyle/>
          <a:p>
            <a:pPr algn="l">
              <a:spcAft>
                <a:spcPts val="0"/>
              </a:spcAft>
            </a:pPr>
            <a:r>
              <a:rPr sz="1000" b="1" i="0">
                <a:solidFill>
                  <a:srgbClr val="000000"/>
                </a:solidFill>
                <a:latin typeface="Arial"/>
              </a:rPr>
              <a:t>ML-selected heuristic — 0.22 s</a:t>
            </a:r>
          </a:p>
        </p:txBody>
      </p:sp>
      <p:sp>
        <p:nvSpPr>
          <p:cNvPr id="8" name="Rectangle 7"/>
          <p:cNvSpPr/>
          <p:nvPr/>
        </p:nvSpPr>
        <p:spPr>
          <a:xfrm>
            <a:off x="502920" y="2578608"/>
            <a:ext cx="4297680" cy="310896"/>
          </a:xfrm>
          <a:prstGeom prst="rect">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606040"/>
            <a:ext cx="4114800" cy="274320"/>
          </a:xfrm>
          <a:prstGeom prst="rect">
            <a:avLst/>
          </a:prstGeom>
          <a:noFill/>
        </p:spPr>
        <p:txBody>
          <a:bodyPr wrap="square" lIns="0" rIns="0" tIns="0" bIns="0">
            <a:spAutoFit/>
          </a:bodyPr>
          <a:lstStyle/>
          <a:p>
            <a:pPr algn="l">
              <a:spcAft>
                <a:spcPts val="0"/>
              </a:spcAft>
            </a:pPr>
            <a:r>
              <a:rPr sz="1000" b="1" i="0">
                <a:solidFill>
                  <a:srgbClr val="FFFFFF"/>
                </a:solidFill>
                <a:latin typeface="Arial"/>
              </a:rPr>
              <a:t>HGS — 20.0 s (the entire budget)</a:t>
            </a:r>
          </a:p>
        </p:txBody>
      </p:sp>
      <p:sp>
        <p:nvSpPr>
          <p:cNvPr id="10" name="TextBox 9"/>
          <p:cNvSpPr txBox="1"/>
          <p:nvPr/>
        </p:nvSpPr>
        <p:spPr>
          <a:xfrm>
            <a:off x="502920" y="3017520"/>
            <a:ext cx="4389120" cy="274320"/>
          </a:xfrm>
          <a:prstGeom prst="rect">
            <a:avLst/>
          </a:prstGeom>
          <a:noFill/>
        </p:spPr>
        <p:txBody>
          <a:bodyPr wrap="square" lIns="0" rIns="0" tIns="0" bIns="0">
            <a:spAutoFit/>
          </a:bodyPr>
          <a:lstStyle/>
          <a:p>
            <a:pPr algn="l">
              <a:spcAft>
                <a:spcPts val="0"/>
              </a:spcAft>
            </a:pPr>
            <a:r>
              <a:rPr sz="1100" b="1" i="0">
                <a:solidFill>
                  <a:srgbClr val="E37222"/>
                </a:solidFill>
                <a:latin typeface="Arial"/>
              </a:rPr>
              <a:t>≈ 91× more compute per answer</a:t>
            </a:r>
          </a:p>
        </p:txBody>
      </p:sp>
      <p:sp>
        <p:nvSpPr>
          <p:cNvPr id="11" name="TextBox 10"/>
          <p:cNvSpPr txBox="1"/>
          <p:nvPr/>
        </p:nvSpPr>
        <p:spPr>
          <a:xfrm>
            <a:off x="502920" y="3474720"/>
            <a:ext cx="4206240" cy="1280160"/>
          </a:xfrm>
          <a:prstGeom prst="rect">
            <a:avLst/>
          </a:prstGeom>
          <a:noFill/>
        </p:spPr>
        <p:txBody>
          <a:bodyPr wrap="square" lIns="0" rIns="0" tIns="0" bIns="0">
            <a:spAutoFit/>
          </a:bodyPr>
          <a:lstStyle/>
          <a:p>
            <a:pPr algn="l">
              <a:spcAft>
                <a:spcPts val="300"/>
              </a:spcAft>
            </a:pPr>
            <a:r>
              <a:rPr sz="1150" b="1" i="0">
                <a:solidFill>
                  <a:srgbClr val="003359"/>
                </a:solidFill>
                <a:latin typeface="Arial"/>
              </a:rPr>
              <a:t>Why HGS stays out of the portfolio</a:t>
            </a:r>
          </a:p>
          <a:p>
            <a:pPr algn="l">
              <a:spcAft>
                <a:spcPts val="0"/>
              </a:spcAft>
            </a:pPr>
            <a:r>
              <a:rPr sz="950" b="0" i="0">
                <a:solidFill>
                  <a:srgbClr val="000000"/>
                </a:solidFill>
                <a:latin typeface="Arial"/>
              </a:rPr>
              <a:t>It wins or ties the portfolio oracle on 100% of sampled instances — as a label class it would swallow the dataset. As a reference, it prices the trade-off.</a:t>
            </a:r>
          </a:p>
        </p:txBody>
      </p:sp>
      <p:sp>
        <p:nvSpPr>
          <p:cNvPr id="12" name="TextBox 11"/>
          <p:cNvSpPr txBox="1"/>
          <p:nvPr/>
        </p:nvSpPr>
        <p:spPr>
          <a:xfrm>
            <a:off x="5212080" y="1783080"/>
            <a:ext cx="3566160" cy="914400"/>
          </a:xfrm>
          <a:prstGeom prst="rect">
            <a:avLst/>
          </a:prstGeom>
          <a:noFill/>
        </p:spPr>
        <p:txBody>
          <a:bodyPr wrap="square" lIns="0" rIns="0" tIns="0" bIns="0">
            <a:spAutoFit/>
          </a:bodyPr>
          <a:lstStyle/>
          <a:p>
            <a:pPr algn="l">
              <a:spcAft>
                <a:spcPts val="100"/>
              </a:spcAft>
            </a:pPr>
            <a:r>
              <a:rPr sz="2600" b="1" i="0">
                <a:solidFill>
                  <a:srgbClr val="003359"/>
                </a:solidFill>
                <a:latin typeface="Arial"/>
              </a:rPr>
              <a:t>+3.5%</a:t>
            </a:r>
          </a:p>
          <a:p>
            <a:pPr algn="l">
              <a:spcAft>
                <a:spcPts val="400"/>
              </a:spcAft>
            </a:pPr>
            <a:r>
              <a:rPr sz="950" b="0" i="0">
                <a:solidFill>
                  <a:srgbClr val="595959"/>
                </a:solidFill>
                <a:latin typeface="Arial"/>
              </a:rPr>
              <a:t>mean quality gain of HGS over the ML-selected heuristic (+2.1% over the oracle)</a:t>
            </a:r>
          </a:p>
        </p:txBody>
      </p:sp>
      <p:sp>
        <p:nvSpPr>
          <p:cNvPr id="13" name="TextBox 12"/>
          <p:cNvSpPr txBox="1"/>
          <p:nvPr/>
        </p:nvSpPr>
        <p:spPr>
          <a:xfrm>
            <a:off x="5212080" y="2743200"/>
            <a:ext cx="3566160" cy="914400"/>
          </a:xfrm>
          <a:prstGeom prst="rect">
            <a:avLst/>
          </a:prstGeom>
          <a:noFill/>
        </p:spPr>
        <p:txBody>
          <a:bodyPr wrap="square" lIns="0" rIns="0" tIns="0" bIns="0">
            <a:spAutoFit/>
          </a:bodyPr>
          <a:lstStyle/>
          <a:p>
            <a:pPr algn="l">
              <a:spcAft>
                <a:spcPts val="100"/>
              </a:spcAft>
            </a:pPr>
            <a:r>
              <a:rPr sz="1700" b="1" i="0">
                <a:solidFill>
                  <a:srgbClr val="003359"/>
                </a:solidFill>
                <a:latin typeface="Arial"/>
              </a:rPr>
              <a:t>2.5% → 4.3%</a:t>
            </a:r>
          </a:p>
          <a:p>
            <a:pPr algn="l">
              <a:spcAft>
                <a:spcPts val="400"/>
              </a:spcAft>
            </a:pPr>
            <a:r>
              <a:rPr sz="950" b="0" i="0">
                <a:solidFill>
                  <a:srgbClr val="595959"/>
                </a:solidFill>
                <a:latin typeface="Arial"/>
              </a:rPr>
              <a:t>the gain grows with instance size (n = 20 → 100)</a:t>
            </a:r>
          </a:p>
        </p:txBody>
      </p:sp>
      <p:sp>
        <p:nvSpPr>
          <p:cNvPr id="14" name="TextBox 13"/>
          <p:cNvSpPr txBox="1"/>
          <p:nvPr/>
        </p:nvSpPr>
        <p:spPr>
          <a:xfrm>
            <a:off x="5212080" y="3520440"/>
            <a:ext cx="3566160" cy="914400"/>
          </a:xfrm>
          <a:prstGeom prst="rect">
            <a:avLst/>
          </a:prstGeom>
          <a:noFill/>
        </p:spPr>
        <p:txBody>
          <a:bodyPr wrap="square" lIns="0" rIns="0" tIns="0" bIns="0">
            <a:spAutoFit/>
          </a:bodyPr>
          <a:lstStyle/>
          <a:p>
            <a:pPr algn="l">
              <a:spcAft>
                <a:spcPts val="100"/>
              </a:spcAft>
            </a:pPr>
            <a:r>
              <a:rPr sz="1700" b="1" i="0">
                <a:solidFill>
                  <a:srgbClr val="003359"/>
                </a:solidFill>
                <a:latin typeface="Arial"/>
              </a:rPr>
              <a:t>521 = optimum</a:t>
            </a:r>
          </a:p>
          <a:p>
            <a:pPr algn="l">
              <a:spcAft>
                <a:spcPts val="400"/>
              </a:spcAft>
            </a:pPr>
            <a:r>
              <a:rPr sz="950" b="0" i="0">
                <a:solidFill>
                  <a:srgbClr val="595959"/>
                </a:solidFill>
                <a:latin typeface="Arial"/>
              </a:rPr>
              <a:t>HGS recovers the proven optimum on E-n51-k5 within the budget</a:t>
            </a:r>
          </a:p>
        </p:txBody>
      </p:sp>
      <p:sp>
        <p:nvSpPr>
          <p:cNvPr id="15" name="TextBox 14"/>
          <p:cNvSpPr txBox="1"/>
          <p:nvPr/>
        </p:nvSpPr>
        <p:spPr>
          <a:xfrm>
            <a:off x="320040" y="4526280"/>
            <a:ext cx="8503920" cy="320040"/>
          </a:xfrm>
          <a:prstGeom prst="rect">
            <a:avLst/>
          </a:prstGeom>
          <a:noFill/>
        </p:spPr>
        <p:txBody>
          <a:bodyPr wrap="square" lIns="0" rIns="0" tIns="0" bIns="0">
            <a:spAutoFit/>
          </a:bodyPr>
          <a:lstStyle/>
          <a:p>
            <a:pPr algn="l">
              <a:spcAft>
                <a:spcPts val="0"/>
              </a:spcAft>
            </a:pPr>
            <a:r>
              <a:rPr sz="1050" b="1" i="0">
                <a:solidFill>
                  <a:srgbClr val="003359"/>
                </a:solidFill>
                <a:latin typeface="Arial"/>
              </a:rPr>
              <a:t>Real-time answers &amp; warm starts → ML-selected heuristic;  quality at 20 s per instance → run HGS.</a:t>
            </a:r>
          </a:p>
        </p:txBody>
      </p:sp>
      <p:sp>
        <p:nvSpPr>
          <p:cNvPr id="16" name="TextBox 15"/>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7" name="TextBox 16"/>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Limitations and Takeaways</a:t>
            </a:r>
          </a:p>
        </p:txBody>
      </p:sp>
      <p:sp>
        <p:nvSpPr>
          <p:cNvPr id="4" name="Rounded Rectangle 3"/>
          <p:cNvSpPr/>
          <p:nvPr/>
        </p:nvSpPr>
        <p:spPr>
          <a:xfrm>
            <a:off x="320040" y="1600200"/>
            <a:ext cx="4114800" cy="315468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764792"/>
            <a:ext cx="3712463" cy="2834640"/>
          </a:xfrm>
          <a:prstGeom prst="rect">
            <a:avLst/>
          </a:prstGeom>
          <a:noFill/>
        </p:spPr>
        <p:txBody>
          <a:bodyPr wrap="square" lIns="0" rIns="0" tIns="0" bIns="0">
            <a:spAutoFit/>
          </a:bodyPr>
          <a:lstStyle/>
          <a:p>
            <a:pPr algn="l">
              <a:spcAft>
                <a:spcPts val="500"/>
              </a:spcAft>
            </a:pPr>
            <a:r>
              <a:rPr sz="1250" b="1" i="0">
                <a:solidFill>
                  <a:srgbClr val="003359"/>
                </a:solidFill>
                <a:latin typeface="Arial"/>
              </a:rPr>
              <a:t>Limitations — stated plainly</a:t>
            </a:r>
          </a:p>
          <a:p>
            <a:pPr algn="l">
              <a:spcAft>
                <a:spcPts val="500"/>
              </a:spcAft>
            </a:pPr>
            <a:r>
              <a:rPr sz="950" b="0" i="0">
                <a:solidFill>
                  <a:srgbClr val="000000"/>
                </a:solidFill>
                <a:latin typeface="Arial"/>
              </a:rPr>
              <a:t>•  Trained on synthetic data; transfer to real benchmarks is partial (m̂ ≈ 1 there).</a:t>
            </a:r>
          </a:p>
          <a:p>
            <a:pPr algn="l">
              <a:spcAft>
                <a:spcPts val="500"/>
              </a:spcAft>
            </a:pPr>
            <a:r>
              <a:rPr sz="950" b="0" i="0">
                <a:solidFill>
                  <a:srgbClr val="000000"/>
                </a:solidFill>
                <a:latin typeface="Arial"/>
              </a:rPr>
              <a:t>•  Labels are the portfolio's best, not true optima (portfolio best ≈ +2% vs proven optima).</a:t>
            </a:r>
          </a:p>
          <a:p>
            <a:pPr algn="l">
              <a:spcAft>
                <a:spcPts val="500"/>
              </a:spcAft>
            </a:pPr>
            <a:r>
              <a:rPr sz="950" b="0" i="0">
                <a:solidFill>
                  <a:srgbClr val="000000"/>
                </a:solidFill>
                <a:latin typeface="Arial"/>
              </a:rPr>
              <a:t>•  The 20 s budget bounds runtime but doesn't reward faster solvers among non-ties.</a:t>
            </a:r>
          </a:p>
          <a:p>
            <a:pPr algn="l">
              <a:spcAft>
                <a:spcPts val="500"/>
              </a:spcAft>
            </a:pPr>
            <a:r>
              <a:rPr sz="950" b="0" i="0">
                <a:solidFill>
                  <a:srgbClr val="000000"/>
                </a:solidFill>
                <a:latin typeface="Arial"/>
              </a:rPr>
              <a:t>•  Exact baseline uses a weak MTZ formulation; free-license size caps apply.</a:t>
            </a:r>
          </a:p>
        </p:txBody>
      </p:sp>
      <p:sp>
        <p:nvSpPr>
          <p:cNvPr id="6" name="Rounded Rectangle 5"/>
          <p:cNvSpPr/>
          <p:nvPr/>
        </p:nvSpPr>
        <p:spPr>
          <a:xfrm>
            <a:off x="4709160" y="1600200"/>
            <a:ext cx="4114800" cy="315468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10328" y="1764792"/>
            <a:ext cx="3712463" cy="2834640"/>
          </a:xfrm>
          <a:prstGeom prst="rect">
            <a:avLst/>
          </a:prstGeom>
          <a:noFill/>
        </p:spPr>
        <p:txBody>
          <a:bodyPr wrap="square" lIns="0" rIns="0" tIns="0" bIns="0">
            <a:spAutoFit/>
          </a:bodyPr>
          <a:lstStyle/>
          <a:p>
            <a:pPr algn="l">
              <a:spcAft>
                <a:spcPts val="500"/>
              </a:spcAft>
            </a:pPr>
            <a:r>
              <a:rPr sz="1250" b="1" i="0">
                <a:solidFill>
                  <a:srgbClr val="FFFFFF"/>
                </a:solidFill>
                <a:latin typeface="Arial"/>
              </a:rPr>
              <a:t>What holds up</a:t>
            </a:r>
          </a:p>
          <a:p>
            <a:pPr algn="l">
              <a:spcAft>
                <a:spcPts val="500"/>
              </a:spcAft>
            </a:pPr>
            <a:r>
              <a:rPr sz="950" b="0" i="0">
                <a:solidFill>
                  <a:srgbClr val="FFFFFF"/>
                </a:solidFill>
                <a:latin typeface="Arial"/>
              </a:rPr>
              <a:t>•  Per-instance selection beats the single-best-solver baseline in-distribution (m̂ = 0.741).</a:t>
            </a:r>
          </a:p>
          <a:p>
            <a:pPr algn="l">
              <a:spcAft>
                <a:spcPts val="500"/>
              </a:spcAft>
            </a:pPr>
            <a:r>
              <a:rPr sz="950" b="0" i="0">
                <a:solidFill>
                  <a:srgbClr val="FFFFFF"/>
                </a:solidFill>
                <a:latin typeface="Arial"/>
              </a:rPr>
              <a:t>•  Cheap pre-solution features carry real signal — depot geometry above all.</a:t>
            </a:r>
          </a:p>
          <a:p>
            <a:pPr algn="l">
              <a:spcAft>
                <a:spcPts val="500"/>
              </a:spcAft>
            </a:pPr>
            <a:r>
              <a:rPr sz="950" b="0" i="0">
                <a:solidFill>
                  <a:srgbClr val="FFFFFF"/>
                </a:solidFill>
                <a:latin typeface="Arial"/>
              </a:rPr>
              <a:t>•  Every claim is backed by frozen, integrity-checked, reproducible artifacts.</a:t>
            </a:r>
          </a:p>
          <a:p>
            <a:pPr algn="l">
              <a:spcAft>
                <a:spcPts val="500"/>
              </a:spcAft>
            </a:pPr>
            <a:r>
              <a:rPr sz="950" b="0" i="0">
                <a:solidFill>
                  <a:srgbClr val="FFFFFF"/>
                </a:solidFill>
                <a:latin typeface="Arial"/>
              </a:rPr>
              <a:t>•  The speed-quality trade-off is quantified, not asserted: 3.5% quality vs 91× compute.</a:t>
            </a:r>
          </a:p>
        </p:txBody>
      </p:sp>
      <p:sp>
        <p:nvSpPr>
          <p:cNvPr id="8" name="TextBox 7"/>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9" name="TextBox 8"/>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Look at the instance first — then pick the solver.</a:t>
            </a:r>
          </a:p>
        </p:txBody>
      </p:sp>
      <p:sp>
        <p:nvSpPr>
          <p:cNvPr id="3" name="Rounded Rectangle 2"/>
          <p:cNvSpPr/>
          <p:nvPr/>
        </p:nvSpPr>
        <p:spPr>
          <a:xfrm>
            <a:off x="320040" y="2468880"/>
            <a:ext cx="1965960" cy="114300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8056" y="2615184"/>
            <a:ext cx="1709928" cy="868680"/>
          </a:xfrm>
          <a:prstGeom prst="rect">
            <a:avLst/>
          </a:prstGeom>
          <a:noFill/>
        </p:spPr>
        <p:txBody>
          <a:bodyPr wrap="square" lIns="0" rIns="0" tIns="0" bIns="0">
            <a:spAutoFit/>
          </a:bodyPr>
          <a:lstStyle/>
          <a:p>
            <a:pPr algn="ctr">
              <a:spcAft>
                <a:spcPts val="300"/>
              </a:spcAft>
            </a:pPr>
            <a:r>
              <a:rPr sz="1550" b="1" i="0">
                <a:solidFill>
                  <a:srgbClr val="FFFFFF"/>
                </a:solidFill>
                <a:latin typeface="Arial"/>
              </a:rPr>
              <a:t>m̂ = 0.741</a:t>
            </a:r>
          </a:p>
          <a:p>
            <a:pPr algn="ctr">
              <a:spcAft>
                <a:spcPts val="0"/>
              </a:spcAft>
            </a:pPr>
            <a:r>
              <a:rPr sz="850" b="0" i="0">
                <a:solidFill>
                  <a:srgbClr val="FFFFFF"/>
                </a:solidFill>
                <a:latin typeface="Arial"/>
              </a:rPr>
              <a:t>closes ~26% of the baseline→oracle gap</a:t>
            </a:r>
          </a:p>
        </p:txBody>
      </p:sp>
      <p:sp>
        <p:nvSpPr>
          <p:cNvPr id="5" name="Rounded Rectangle 4"/>
          <p:cNvSpPr/>
          <p:nvPr/>
        </p:nvSpPr>
        <p:spPr>
          <a:xfrm>
            <a:off x="2450592" y="2468880"/>
            <a:ext cx="1965960" cy="114300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78608" y="2615184"/>
            <a:ext cx="1709928" cy="868680"/>
          </a:xfrm>
          <a:prstGeom prst="rect">
            <a:avLst/>
          </a:prstGeom>
          <a:noFill/>
        </p:spPr>
        <p:txBody>
          <a:bodyPr wrap="square" lIns="0" rIns="0" tIns="0" bIns="0">
            <a:spAutoFit/>
          </a:bodyPr>
          <a:lstStyle/>
          <a:p>
            <a:pPr algn="ctr">
              <a:spcAft>
                <a:spcPts val="300"/>
              </a:spcAft>
            </a:pPr>
            <a:r>
              <a:rPr sz="1550" b="1" i="0">
                <a:solidFill>
                  <a:srgbClr val="FFFFFF"/>
                </a:solidFill>
                <a:latin typeface="Arial"/>
              </a:rPr>
              <a:t>63% vs 45%</a:t>
            </a:r>
          </a:p>
          <a:p>
            <a:pPr algn="ctr">
              <a:spcAft>
                <a:spcPts val="0"/>
              </a:spcAft>
            </a:pPr>
            <a:r>
              <a:rPr sz="850" b="0" i="0">
                <a:solidFill>
                  <a:srgbClr val="FFFFFF"/>
                </a:solidFill>
                <a:latin typeface="Arial"/>
              </a:rPr>
              <a:t>within 1% of best, selector vs baseline</a:t>
            </a:r>
          </a:p>
        </p:txBody>
      </p:sp>
      <p:sp>
        <p:nvSpPr>
          <p:cNvPr id="7" name="Rounded Rectangle 6"/>
          <p:cNvSpPr/>
          <p:nvPr/>
        </p:nvSpPr>
        <p:spPr>
          <a:xfrm>
            <a:off x="4581144" y="2468880"/>
            <a:ext cx="1965960" cy="1143000"/>
          </a:xfrm>
          <a:prstGeom prst="roundRect">
            <a:avLst>
              <a:gd name="adj" fmla="val 7000"/>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59" y="2615184"/>
            <a:ext cx="1709928" cy="868680"/>
          </a:xfrm>
          <a:prstGeom prst="rect">
            <a:avLst/>
          </a:prstGeom>
          <a:noFill/>
        </p:spPr>
        <p:txBody>
          <a:bodyPr wrap="square" lIns="0" rIns="0" tIns="0" bIns="0">
            <a:spAutoFit/>
          </a:bodyPr>
          <a:lstStyle/>
          <a:p>
            <a:pPr algn="ctr">
              <a:spcAft>
                <a:spcPts val="300"/>
              </a:spcAft>
            </a:pPr>
            <a:r>
              <a:rPr sz="1550" b="1" i="0">
                <a:solidFill>
                  <a:srgbClr val="FFFFFF"/>
                </a:solidFill>
                <a:latin typeface="Arial"/>
              </a:rPr>
              <a:t>0.22 s vs 20 s</a:t>
            </a:r>
          </a:p>
          <a:p>
            <a:pPr algn="ctr">
              <a:spcAft>
                <a:spcPts val="0"/>
              </a:spcAft>
            </a:pPr>
            <a:r>
              <a:rPr sz="850" b="0" i="0">
                <a:solidFill>
                  <a:srgbClr val="FFFFFF"/>
                </a:solidFill>
                <a:latin typeface="Arial"/>
              </a:rPr>
              <a:t>ML-selected heuristic vs genetic search</a:t>
            </a:r>
          </a:p>
        </p:txBody>
      </p:sp>
      <p:sp>
        <p:nvSpPr>
          <p:cNvPr id="9" name="Rounded Rectangle 8"/>
          <p:cNvSpPr/>
          <p:nvPr/>
        </p:nvSpPr>
        <p:spPr>
          <a:xfrm>
            <a:off x="6711696" y="2468880"/>
            <a:ext cx="1965960" cy="1143000"/>
          </a:xfrm>
          <a:prstGeom prst="roundRect">
            <a:avLst>
              <a:gd name="adj" fmla="val 7000"/>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615184"/>
            <a:ext cx="1709928" cy="868680"/>
          </a:xfrm>
          <a:prstGeom prst="rect">
            <a:avLst/>
          </a:prstGeom>
          <a:noFill/>
        </p:spPr>
        <p:txBody>
          <a:bodyPr wrap="square" lIns="0" rIns="0" tIns="0" bIns="0">
            <a:spAutoFit/>
          </a:bodyPr>
          <a:lstStyle/>
          <a:p>
            <a:pPr algn="ctr">
              <a:spcAft>
                <a:spcPts val="300"/>
              </a:spcAft>
            </a:pPr>
            <a:r>
              <a:rPr sz="1550" b="1" i="0">
                <a:solidFill>
                  <a:srgbClr val="FFFFFF"/>
                </a:solidFill>
                <a:latin typeface="Arial"/>
              </a:rPr>
              <a:t>85 + 1,260</a:t>
            </a:r>
          </a:p>
          <a:p>
            <a:pPr algn="ctr">
              <a:spcAft>
                <a:spcPts val="0"/>
              </a:spcAft>
            </a:pPr>
            <a:r>
              <a:rPr sz="850" b="0" i="0">
                <a:solidFill>
                  <a:srgbClr val="FFFFFF"/>
                </a:solidFill>
                <a:latin typeface="Arial"/>
              </a:rPr>
              <a:t>real benchmark + synthetic instances</a:t>
            </a:r>
          </a:p>
        </p:txBody>
      </p:sp>
      <p:sp>
        <p:nvSpPr>
          <p:cNvPr id="11" name="TextBox 10"/>
          <p:cNvSpPr txBox="1"/>
          <p:nvPr/>
        </p:nvSpPr>
        <p:spPr>
          <a:xfrm>
            <a:off x="320040" y="3977639"/>
            <a:ext cx="8503920" cy="320040"/>
          </a:xfrm>
          <a:prstGeom prst="rect">
            <a:avLst/>
          </a:prstGeom>
          <a:noFill/>
        </p:spPr>
        <p:txBody>
          <a:bodyPr wrap="square" lIns="0" rIns="0" tIns="0" bIns="0">
            <a:spAutoFit/>
          </a:bodyPr>
          <a:lstStyle/>
          <a:p>
            <a:pPr algn="ctr">
              <a:spcAft>
                <a:spcPts val="0"/>
              </a:spcAft>
            </a:pPr>
            <a:r>
              <a:rPr sz="1200" b="0" i="1">
                <a:solidFill>
                  <a:srgbClr val="005293"/>
                </a:solidFill>
                <a:latin typeface="Arial"/>
              </a:rPr>
              <a:t>Exact where it proves, heuristic where it scales, learned where it chooses.</a:t>
            </a:r>
          </a:p>
        </p:txBody>
      </p:sp>
      <p:sp>
        <p:nvSpPr>
          <p:cNvPr id="12" name="TextBox 11"/>
          <p:cNvSpPr txBox="1"/>
          <p:nvPr/>
        </p:nvSpPr>
        <p:spPr>
          <a:xfrm>
            <a:off x="320040" y="4389120"/>
            <a:ext cx="8503920" cy="320040"/>
          </a:xfrm>
          <a:prstGeom prst="rect">
            <a:avLst/>
          </a:prstGeom>
          <a:noFill/>
        </p:spPr>
        <p:txBody>
          <a:bodyPr wrap="square" lIns="0" rIns="0" tIns="0" bIns="0">
            <a:spAutoFit/>
          </a:bodyPr>
          <a:lstStyle/>
          <a:p>
            <a:pPr algn="ctr">
              <a:spcAft>
                <a:spcPts val="0"/>
              </a:spcAft>
            </a:pPr>
            <a:r>
              <a:rPr sz="1400" b="1" i="0">
                <a:solidFill>
                  <a:srgbClr val="003359"/>
                </a:solidFill>
                <a:latin typeface="Arial"/>
              </a:rPr>
              <a:t>Thank you — questions welcome.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Backup Slides</a:t>
            </a:r>
          </a:p>
        </p:txBody>
      </p:sp>
      <p:sp>
        <p:nvSpPr>
          <p:cNvPr id="3" name="TextBox 2"/>
          <p:cNvSpPr txBox="1"/>
          <p:nvPr/>
        </p:nvSpPr>
        <p:spPr>
          <a:xfrm>
            <a:off x="320040" y="2377440"/>
            <a:ext cx="8503920" cy="365760"/>
          </a:xfrm>
          <a:prstGeom prst="rect">
            <a:avLst/>
          </a:prstGeom>
          <a:noFill/>
        </p:spPr>
        <p:txBody>
          <a:bodyPr wrap="square" lIns="0" rIns="0" tIns="0" bIns="0">
            <a:spAutoFit/>
          </a:bodyPr>
          <a:lstStyle/>
          <a:p>
            <a:pPr algn="l">
              <a:spcAft>
                <a:spcPts val="0"/>
              </a:spcAft>
            </a:pPr>
            <a:r>
              <a:rPr sz="1200" b="0" i="0">
                <a:solidFill>
                  <a:srgbClr val="595959"/>
                </a:solidFill>
                <a:latin typeface="Arial"/>
              </a:rPr>
              <a:t>Hyperparameter tuning  ·  Exact MIP formulation  ·  Protocol details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Backup — Hyperparameter Tuning Supplement</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Paper-style grid search, 5-fold stratified CV on the frozen training split only</a:t>
            </a:r>
          </a:p>
        </p:txBody>
      </p:sp>
      <p:sp>
        <p:nvSpPr>
          <p:cNvPr id="5" name="TextBox 4"/>
          <p:cNvSpPr txBox="1"/>
          <p:nvPr/>
        </p:nvSpPr>
        <p:spPr>
          <a:xfrm>
            <a:off x="502920" y="1783080"/>
            <a:ext cx="1828800" cy="347472"/>
          </a:xfrm>
          <a:prstGeom prst="rect">
            <a:avLst/>
          </a:prstGeom>
          <a:noFill/>
        </p:spPr>
        <p:txBody>
          <a:bodyPr wrap="square" lIns="0" rIns="0" tIns="0" bIns="0">
            <a:spAutoFit/>
          </a:bodyPr>
          <a:lstStyle/>
          <a:p>
            <a:pPr algn="l">
              <a:spcAft>
                <a:spcPts val="0"/>
              </a:spcAft>
            </a:pPr>
            <a:r>
              <a:rPr sz="950" b="1" i="0">
                <a:solidFill>
                  <a:srgbClr val="003359"/>
                </a:solidFill>
                <a:latin typeface="Arial"/>
              </a:rPr>
              <a:t>Model</a:t>
            </a:r>
          </a:p>
        </p:txBody>
      </p:sp>
      <p:sp>
        <p:nvSpPr>
          <p:cNvPr id="6" name="TextBox 5"/>
          <p:cNvSpPr txBox="1"/>
          <p:nvPr/>
        </p:nvSpPr>
        <p:spPr>
          <a:xfrm>
            <a:off x="2423160" y="1783080"/>
            <a:ext cx="1645920" cy="347472"/>
          </a:xfrm>
          <a:prstGeom prst="rect">
            <a:avLst/>
          </a:prstGeom>
          <a:noFill/>
        </p:spPr>
        <p:txBody>
          <a:bodyPr wrap="square" lIns="0" rIns="0" tIns="0" bIns="0">
            <a:spAutoFit/>
          </a:bodyPr>
          <a:lstStyle/>
          <a:p>
            <a:pPr algn="l">
              <a:spcAft>
                <a:spcPts val="0"/>
              </a:spcAft>
            </a:pPr>
            <a:r>
              <a:rPr sz="950" b="1" i="0">
                <a:solidFill>
                  <a:srgbClr val="003359"/>
                </a:solidFill>
                <a:latin typeface="Arial"/>
              </a:rPr>
              <a:t>Best CV accuracy</a:t>
            </a:r>
          </a:p>
        </p:txBody>
      </p:sp>
      <p:sp>
        <p:nvSpPr>
          <p:cNvPr id="7" name="TextBox 6"/>
          <p:cNvSpPr txBox="1"/>
          <p:nvPr/>
        </p:nvSpPr>
        <p:spPr>
          <a:xfrm>
            <a:off x="4160520" y="1783080"/>
            <a:ext cx="1645920" cy="347472"/>
          </a:xfrm>
          <a:prstGeom prst="rect">
            <a:avLst/>
          </a:prstGeom>
          <a:noFill/>
        </p:spPr>
        <p:txBody>
          <a:bodyPr wrap="square" lIns="0" rIns="0" tIns="0" bIns="0">
            <a:spAutoFit/>
          </a:bodyPr>
          <a:lstStyle/>
          <a:p>
            <a:pPr algn="l">
              <a:spcAft>
                <a:spcPts val="0"/>
              </a:spcAft>
            </a:pPr>
            <a:r>
              <a:rPr sz="950" b="1" i="0">
                <a:solidFill>
                  <a:srgbClr val="003359"/>
                </a:solidFill>
                <a:latin typeface="Arial"/>
              </a:rPr>
              <a:t>Tuned test regret</a:t>
            </a:r>
          </a:p>
        </p:txBody>
      </p:sp>
      <p:sp>
        <p:nvSpPr>
          <p:cNvPr id="8" name="TextBox 7"/>
          <p:cNvSpPr txBox="1"/>
          <p:nvPr/>
        </p:nvSpPr>
        <p:spPr>
          <a:xfrm>
            <a:off x="5897880" y="1783080"/>
            <a:ext cx="2834640" cy="347472"/>
          </a:xfrm>
          <a:prstGeom prst="rect">
            <a:avLst/>
          </a:prstGeom>
          <a:noFill/>
        </p:spPr>
        <p:txBody>
          <a:bodyPr wrap="square" lIns="0" rIns="0" tIns="0" bIns="0">
            <a:spAutoFit/>
          </a:bodyPr>
          <a:lstStyle/>
          <a:p>
            <a:pPr algn="l">
              <a:spcAft>
                <a:spcPts val="0"/>
              </a:spcAft>
            </a:pPr>
            <a:r>
              <a:rPr sz="950" b="1" i="0">
                <a:solidFill>
                  <a:srgbClr val="003359"/>
                </a:solidFill>
                <a:latin typeface="Arial"/>
              </a:rPr>
              <a:t>Best parameters</a:t>
            </a:r>
          </a:p>
        </p:txBody>
      </p:sp>
      <p:sp>
        <p:nvSpPr>
          <p:cNvPr id="9" name="TextBox 8"/>
          <p:cNvSpPr txBox="1"/>
          <p:nvPr/>
        </p:nvSpPr>
        <p:spPr>
          <a:xfrm>
            <a:off x="502920" y="2185416"/>
            <a:ext cx="182880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Random Forest</a:t>
            </a:r>
          </a:p>
        </p:txBody>
      </p:sp>
      <p:sp>
        <p:nvSpPr>
          <p:cNvPr id="10" name="TextBox 9"/>
          <p:cNvSpPr txBox="1"/>
          <p:nvPr/>
        </p:nvSpPr>
        <p:spPr>
          <a:xfrm>
            <a:off x="2423160" y="2185416"/>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0.392</a:t>
            </a:r>
          </a:p>
        </p:txBody>
      </p:sp>
      <p:sp>
        <p:nvSpPr>
          <p:cNvPr id="11" name="TextBox 10"/>
          <p:cNvSpPr txBox="1"/>
          <p:nvPr/>
        </p:nvSpPr>
        <p:spPr>
          <a:xfrm>
            <a:off x="4160520" y="2185416"/>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1.33%</a:t>
            </a:r>
          </a:p>
        </p:txBody>
      </p:sp>
      <p:sp>
        <p:nvSpPr>
          <p:cNvPr id="12" name="TextBox 11"/>
          <p:cNvSpPr txBox="1"/>
          <p:nvPr/>
        </p:nvSpPr>
        <p:spPr>
          <a:xfrm>
            <a:off x="5897880" y="2185416"/>
            <a:ext cx="283464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100 trees, sqrt features, leaf ≥ 5</a:t>
            </a:r>
          </a:p>
        </p:txBody>
      </p:sp>
      <p:sp>
        <p:nvSpPr>
          <p:cNvPr id="13" name="Rectangle 12"/>
          <p:cNvSpPr/>
          <p:nvPr/>
        </p:nvSpPr>
        <p:spPr>
          <a:xfrm>
            <a:off x="320040" y="2551176"/>
            <a:ext cx="850392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587752"/>
            <a:ext cx="182880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KNN</a:t>
            </a:r>
          </a:p>
        </p:txBody>
      </p:sp>
      <p:sp>
        <p:nvSpPr>
          <p:cNvPr id="15" name="TextBox 14"/>
          <p:cNvSpPr txBox="1"/>
          <p:nvPr/>
        </p:nvSpPr>
        <p:spPr>
          <a:xfrm>
            <a:off x="2423160" y="2587752"/>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0.404</a:t>
            </a:r>
          </a:p>
        </p:txBody>
      </p:sp>
      <p:sp>
        <p:nvSpPr>
          <p:cNvPr id="16" name="TextBox 15"/>
          <p:cNvSpPr txBox="1"/>
          <p:nvPr/>
        </p:nvSpPr>
        <p:spPr>
          <a:xfrm>
            <a:off x="4160520" y="2587752"/>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1.22%</a:t>
            </a:r>
          </a:p>
        </p:txBody>
      </p:sp>
      <p:sp>
        <p:nvSpPr>
          <p:cNvPr id="17" name="TextBox 16"/>
          <p:cNvSpPr txBox="1"/>
          <p:nvPr/>
        </p:nvSpPr>
        <p:spPr>
          <a:xfrm>
            <a:off x="5897880" y="2587752"/>
            <a:ext cx="283464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k = 15, distance weights</a:t>
            </a:r>
          </a:p>
        </p:txBody>
      </p:sp>
      <p:sp>
        <p:nvSpPr>
          <p:cNvPr id="18" name="TextBox 17"/>
          <p:cNvSpPr txBox="1"/>
          <p:nvPr/>
        </p:nvSpPr>
        <p:spPr>
          <a:xfrm>
            <a:off x="502920" y="2990088"/>
            <a:ext cx="182880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Decision Tree</a:t>
            </a:r>
          </a:p>
        </p:txBody>
      </p:sp>
      <p:sp>
        <p:nvSpPr>
          <p:cNvPr id="19" name="TextBox 18"/>
          <p:cNvSpPr txBox="1"/>
          <p:nvPr/>
        </p:nvSpPr>
        <p:spPr>
          <a:xfrm>
            <a:off x="2423160" y="2990088"/>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0.402</a:t>
            </a:r>
          </a:p>
        </p:txBody>
      </p:sp>
      <p:sp>
        <p:nvSpPr>
          <p:cNvPr id="20" name="TextBox 19"/>
          <p:cNvSpPr txBox="1"/>
          <p:nvPr/>
        </p:nvSpPr>
        <p:spPr>
          <a:xfrm>
            <a:off x="4160520" y="2990088"/>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1.14%</a:t>
            </a:r>
          </a:p>
        </p:txBody>
      </p:sp>
      <p:sp>
        <p:nvSpPr>
          <p:cNvPr id="21" name="TextBox 20"/>
          <p:cNvSpPr txBox="1"/>
          <p:nvPr/>
        </p:nvSpPr>
        <p:spPr>
          <a:xfrm>
            <a:off x="5897880" y="2990088"/>
            <a:ext cx="283464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depth 4</a:t>
            </a:r>
          </a:p>
        </p:txBody>
      </p:sp>
      <p:sp>
        <p:nvSpPr>
          <p:cNvPr id="22" name="Rectangle 21"/>
          <p:cNvSpPr/>
          <p:nvPr/>
        </p:nvSpPr>
        <p:spPr>
          <a:xfrm>
            <a:off x="320040" y="3355848"/>
            <a:ext cx="850392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392424"/>
            <a:ext cx="182880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Gradient Boosting</a:t>
            </a:r>
          </a:p>
        </p:txBody>
      </p:sp>
      <p:sp>
        <p:nvSpPr>
          <p:cNvPr id="24" name="TextBox 23"/>
          <p:cNvSpPr txBox="1"/>
          <p:nvPr/>
        </p:nvSpPr>
        <p:spPr>
          <a:xfrm>
            <a:off x="2423160" y="3392424"/>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0.394</a:t>
            </a:r>
          </a:p>
        </p:txBody>
      </p:sp>
      <p:sp>
        <p:nvSpPr>
          <p:cNvPr id="25" name="TextBox 24"/>
          <p:cNvSpPr txBox="1"/>
          <p:nvPr/>
        </p:nvSpPr>
        <p:spPr>
          <a:xfrm>
            <a:off x="4160520" y="3392424"/>
            <a:ext cx="164592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1.24%</a:t>
            </a:r>
          </a:p>
        </p:txBody>
      </p:sp>
      <p:sp>
        <p:nvSpPr>
          <p:cNvPr id="26" name="TextBox 25"/>
          <p:cNvSpPr txBox="1"/>
          <p:nvPr/>
        </p:nvSpPr>
        <p:spPr>
          <a:xfrm>
            <a:off x="5897880" y="3392424"/>
            <a:ext cx="2834640" cy="347472"/>
          </a:xfrm>
          <a:prstGeom prst="rect">
            <a:avLst/>
          </a:prstGeom>
          <a:noFill/>
        </p:spPr>
        <p:txBody>
          <a:bodyPr wrap="square" lIns="0" rIns="0" tIns="0" bIns="0">
            <a:spAutoFit/>
          </a:bodyPr>
          <a:lstStyle/>
          <a:p>
            <a:pPr algn="l">
              <a:spcAft>
                <a:spcPts val="0"/>
              </a:spcAft>
            </a:pPr>
            <a:r>
              <a:rPr sz="1000" b="0" i="0">
                <a:solidFill>
                  <a:srgbClr val="000000"/>
                </a:solidFill>
                <a:latin typeface="Arial"/>
              </a:rPr>
              <a:t>100 est., lr 0.05, depth 2</a:t>
            </a:r>
          </a:p>
        </p:txBody>
      </p:sp>
      <p:sp>
        <p:nvSpPr>
          <p:cNvPr id="27" name="TextBox 26"/>
          <p:cNvSpPr txBox="1"/>
          <p:nvPr/>
        </p:nvSpPr>
        <p:spPr>
          <a:xfrm>
            <a:off x="320040" y="4069080"/>
            <a:ext cx="8503920" cy="731520"/>
          </a:xfrm>
          <a:prstGeom prst="rect">
            <a:avLst/>
          </a:prstGeom>
          <a:noFill/>
        </p:spPr>
        <p:txBody>
          <a:bodyPr wrap="square" lIns="0" rIns="0" tIns="0" bIns="0">
            <a:spAutoFit/>
          </a:bodyPr>
          <a:lstStyle/>
          <a:p>
            <a:pPr algn="l">
              <a:spcAft>
                <a:spcPts val="0"/>
              </a:spcAft>
            </a:pPr>
            <a:r>
              <a:rPr sz="1050" b="0" i="0">
                <a:solidFill>
                  <a:srgbClr val="000000"/>
                </a:solidFill>
                <a:latin typeface="Arial"/>
              </a:rPr>
              <a:t>All CV accuracies land in a narrow band (0.392–0.404); tuned test regrets straddle the frozen Random Forest's 1.24% within noise. The fixed hyperparameters were reasonable — the frozen headline results stand.</a:t>
            </a:r>
          </a:p>
        </p:txBody>
      </p:sp>
      <p:sp>
        <p:nvSpPr>
          <p:cNvPr id="28" name="TextBox 27"/>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29" name="TextBox 28"/>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Backup — Exact MIP Formulation</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Two-index arc formulation with load propagation (MTZ-style), gurobipy</a:t>
            </a:r>
          </a:p>
        </p:txBody>
      </p:sp>
      <p:sp>
        <p:nvSpPr>
          <p:cNvPr id="5" name="TextBox 4"/>
          <p:cNvSpPr txBox="1"/>
          <p:nvPr/>
        </p:nvSpPr>
        <p:spPr>
          <a:xfrm>
            <a:off x="320040" y="1783080"/>
            <a:ext cx="4937760" cy="2926080"/>
          </a:xfrm>
          <a:prstGeom prst="rect">
            <a:avLst/>
          </a:prstGeom>
          <a:noFill/>
        </p:spPr>
        <p:txBody>
          <a:bodyPr wrap="square" lIns="0" rIns="0" tIns="0" bIns="0">
            <a:spAutoFit/>
          </a:bodyPr>
          <a:lstStyle/>
          <a:p>
            <a:pPr algn="l">
              <a:spcAft>
                <a:spcPts val="700"/>
              </a:spcAft>
            </a:pPr>
            <a:r>
              <a:rPr sz="1150" b="1" i="0">
                <a:solidFill>
                  <a:srgbClr val="003359"/>
                </a:solidFill>
                <a:latin typeface="Arial"/>
              </a:rPr>
              <a:t>min  Σ cᵢⱼ xᵢⱼ   over all arcs (i, j)</a:t>
            </a:r>
          </a:p>
          <a:p>
            <a:pPr algn="l">
              <a:spcAft>
                <a:spcPts val="700"/>
              </a:spcAft>
            </a:pPr>
            <a:r>
              <a:rPr sz="1050" b="0" i="0">
                <a:solidFill>
                  <a:srgbClr val="000000"/>
                </a:solidFill>
                <a:latin typeface="Arial"/>
              </a:rPr>
              <a:t>Σⱼ xᵢⱼ = 1  and  Σⱼ xⱼᵢ = 1   — each customer entered &amp; left once</a:t>
            </a:r>
          </a:p>
          <a:p>
            <a:pPr algn="l">
              <a:spcAft>
                <a:spcPts val="700"/>
              </a:spcAft>
            </a:pPr>
            <a:r>
              <a:rPr sz="1050" b="0" i="0">
                <a:solidFill>
                  <a:srgbClr val="000000"/>
                </a:solidFill>
                <a:latin typeface="Arial"/>
              </a:rPr>
              <a:t>depot departures = depot returns</a:t>
            </a:r>
          </a:p>
          <a:p>
            <a:pPr algn="l">
              <a:spcAft>
                <a:spcPts val="700"/>
              </a:spcAft>
            </a:pPr>
            <a:r>
              <a:rPr sz="1050" b="0" i="0">
                <a:solidFill>
                  <a:srgbClr val="000000"/>
                </a:solidFill>
                <a:latin typeface="Arial"/>
              </a:rPr>
              <a:t>uⱼ ≥ uᵢ + qⱼ − Q(1 − xᵢⱼ)   — load propagates along arcs</a:t>
            </a:r>
          </a:p>
          <a:p>
            <a:pPr algn="l">
              <a:spcAft>
                <a:spcPts val="700"/>
              </a:spcAft>
            </a:pPr>
            <a:r>
              <a:rPr sz="1050" b="0" i="0">
                <a:solidFill>
                  <a:srgbClr val="000000"/>
                </a:solidFill>
                <a:latin typeface="Arial"/>
              </a:rPr>
              <a:t>qᵢ ≤ uᵢ ≤ Q   — loads bounded by capacity</a:t>
            </a:r>
          </a:p>
          <a:p>
            <a:pPr algn="l">
              <a:spcAft>
                <a:spcPts val="700"/>
              </a:spcAft>
            </a:pPr>
            <a:r>
              <a:rPr sz="1050" b="0" i="0">
                <a:solidFill>
                  <a:srgbClr val="000000"/>
                </a:solidFill>
                <a:latin typeface="Arial"/>
              </a:rPr>
              <a:t>xᵢⱼ ∈ {0, 1}</a:t>
            </a:r>
          </a:p>
        </p:txBody>
      </p:sp>
      <p:sp>
        <p:nvSpPr>
          <p:cNvPr id="6" name="TextBox 5"/>
          <p:cNvSpPr txBox="1"/>
          <p:nvPr/>
        </p:nvSpPr>
        <p:spPr>
          <a:xfrm>
            <a:off x="5577840" y="1783080"/>
            <a:ext cx="3246120" cy="2926080"/>
          </a:xfrm>
          <a:prstGeom prst="rect">
            <a:avLst/>
          </a:prstGeom>
          <a:noFill/>
        </p:spPr>
        <p:txBody>
          <a:bodyPr wrap="square" lIns="0" rIns="0" tIns="0" bIns="0">
            <a:spAutoFit/>
          </a:bodyPr>
          <a:lstStyle/>
          <a:p>
            <a:pPr algn="l">
              <a:spcAft>
                <a:spcPts val="500"/>
              </a:spcAft>
            </a:pPr>
            <a:r>
              <a:rPr sz="1250" b="1" i="0">
                <a:solidFill>
                  <a:srgbClr val="003359"/>
                </a:solidFill>
                <a:latin typeface="Arial"/>
              </a:rPr>
              <a:t>Notes</a:t>
            </a:r>
          </a:p>
          <a:p>
            <a:pPr algn="l">
              <a:spcAft>
                <a:spcPts val="600"/>
              </a:spcAft>
            </a:pPr>
            <a:r>
              <a:rPr sz="950" b="0" i="0">
                <a:solidFill>
                  <a:srgbClr val="000000"/>
                </a:solidFill>
                <a:latin typeface="Arial"/>
              </a:rPr>
              <a:t>•  Load constraints eliminate subtours and enforce capacity simultaneously.</a:t>
            </a:r>
          </a:p>
          <a:p>
            <a:pPr algn="l">
              <a:spcAft>
                <a:spcPts val="600"/>
              </a:spcAft>
            </a:pPr>
            <a:r>
              <a:rPr sz="950" b="0" i="0">
                <a:solidFill>
                  <a:srgbClr val="000000"/>
                </a:solidFill>
                <a:latin typeface="Arial"/>
              </a:rPr>
              <a:t>•  Unlimited fleet — matches the heuristic convention.</a:t>
            </a:r>
          </a:p>
          <a:p>
            <a:pPr algn="l">
              <a:spcAft>
                <a:spcPts val="600"/>
              </a:spcAft>
            </a:pPr>
            <a:r>
              <a:rPr sz="950" b="0" i="0">
                <a:solidFill>
                  <a:srgbClr val="000000"/>
                </a:solidFill>
                <a:latin typeface="Arial"/>
              </a:rPr>
              <a:t>•  n = 20 → 440 binary variables; the free license caps at 2,000 (hence no exact solve at n = 51).</a:t>
            </a:r>
          </a:p>
          <a:p>
            <a:pPr algn="l">
              <a:spcAft>
                <a:spcPts val="600"/>
              </a:spcAft>
            </a:pPr>
            <a:r>
              <a:rPr sz="950" b="0" i="0">
                <a:solidFill>
                  <a:srgbClr val="000000"/>
                </a:solidFill>
                <a:latin typeface="Arial"/>
              </a:rPr>
              <a:t>•  Every Gurobi solution re-validated and re-costed independently.</a:t>
            </a:r>
          </a:p>
        </p:txBody>
      </p:sp>
      <p:sp>
        <p:nvSpPr>
          <p:cNvPr id="7" name="TextBox 6"/>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8" name="TextBox 7"/>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a:latin typeface="Arial"/>
              </a:rPr>
              <a:t>Backup — Protocol Details</a:t>
            </a:r>
          </a:p>
        </p:txBody>
      </p:sp>
      <p:sp>
        <p:nvSpPr>
          <p:cNvPr id="4" name="TextBox 3"/>
          <p:cNvSpPr txBox="1"/>
          <p:nvPr/>
        </p:nvSpPr>
        <p:spPr>
          <a:xfrm>
            <a:off x="320040" y="1435608"/>
            <a:ext cx="8503920" cy="274320"/>
          </a:xfrm>
          <a:prstGeom prst="rect">
            <a:avLst/>
          </a:prstGeom>
          <a:noFill/>
        </p:spPr>
        <p:txBody>
          <a:bodyPr wrap="square" lIns="0" rIns="0" tIns="0" bIns="0">
            <a:spAutoFit/>
          </a:bodyPr>
          <a:lstStyle/>
          <a:p>
            <a:pPr algn="l">
              <a:spcAft>
                <a:spcPts val="400"/>
              </a:spcAft>
            </a:pPr>
            <a:r>
              <a:rPr sz="1100" b="0" i="1">
                <a:solidFill>
                  <a:srgbClr val="595959"/>
                </a:solidFill>
                <a:latin typeface="Arial"/>
              </a:rPr>
              <a:t>The fine print behind the numbers</a:t>
            </a:r>
          </a:p>
        </p:txBody>
      </p:sp>
      <p:sp>
        <p:nvSpPr>
          <p:cNvPr id="5" name="Rounded Rectangle 4"/>
          <p:cNvSpPr/>
          <p:nvPr/>
        </p:nvSpPr>
        <p:spPr>
          <a:xfrm>
            <a:off x="320040"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883664"/>
            <a:ext cx="2331720" cy="2743200"/>
          </a:xfrm>
          <a:prstGeom prst="rect">
            <a:avLst/>
          </a:prstGeom>
          <a:noFill/>
        </p:spPr>
        <p:txBody>
          <a:bodyPr wrap="square" lIns="0" rIns="0" tIns="0" bIns="0">
            <a:spAutoFit/>
          </a:bodyPr>
          <a:lstStyle/>
          <a:p>
            <a:pPr algn="l">
              <a:spcAft>
                <a:spcPts val="500"/>
              </a:spcAft>
            </a:pPr>
            <a:r>
              <a:rPr sz="1150" b="1" i="0">
                <a:solidFill>
                  <a:srgbClr val="003359"/>
                </a:solidFill>
                <a:latin typeface="Arial"/>
              </a:rPr>
              <a:t>Labels &amp; budget</a:t>
            </a:r>
          </a:p>
          <a:p>
            <a:pPr algn="l">
              <a:spcAft>
                <a:spcPts val="600"/>
              </a:spcAft>
            </a:pPr>
            <a:r>
              <a:rPr sz="900" b="0" i="0">
                <a:solidFill>
                  <a:srgbClr val="000000"/>
                </a:solidFill>
                <a:latin typeface="Arial"/>
              </a:rPr>
              <a:t>•  20 s wall-clock per solver run; timeout = failure (1 of 6,300 runs).</a:t>
            </a:r>
          </a:p>
          <a:p>
            <a:pPr algn="l">
              <a:spcAft>
                <a:spcPts val="600"/>
              </a:spcAft>
            </a:pPr>
            <a:r>
              <a:rPr sz="900" b="0" i="0">
                <a:solidFill>
                  <a:srgbClr val="000000"/>
                </a:solidFill>
                <a:latin typeface="Arial"/>
              </a:rPr>
              <a:t>•  Label = lowest feasible cost; exact ties break toward the faster solver.</a:t>
            </a:r>
          </a:p>
          <a:p>
            <a:pPr algn="l">
              <a:spcAft>
                <a:spcPts val="600"/>
              </a:spcAft>
            </a:pPr>
            <a:r>
              <a:rPr sz="900" b="0" i="0">
                <a:solidFill>
                  <a:srgbClr val="000000"/>
                </a:solidFill>
                <a:latin typeface="Arial"/>
              </a:rPr>
              <a:t>•  CVRPLIB rounded-distance convention throughout.</a:t>
            </a:r>
          </a:p>
        </p:txBody>
      </p:sp>
      <p:sp>
        <p:nvSpPr>
          <p:cNvPr id="7" name="Rounded Rectangle 6"/>
          <p:cNvSpPr/>
          <p:nvPr/>
        </p:nvSpPr>
        <p:spPr>
          <a:xfrm>
            <a:off x="3218688"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01568" y="1883664"/>
            <a:ext cx="2331720" cy="2743200"/>
          </a:xfrm>
          <a:prstGeom prst="rect">
            <a:avLst/>
          </a:prstGeom>
          <a:noFill/>
        </p:spPr>
        <p:txBody>
          <a:bodyPr wrap="square" lIns="0" rIns="0" tIns="0" bIns="0">
            <a:spAutoFit/>
          </a:bodyPr>
          <a:lstStyle/>
          <a:p>
            <a:pPr algn="l">
              <a:spcAft>
                <a:spcPts val="500"/>
              </a:spcAft>
            </a:pPr>
            <a:r>
              <a:rPr sz="1150" b="1" i="0">
                <a:solidFill>
                  <a:srgbClr val="003359"/>
                </a:solidFill>
                <a:latin typeface="Arial"/>
              </a:rPr>
              <a:t>Integrity checks</a:t>
            </a:r>
          </a:p>
          <a:p>
            <a:pPr algn="l">
              <a:spcAft>
                <a:spcPts val="600"/>
              </a:spcAft>
            </a:pPr>
            <a:r>
              <a:rPr sz="900" b="0" i="0">
                <a:solidFill>
                  <a:srgbClr val="000000"/>
                </a:solidFill>
                <a:latin typeface="Arial"/>
              </a:rPr>
              <a:t>•  Labels re-derived from raw costs at every load.</a:t>
            </a:r>
          </a:p>
          <a:p>
            <a:pPr algn="l">
              <a:spcAft>
                <a:spcPts val="600"/>
              </a:spcAft>
            </a:pPr>
            <a:r>
              <a:rPr sz="900" b="0" i="0">
                <a:solidFill>
                  <a:srgbClr val="000000"/>
                </a:solidFill>
                <a:latin typeface="Arial"/>
              </a:rPr>
              <a:t>•  Train/test IDs disjoint; VBS regret exactly 0 by assertion.</a:t>
            </a:r>
          </a:p>
          <a:p>
            <a:pPr algn="l">
              <a:spcAft>
                <a:spcPts val="600"/>
              </a:spcAft>
            </a:pPr>
            <a:r>
              <a:rPr sz="900" b="0" i="0">
                <a:solidFill>
                  <a:srgbClr val="000000"/>
                </a:solidFill>
                <a:latin typeface="Arial"/>
              </a:rPr>
              <a:t>•  Prohibited feature columns rejected by code, not convention.</a:t>
            </a:r>
          </a:p>
        </p:txBody>
      </p:sp>
      <p:sp>
        <p:nvSpPr>
          <p:cNvPr id="9" name="Rounded Rectangle 8"/>
          <p:cNvSpPr/>
          <p:nvPr/>
        </p:nvSpPr>
        <p:spPr>
          <a:xfrm>
            <a:off x="6117336" y="1737360"/>
            <a:ext cx="2697480" cy="3017520"/>
          </a:xfrm>
          <a:prstGeom prst="roundRect">
            <a:avLst>
              <a:gd name="adj" fmla="val 7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0216" y="1883664"/>
            <a:ext cx="2331720" cy="2743200"/>
          </a:xfrm>
          <a:prstGeom prst="rect">
            <a:avLst/>
          </a:prstGeom>
          <a:noFill/>
        </p:spPr>
        <p:txBody>
          <a:bodyPr wrap="square" lIns="0" rIns="0" tIns="0" bIns="0">
            <a:spAutoFit/>
          </a:bodyPr>
          <a:lstStyle/>
          <a:p>
            <a:pPr algn="l">
              <a:spcAft>
                <a:spcPts val="500"/>
              </a:spcAft>
            </a:pPr>
            <a:r>
              <a:rPr sz="1150" b="1" i="0">
                <a:solidFill>
                  <a:srgbClr val="003359"/>
                </a:solidFill>
                <a:latin typeface="Arial"/>
              </a:rPr>
              <a:t>Environment</a:t>
            </a:r>
          </a:p>
          <a:p>
            <a:pPr algn="l">
              <a:spcAft>
                <a:spcPts val="600"/>
              </a:spcAft>
            </a:pPr>
            <a:r>
              <a:rPr sz="900" b="0" i="0">
                <a:solidFill>
                  <a:srgbClr val="000000"/>
                </a:solidFill>
                <a:latin typeface="Arial"/>
              </a:rPr>
              <a:t>•  VeRyPy pinned to a fixed commit; PyVRP 0.13; gurobipy 13.</a:t>
            </a:r>
          </a:p>
          <a:p>
            <a:pPr algn="l">
              <a:spcAft>
                <a:spcPts val="600"/>
              </a:spcAft>
            </a:pPr>
            <a:r>
              <a:rPr sz="900" b="0" i="0">
                <a:solidFill>
                  <a:srgbClr val="000000"/>
                </a:solidFill>
                <a:latin typeface="Arial"/>
              </a:rPr>
              <a:t>•  Frozen headline experiment untouched; extensions record package versions.</a:t>
            </a:r>
          </a:p>
          <a:p>
            <a:pPr algn="l">
              <a:spcAft>
                <a:spcPts val="600"/>
              </a:spcAft>
            </a:pPr>
            <a:r>
              <a:rPr sz="900" b="0" i="0">
                <a:solidFill>
                  <a:srgbClr val="000000"/>
                </a:solidFill>
                <a:latin typeface="Arial"/>
              </a:rPr>
              <a:t>•  Everything re-runs via documented commands (uv).</a:t>
            </a:r>
          </a:p>
        </p:txBody>
      </p:sp>
      <p:sp>
        <p:nvSpPr>
          <p:cNvPr id="11" name="TextBox 10"/>
          <p:cNvSpPr txBox="1"/>
          <p:nvPr/>
        </p:nvSpPr>
        <p:spPr>
          <a:xfrm>
            <a:off x="320040" y="4873752"/>
            <a:ext cx="6217920" cy="219456"/>
          </a:xfrm>
          <a:prstGeom prst="rect">
            <a:avLst/>
          </a:prstGeom>
          <a:noFill/>
        </p:spPr>
        <p:txBody>
          <a:bodyPr wrap="square" lIns="0" rIns="0" tIns="0" bIns="0">
            <a:spAutoFit/>
          </a:bodyPr>
          <a:lstStyle/>
          <a:p>
            <a:pPr algn="l">
              <a:spcAft>
                <a:spcPts val="0"/>
              </a:spcAft>
            </a:pPr>
            <a:r>
              <a:rPr sz="800" b="0" i="0">
                <a:solidFill>
                  <a:srgbClr val="595959"/>
                </a:solidFill>
                <a:latin typeface="Arial"/>
              </a:rPr>
              <a:t>Learning which VRP solver works best | Computational Logistics | 21. Juli 2026</a:t>
            </a:r>
          </a:p>
        </p:txBody>
      </p:sp>
      <p:sp>
        <p:nvSpPr>
          <p:cNvPr id="12" name="TextBox 11"/>
          <p:cNvSpPr txBox="1"/>
          <p:nvPr/>
        </p:nvSpPr>
        <p:spPr>
          <a:xfrm>
            <a:off x="8229600" y="4873752"/>
            <a:ext cx="566928" cy="219456"/>
          </a:xfrm>
          <a:prstGeom prst="rect">
            <a:avLst/>
          </a:prstGeom>
          <a:noFill/>
        </p:spPr>
        <p:txBody>
          <a:bodyPr wrap="square" lIns="0" rIns="0" tIns="0" bIns="0">
            <a:spAutoFit/>
          </a:bodyPr>
          <a:lstStyle/>
          <a:p>
            <a:pPr algn="r">
              <a:spcAft>
                <a:spcPts val="0"/>
              </a:spcAft>
            </a:pPr>
            <a:r>
              <a:rPr sz="800" b="0" i="0">
                <a:solidFill>
                  <a:srgbClr val="595959"/>
                </a:solidFill>
                <a:latin typeface="Arial"/>
              </a:rPr>
              <a:t>21</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1058</Words>
  <Application>Microsoft Office PowerPoint</Application>
  <PresentationFormat>Bildschirmpräsentation (16:9)</PresentationFormat>
  <Paragraphs>153</Paragraphs>
  <Slides>22</Slides>
  <Notes>3</Notes>
  <HiddenSlides>0</HiddenSlides>
  <MMClips>0</MMClips>
  <ScaleCrop>false</ScaleCrop>
  <HeadingPairs>
    <vt:vector size="6" baseType="variant">
      <vt:variant>
        <vt:lpstr>Verwendete Schriftarten</vt:lpstr>
      </vt:variant>
      <vt:variant>
        <vt:i4>5</vt:i4>
      </vt:variant>
      <vt:variant>
        <vt:lpstr>Design</vt:lpstr>
      </vt:variant>
      <vt:variant>
        <vt:i4>6</vt:i4>
      </vt:variant>
      <vt:variant>
        <vt:lpstr>Folientitel</vt:lpstr>
      </vt:variant>
      <vt:variant>
        <vt:i4>22</vt:i4>
      </vt:variant>
    </vt:vector>
  </HeadingPairs>
  <TitlesOfParts>
    <vt:vector size="33" baseType="lpstr">
      <vt:lpstr>Arial</vt:lpstr>
      <vt:lpstr>Calibri</vt:lpstr>
      <vt:lpstr>Courier New</vt:lpstr>
      <vt:lpstr>Symbol</vt:lpstr>
      <vt:lpstr>Wingdings</vt:lpstr>
      <vt:lpstr>Titel 1</vt:lpstr>
      <vt:lpstr>Titel 2</vt:lpstr>
      <vt:lpstr>Titel 3</vt:lpstr>
      <vt:lpstr>Inhalt</vt:lpstr>
      <vt:lpstr>Kapiteltrenner blau</vt:lpstr>
      <vt:lpstr>Kapiteltrenner schwarz</vt:lpstr>
      <vt:lpstr>PowerPoint-Präsentation</vt:lpstr>
      <vt:lpstr>PowerPoint-Präsentation</vt:lpstr>
      <vt:lpstr>PowerPoint-Präsentation</vt:lpstr>
      <vt:lpstr>Gültigkeit der Masterfolien</vt:lpstr>
      <vt:lpstr>Grundlage der Masterfolien</vt:lpstr>
      <vt:lpstr>Hier steht eine Überschrift max. 2-zeilig</vt:lpstr>
      <vt:lpstr>Schrift</vt:lpstr>
      <vt:lpstr>Farben</vt:lpstr>
      <vt:lpstr>Texte</vt:lpstr>
      <vt:lpstr>Bilder - Allgemein</vt:lpstr>
      <vt:lpstr>Aufzählung</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TUM ZIT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Bothe, Sonja</dc:creator>
  <cp:lastModifiedBy>Bothe, Sonja</cp:lastModifiedBy>
  <cp:revision>1</cp:revision>
  <cp:lastPrinted>2015-07-30T14:04:45Z</cp:lastPrinted>
  <dcterms:created xsi:type="dcterms:W3CDTF">2021-10-05T07:45:50Z</dcterms:created>
  <dcterms:modified xsi:type="dcterms:W3CDTF">2021-10-05T07:47:12Z</dcterms:modified>
</cp:coreProperties>
</file>